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5"/>
  </p:notesMasterIdLst>
  <p:sldIdLst>
    <p:sldId id="4470" r:id="rId5"/>
    <p:sldId id="4471" r:id="rId6"/>
    <p:sldId id="4472" r:id="rId7"/>
    <p:sldId id="4473" r:id="rId8"/>
    <p:sldId id="4474" r:id="rId9"/>
    <p:sldId id="4475" r:id="rId10"/>
    <p:sldId id="4476" r:id="rId11"/>
    <p:sldId id="4521" r:id="rId12"/>
    <p:sldId id="4477" r:id="rId13"/>
    <p:sldId id="4478" r:id="rId14"/>
    <p:sldId id="4479" r:id="rId15"/>
    <p:sldId id="4540" r:id="rId16"/>
    <p:sldId id="4480" r:id="rId17"/>
    <p:sldId id="4481" r:id="rId18"/>
    <p:sldId id="4482" r:id="rId19"/>
    <p:sldId id="4538" r:id="rId20"/>
    <p:sldId id="4483" r:id="rId21"/>
    <p:sldId id="4484" r:id="rId22"/>
    <p:sldId id="4485" r:id="rId23"/>
    <p:sldId id="4486" r:id="rId24"/>
    <p:sldId id="4487" r:id="rId25"/>
    <p:sldId id="4488" r:id="rId26"/>
    <p:sldId id="4489" r:id="rId27"/>
    <p:sldId id="4490" r:id="rId28"/>
    <p:sldId id="4491" r:id="rId29"/>
    <p:sldId id="4492" r:id="rId30"/>
    <p:sldId id="4493" r:id="rId31"/>
    <p:sldId id="4494" r:id="rId32"/>
    <p:sldId id="4496" r:id="rId33"/>
    <p:sldId id="4497" r:id="rId34"/>
    <p:sldId id="4498" r:id="rId35"/>
    <p:sldId id="4500" r:id="rId36"/>
    <p:sldId id="4520" r:id="rId37"/>
    <p:sldId id="4501" r:id="rId38"/>
    <p:sldId id="4502" r:id="rId39"/>
    <p:sldId id="4503" r:id="rId40"/>
    <p:sldId id="4504" r:id="rId41"/>
    <p:sldId id="4505" r:id="rId42"/>
    <p:sldId id="4506" r:id="rId43"/>
    <p:sldId id="4495" r:id="rId44"/>
    <p:sldId id="4509" r:id="rId45"/>
    <p:sldId id="4511" r:id="rId46"/>
    <p:sldId id="4510" r:id="rId47"/>
    <p:sldId id="4512" r:id="rId48"/>
    <p:sldId id="4514" r:id="rId49"/>
    <p:sldId id="4515" r:id="rId50"/>
    <p:sldId id="4516" r:id="rId51"/>
    <p:sldId id="4523" r:id="rId52"/>
    <p:sldId id="4517" r:id="rId53"/>
    <p:sldId id="4522" r:id="rId54"/>
    <p:sldId id="4518" r:id="rId55"/>
    <p:sldId id="4519" r:id="rId56"/>
    <p:sldId id="4513" r:id="rId57"/>
    <p:sldId id="4526" r:id="rId58"/>
    <p:sldId id="4524" r:id="rId59"/>
    <p:sldId id="4527" r:id="rId60"/>
    <p:sldId id="4528" r:id="rId61"/>
    <p:sldId id="4529" r:id="rId62"/>
    <p:sldId id="4530" r:id="rId63"/>
    <p:sldId id="4532" r:id="rId64"/>
    <p:sldId id="4533" r:id="rId65"/>
    <p:sldId id="4534" r:id="rId66"/>
    <p:sldId id="4535" r:id="rId67"/>
    <p:sldId id="4536" r:id="rId68"/>
    <p:sldId id="4531" r:id="rId69"/>
    <p:sldId id="4537" r:id="rId70"/>
    <p:sldId id="4539" r:id="rId71"/>
    <p:sldId id="4541" r:id="rId72"/>
    <p:sldId id="4542" r:id="rId73"/>
    <p:sldId id="4543" r:id="rId74"/>
  </p:sldIdLst>
  <p:sldSz cx="12192000" cy="6858000"/>
  <p:notesSz cx="7010400" cy="92964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5751"/>
    <a:srgbClr val="133739"/>
    <a:srgbClr val="FEFEFE"/>
    <a:srgbClr val="FFFFFF"/>
    <a:srgbClr val="F8F8F8"/>
    <a:srgbClr val="FF3333"/>
    <a:srgbClr val="FF3300"/>
    <a:srgbClr val="FF5B5B"/>
    <a:srgbClr val="050F28"/>
    <a:srgbClr val="0E92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EACEC2-926F-4071-85F0-C6CBD8C0061A}" v="1" dt="2026-04-30T08:43:00.660"/>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54" autoAdjust="0"/>
    <p:restoredTop sz="94660"/>
  </p:normalViewPr>
  <p:slideViewPr>
    <p:cSldViewPr snapToGrid="0">
      <p:cViewPr varScale="1">
        <p:scale>
          <a:sx n="112" d="100"/>
          <a:sy n="112" d="100"/>
        </p:scale>
        <p:origin x="126" y="9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stbenutzer" userId="S::urn:spo:tenantanon#1fabfd3b-f00e-4b3f-a485-b4a7de74289f::" providerId="AD" clId="Web-{E1EACEC2-926F-4071-85F0-C6CBD8C0061A}"/>
    <pc:docChg chg="delSld">
      <pc:chgData name="Gastbenutzer" userId="S::urn:spo:tenantanon#1fabfd3b-f00e-4b3f-a485-b4a7de74289f::" providerId="AD" clId="Web-{E1EACEC2-926F-4071-85F0-C6CBD8C0061A}" dt="2026-04-30T08:43:00.660" v="0"/>
      <pc:docMkLst>
        <pc:docMk/>
      </pc:docMkLst>
      <pc:sldChg chg="del">
        <pc:chgData name="Gastbenutzer" userId="S::urn:spo:tenantanon#1fabfd3b-f00e-4b3f-a485-b4a7de74289f::" providerId="AD" clId="Web-{E1EACEC2-926F-4071-85F0-C6CBD8C0061A}" dt="2026-04-30T08:43:00.660" v="0"/>
        <pc:sldMkLst>
          <pc:docMk/>
          <pc:sldMk cId="2971475655" sldId="45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de-CH"/>
          </a:p>
        </p:txBody>
      </p:sp>
      <p:sp>
        <p:nvSpPr>
          <p:cNvPr id="3" name="Datumsplatzhalt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5AA3E376-9846-4027-BEEE-65D0A72CA57B}" type="datetimeFigureOut">
              <a:rPr lang="de-CH" smtClean="0"/>
              <a:t>30.04.2026</a:t>
            </a:fld>
            <a:endParaRPr lang="de-CH"/>
          </a:p>
        </p:txBody>
      </p:sp>
      <p:sp>
        <p:nvSpPr>
          <p:cNvPr id="4" name="Folienbildplatzhalt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de-CH"/>
          </a:p>
        </p:txBody>
      </p:sp>
      <p:sp>
        <p:nvSpPr>
          <p:cNvPr id="5" name="Notizenplatzhalt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de-CH"/>
          </a:p>
        </p:txBody>
      </p:sp>
      <p:sp>
        <p:nvSpPr>
          <p:cNvPr id="7" name="Foliennummernplatzhalt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3CE09DC-D80C-4A93-86A3-0825B0DD6532}" type="slidenum">
              <a:rPr lang="de-CH" smtClean="0"/>
              <a:t>‹#›</a:t>
            </a:fld>
            <a:endParaRPr lang="de-CH"/>
          </a:p>
        </p:txBody>
      </p:sp>
    </p:spTree>
    <p:extLst>
      <p:ext uri="{BB962C8B-B14F-4D97-AF65-F5344CB8AC3E}">
        <p14:creationId xmlns:p14="http://schemas.microsoft.com/office/powerpoint/2010/main" val="2403661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521273-12F2-185C-9000-25E46B51E88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D0F7F01C-CE86-6489-472A-A00254F0F2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318D801C-40E3-69CC-2A5F-246DA33983B4}"/>
              </a:ext>
            </a:extLst>
          </p:cNvPr>
          <p:cNvSpPr>
            <a:spLocks noGrp="1"/>
          </p:cNvSpPr>
          <p:nvPr>
            <p:ph type="dt" sz="half" idx="10"/>
          </p:nvPr>
        </p:nvSpPr>
        <p:spPr/>
        <p:txBody>
          <a:bodyPr/>
          <a:lstStyle/>
          <a:p>
            <a:fld id="{F6B99A8A-6649-4C03-960D-D942966E4C3E}" type="datetime1">
              <a:rPr lang="de-CH" smtClean="0"/>
              <a:t>30.04.2026</a:t>
            </a:fld>
            <a:endParaRPr lang="de-CH"/>
          </a:p>
        </p:txBody>
      </p:sp>
      <p:sp>
        <p:nvSpPr>
          <p:cNvPr id="5" name="Fußzeilenplatzhalter 4">
            <a:extLst>
              <a:ext uri="{FF2B5EF4-FFF2-40B4-BE49-F238E27FC236}">
                <a16:creationId xmlns:a16="http://schemas.microsoft.com/office/drawing/2014/main" id="{A1827C0B-B6B9-DB8C-541D-7F245BB506E3}"/>
              </a:ext>
            </a:extLst>
          </p:cNvPr>
          <p:cNvSpPr>
            <a:spLocks noGrp="1"/>
          </p:cNvSpPr>
          <p:nvPr>
            <p:ph type="ftr" sz="quarter" idx="11"/>
          </p:nvPr>
        </p:nvSpPr>
        <p:spPr/>
        <p:txBody>
          <a:bodyPr/>
          <a:lstStyle/>
          <a:p>
            <a:r>
              <a:rPr lang="de-CH"/>
              <a:t>Michael Burkhart</a:t>
            </a:r>
          </a:p>
        </p:txBody>
      </p:sp>
      <p:sp>
        <p:nvSpPr>
          <p:cNvPr id="6" name="Foliennummernplatzhalter 5">
            <a:extLst>
              <a:ext uri="{FF2B5EF4-FFF2-40B4-BE49-F238E27FC236}">
                <a16:creationId xmlns:a16="http://schemas.microsoft.com/office/drawing/2014/main" id="{F59F5F94-C5AE-569D-D60E-1E0297049539}"/>
              </a:ext>
            </a:extLst>
          </p:cNvPr>
          <p:cNvSpPr>
            <a:spLocks noGrp="1"/>
          </p:cNvSpPr>
          <p:nvPr>
            <p:ph type="sldNum" sz="quarter" idx="12"/>
          </p:nvPr>
        </p:nvSpPr>
        <p:spPr>
          <a:xfrm>
            <a:off x="8530701" y="6347411"/>
            <a:ext cx="2743200" cy="365125"/>
          </a:xfrm>
        </p:spPr>
        <p:txBody>
          <a:bodyPr/>
          <a:lstStyle>
            <a:lvl1pPr>
              <a:defRPr/>
            </a:lvl1pPr>
          </a:lstStyle>
          <a:p>
            <a:fld id="{4339542F-C879-417B-9CA8-8C0D3764AD5B}" type="slidenum">
              <a:rPr lang="de-CH" smtClean="0"/>
              <a:pPr/>
              <a:t>‹#›</a:t>
            </a:fld>
            <a:endParaRPr lang="de-CH"/>
          </a:p>
        </p:txBody>
      </p:sp>
    </p:spTree>
    <p:extLst>
      <p:ext uri="{BB962C8B-B14F-4D97-AF65-F5344CB8AC3E}">
        <p14:creationId xmlns:p14="http://schemas.microsoft.com/office/powerpoint/2010/main" val="3137979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AA544469-CF22-36F8-EC3E-B40A90C1C3F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1681B322-E0F9-C3FC-7753-130595AF4101}"/>
              </a:ext>
            </a:extLst>
          </p:cNvPr>
          <p:cNvSpPr>
            <a:spLocks noGrp="1"/>
          </p:cNvSpPr>
          <p:nvPr>
            <p:ph type="dt" sz="half" idx="10"/>
          </p:nvPr>
        </p:nvSpPr>
        <p:spPr/>
        <p:txBody>
          <a:bodyPr/>
          <a:lstStyle/>
          <a:p>
            <a:fld id="{ADAE0ECC-D8AD-49A8-8662-5DDC19CABB7E}" type="datetime1">
              <a:rPr lang="de-CH" smtClean="0"/>
              <a:t>30.04.2026</a:t>
            </a:fld>
            <a:endParaRPr lang="de-CH"/>
          </a:p>
        </p:txBody>
      </p:sp>
      <p:sp>
        <p:nvSpPr>
          <p:cNvPr id="5" name="Fußzeilenplatzhalter 4">
            <a:extLst>
              <a:ext uri="{FF2B5EF4-FFF2-40B4-BE49-F238E27FC236}">
                <a16:creationId xmlns:a16="http://schemas.microsoft.com/office/drawing/2014/main" id="{F5CF57AD-BA22-4528-DD4D-CFB505133088}"/>
              </a:ext>
            </a:extLst>
          </p:cNvPr>
          <p:cNvSpPr>
            <a:spLocks noGrp="1"/>
          </p:cNvSpPr>
          <p:nvPr>
            <p:ph type="ftr" sz="quarter" idx="11"/>
          </p:nvPr>
        </p:nvSpPr>
        <p:spPr/>
        <p:txBody>
          <a:bodyPr/>
          <a:lstStyle/>
          <a:p>
            <a:r>
              <a:rPr lang="de-CH"/>
              <a:t>Michael Burkhart</a:t>
            </a:r>
          </a:p>
        </p:txBody>
      </p:sp>
      <p:sp>
        <p:nvSpPr>
          <p:cNvPr id="6" name="Titel 5">
            <a:extLst>
              <a:ext uri="{FF2B5EF4-FFF2-40B4-BE49-F238E27FC236}">
                <a16:creationId xmlns:a16="http://schemas.microsoft.com/office/drawing/2014/main" id="{E8DBB382-A397-019A-BB78-13E4CD989AC6}"/>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3511106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AE528C-C24E-940D-F661-5206D7BB539A}"/>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19B7E9A2-ACC8-0046-11D1-B74C143FB5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BF4170C-3251-AB92-CEE6-ED154DCD24EE}"/>
              </a:ext>
            </a:extLst>
          </p:cNvPr>
          <p:cNvSpPr>
            <a:spLocks noGrp="1"/>
          </p:cNvSpPr>
          <p:nvPr>
            <p:ph type="dt" sz="half" idx="10"/>
          </p:nvPr>
        </p:nvSpPr>
        <p:spPr/>
        <p:txBody>
          <a:bodyPr/>
          <a:lstStyle/>
          <a:p>
            <a:fld id="{8C11D437-4817-4E9B-8133-D920D5A13FAA}" type="datetime1">
              <a:rPr lang="de-CH" smtClean="0"/>
              <a:t>30.04.2026</a:t>
            </a:fld>
            <a:endParaRPr lang="de-CH"/>
          </a:p>
        </p:txBody>
      </p:sp>
      <p:sp>
        <p:nvSpPr>
          <p:cNvPr id="5" name="Fußzeilenplatzhalter 4">
            <a:extLst>
              <a:ext uri="{FF2B5EF4-FFF2-40B4-BE49-F238E27FC236}">
                <a16:creationId xmlns:a16="http://schemas.microsoft.com/office/drawing/2014/main" id="{63E09502-952D-80C3-0499-C597D0A838EC}"/>
              </a:ext>
            </a:extLst>
          </p:cNvPr>
          <p:cNvSpPr>
            <a:spLocks noGrp="1"/>
          </p:cNvSpPr>
          <p:nvPr>
            <p:ph type="ftr" sz="quarter" idx="11"/>
          </p:nvPr>
        </p:nvSpPr>
        <p:spPr/>
        <p:txBody>
          <a:bodyPr/>
          <a:lstStyle/>
          <a:p>
            <a:r>
              <a:rPr lang="de-CH"/>
              <a:t>Michael Burkhart</a:t>
            </a:r>
          </a:p>
        </p:txBody>
      </p:sp>
      <p:sp>
        <p:nvSpPr>
          <p:cNvPr id="6" name="Foliennummernplatzhalter 5">
            <a:extLst>
              <a:ext uri="{FF2B5EF4-FFF2-40B4-BE49-F238E27FC236}">
                <a16:creationId xmlns:a16="http://schemas.microsoft.com/office/drawing/2014/main" id="{5B00A43A-B469-0774-465F-AB7907D89DC2}"/>
              </a:ext>
            </a:extLst>
          </p:cNvPr>
          <p:cNvSpPr>
            <a:spLocks noGrp="1"/>
          </p:cNvSpPr>
          <p:nvPr>
            <p:ph type="sldNum" sz="quarter" idx="12"/>
          </p:nvPr>
        </p:nvSpPr>
        <p:spPr/>
        <p:txBody>
          <a:bodyPr/>
          <a:lstStyle/>
          <a:p>
            <a:fld id="{4AD183E9-DD6D-42F1-8E43-21E1FEC5E71C}" type="slidenum">
              <a:rPr lang="de-CH" smtClean="0"/>
              <a:t>‹#›</a:t>
            </a:fld>
            <a:endParaRPr lang="de-CH"/>
          </a:p>
        </p:txBody>
      </p:sp>
    </p:spTree>
    <p:extLst>
      <p:ext uri="{BB962C8B-B14F-4D97-AF65-F5344CB8AC3E}">
        <p14:creationId xmlns:p14="http://schemas.microsoft.com/office/powerpoint/2010/main" val="3905645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5CF6F5-A481-C5AF-6797-AEB9C0F94358}"/>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5F36247C-2F94-19A3-D3B8-594D0119407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6421FC09-4161-6557-0E14-F0949BAEDE4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FB1C7015-13B4-E06F-6A41-C30325C0DB61}"/>
              </a:ext>
            </a:extLst>
          </p:cNvPr>
          <p:cNvSpPr>
            <a:spLocks noGrp="1"/>
          </p:cNvSpPr>
          <p:nvPr>
            <p:ph type="dt" sz="half" idx="10"/>
          </p:nvPr>
        </p:nvSpPr>
        <p:spPr/>
        <p:txBody>
          <a:bodyPr/>
          <a:lstStyle/>
          <a:p>
            <a:fld id="{01E50B4D-BE4B-4316-B9D9-9F821E866954}" type="datetime1">
              <a:rPr lang="de-CH" smtClean="0"/>
              <a:t>30.04.2026</a:t>
            </a:fld>
            <a:endParaRPr lang="de-CH"/>
          </a:p>
        </p:txBody>
      </p:sp>
      <p:sp>
        <p:nvSpPr>
          <p:cNvPr id="6" name="Fußzeilenplatzhalter 5">
            <a:extLst>
              <a:ext uri="{FF2B5EF4-FFF2-40B4-BE49-F238E27FC236}">
                <a16:creationId xmlns:a16="http://schemas.microsoft.com/office/drawing/2014/main" id="{89B1D021-75BB-1028-1079-02903199C3E0}"/>
              </a:ext>
            </a:extLst>
          </p:cNvPr>
          <p:cNvSpPr>
            <a:spLocks noGrp="1"/>
          </p:cNvSpPr>
          <p:nvPr>
            <p:ph type="ftr" sz="quarter" idx="11"/>
          </p:nvPr>
        </p:nvSpPr>
        <p:spPr/>
        <p:txBody>
          <a:bodyPr/>
          <a:lstStyle/>
          <a:p>
            <a:r>
              <a:rPr lang="de-CH"/>
              <a:t>Michael Burkhart</a:t>
            </a:r>
          </a:p>
        </p:txBody>
      </p:sp>
      <p:sp>
        <p:nvSpPr>
          <p:cNvPr id="7" name="Foliennummernplatzhalter 6">
            <a:extLst>
              <a:ext uri="{FF2B5EF4-FFF2-40B4-BE49-F238E27FC236}">
                <a16:creationId xmlns:a16="http://schemas.microsoft.com/office/drawing/2014/main" id="{C683FE25-6DAE-DEB0-5243-7DB2A6D5B273}"/>
              </a:ext>
            </a:extLst>
          </p:cNvPr>
          <p:cNvSpPr>
            <a:spLocks noGrp="1"/>
          </p:cNvSpPr>
          <p:nvPr>
            <p:ph type="sldNum" sz="quarter" idx="12"/>
          </p:nvPr>
        </p:nvSpPr>
        <p:spPr/>
        <p:txBody>
          <a:bodyPr/>
          <a:lstStyle/>
          <a:p>
            <a:fld id="{4AD183E9-DD6D-42F1-8E43-21E1FEC5E71C}" type="slidenum">
              <a:rPr lang="de-CH" smtClean="0"/>
              <a:t>‹#›</a:t>
            </a:fld>
            <a:endParaRPr lang="de-CH"/>
          </a:p>
        </p:txBody>
      </p:sp>
    </p:spTree>
    <p:extLst>
      <p:ext uri="{BB962C8B-B14F-4D97-AF65-F5344CB8AC3E}">
        <p14:creationId xmlns:p14="http://schemas.microsoft.com/office/powerpoint/2010/main" val="851307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C6608C-8CEC-7B97-A6D6-9C4D956D1BDF}"/>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C78D1723-E27C-0465-83D5-A4B51C76B1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F37586B-CC65-433C-335F-80550F81D75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C995AC1C-C430-7467-18B3-40031133E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F105276-BF4D-EBCF-DABB-E1A89FB4F22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75BED059-CD71-02DC-90E1-7D95261EB36F}"/>
              </a:ext>
            </a:extLst>
          </p:cNvPr>
          <p:cNvSpPr>
            <a:spLocks noGrp="1"/>
          </p:cNvSpPr>
          <p:nvPr>
            <p:ph type="dt" sz="half" idx="10"/>
          </p:nvPr>
        </p:nvSpPr>
        <p:spPr/>
        <p:txBody>
          <a:bodyPr/>
          <a:lstStyle/>
          <a:p>
            <a:fld id="{5241D493-8B68-4579-9E23-89572867A805}" type="datetime1">
              <a:rPr lang="de-CH" smtClean="0"/>
              <a:t>30.04.2026</a:t>
            </a:fld>
            <a:endParaRPr lang="de-CH"/>
          </a:p>
        </p:txBody>
      </p:sp>
      <p:sp>
        <p:nvSpPr>
          <p:cNvPr id="8" name="Fußzeilenplatzhalter 7">
            <a:extLst>
              <a:ext uri="{FF2B5EF4-FFF2-40B4-BE49-F238E27FC236}">
                <a16:creationId xmlns:a16="http://schemas.microsoft.com/office/drawing/2014/main" id="{73FF542E-3BA0-B961-8229-2E720D0B7B34}"/>
              </a:ext>
            </a:extLst>
          </p:cNvPr>
          <p:cNvSpPr>
            <a:spLocks noGrp="1"/>
          </p:cNvSpPr>
          <p:nvPr>
            <p:ph type="ftr" sz="quarter" idx="11"/>
          </p:nvPr>
        </p:nvSpPr>
        <p:spPr/>
        <p:txBody>
          <a:bodyPr/>
          <a:lstStyle/>
          <a:p>
            <a:r>
              <a:rPr lang="de-CH"/>
              <a:t>Michael Burkhart</a:t>
            </a:r>
          </a:p>
        </p:txBody>
      </p:sp>
      <p:sp>
        <p:nvSpPr>
          <p:cNvPr id="9" name="Foliennummernplatzhalter 8">
            <a:extLst>
              <a:ext uri="{FF2B5EF4-FFF2-40B4-BE49-F238E27FC236}">
                <a16:creationId xmlns:a16="http://schemas.microsoft.com/office/drawing/2014/main" id="{6BE8EAB4-38B8-716D-F8C1-C13EDE8003FB}"/>
              </a:ext>
            </a:extLst>
          </p:cNvPr>
          <p:cNvSpPr>
            <a:spLocks noGrp="1"/>
          </p:cNvSpPr>
          <p:nvPr>
            <p:ph type="sldNum" sz="quarter" idx="12"/>
          </p:nvPr>
        </p:nvSpPr>
        <p:spPr/>
        <p:txBody>
          <a:bodyPr/>
          <a:lstStyle/>
          <a:p>
            <a:fld id="{4AD183E9-DD6D-42F1-8E43-21E1FEC5E71C}" type="slidenum">
              <a:rPr lang="de-CH" smtClean="0"/>
              <a:t>‹#›</a:t>
            </a:fld>
            <a:endParaRPr lang="de-CH"/>
          </a:p>
        </p:txBody>
      </p:sp>
      <p:pic>
        <p:nvPicPr>
          <p:cNvPr id="10" name="Grafik 9">
            <a:extLst>
              <a:ext uri="{FF2B5EF4-FFF2-40B4-BE49-F238E27FC236}">
                <a16:creationId xmlns:a16="http://schemas.microsoft.com/office/drawing/2014/main" id="{2ACCCC73-1477-86E4-2608-0FCA2C5479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53215" y="321037"/>
            <a:ext cx="1555471" cy="360000"/>
          </a:xfrm>
          <a:prstGeom prst="rect">
            <a:avLst/>
          </a:prstGeom>
        </p:spPr>
      </p:pic>
    </p:spTree>
    <p:extLst>
      <p:ext uri="{BB962C8B-B14F-4D97-AF65-F5344CB8AC3E}">
        <p14:creationId xmlns:p14="http://schemas.microsoft.com/office/powerpoint/2010/main" val="1875687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7187BC-3343-9E05-46FF-2912982F2D9F}"/>
              </a:ext>
            </a:extLst>
          </p:cNvPr>
          <p:cNvSpPr>
            <a:spLocks noGrp="1"/>
          </p:cNvSpPr>
          <p:nvPr>
            <p:ph type="title"/>
          </p:nvPr>
        </p:nvSpPr>
        <p:spPr>
          <a:xfrm>
            <a:off x="574158" y="170128"/>
            <a:ext cx="11043684" cy="765543"/>
          </a:xfrm>
        </p:spPr>
        <p:txBody>
          <a:bodyPr>
            <a:normAutofit/>
          </a:bodyPr>
          <a:lstStyle>
            <a:lvl1pPr>
              <a:defRPr sz="2800">
                <a:latin typeface="Helvetica LT Pro Black" panose="020B0904030502020204" pitchFamily="34" charset="0"/>
              </a:defRPr>
            </a:lvl1pPr>
          </a:lstStyle>
          <a:p>
            <a:r>
              <a:rPr lang="de-DE"/>
              <a:t>Mastertitelformat bearbeiten</a:t>
            </a:r>
            <a:endParaRPr lang="de-CH"/>
          </a:p>
        </p:txBody>
      </p:sp>
      <p:sp>
        <p:nvSpPr>
          <p:cNvPr id="3" name="Datumsplatzhalter 2">
            <a:extLst>
              <a:ext uri="{FF2B5EF4-FFF2-40B4-BE49-F238E27FC236}">
                <a16:creationId xmlns:a16="http://schemas.microsoft.com/office/drawing/2014/main" id="{5F3B4BDC-1256-4413-7B4A-4180E77F306F}"/>
              </a:ext>
            </a:extLst>
          </p:cNvPr>
          <p:cNvSpPr>
            <a:spLocks noGrp="1"/>
          </p:cNvSpPr>
          <p:nvPr>
            <p:ph type="dt" sz="half" idx="10"/>
          </p:nvPr>
        </p:nvSpPr>
        <p:spPr>
          <a:xfrm>
            <a:off x="574158" y="6356350"/>
            <a:ext cx="3007242" cy="365125"/>
          </a:xfrm>
        </p:spPr>
        <p:txBody>
          <a:bodyPr/>
          <a:lstStyle>
            <a:lvl1pPr>
              <a:defRPr sz="1000"/>
            </a:lvl1pPr>
          </a:lstStyle>
          <a:p>
            <a:fld id="{0D421C62-8E7F-4A50-9665-50EECF677164}" type="datetime1">
              <a:rPr lang="de-CH" smtClean="0"/>
              <a:pPr/>
              <a:t>30.04.2026</a:t>
            </a:fld>
            <a:endParaRPr lang="de-CH"/>
          </a:p>
        </p:txBody>
      </p:sp>
      <p:sp>
        <p:nvSpPr>
          <p:cNvPr id="4" name="Fußzeilenplatzhalter 3">
            <a:extLst>
              <a:ext uri="{FF2B5EF4-FFF2-40B4-BE49-F238E27FC236}">
                <a16:creationId xmlns:a16="http://schemas.microsoft.com/office/drawing/2014/main" id="{39FC7D57-30BF-49A8-4E67-8E48F35EE7DE}"/>
              </a:ext>
            </a:extLst>
          </p:cNvPr>
          <p:cNvSpPr>
            <a:spLocks noGrp="1"/>
          </p:cNvSpPr>
          <p:nvPr>
            <p:ph type="ftr" sz="quarter" idx="11"/>
          </p:nvPr>
        </p:nvSpPr>
        <p:spPr/>
        <p:txBody>
          <a:bodyPr/>
          <a:lstStyle>
            <a:lvl1pPr>
              <a:defRPr sz="1000"/>
            </a:lvl1pPr>
          </a:lstStyle>
          <a:p>
            <a:r>
              <a:rPr lang="de-CH"/>
              <a:t>Michael Burkhart</a:t>
            </a:r>
          </a:p>
        </p:txBody>
      </p:sp>
      <p:sp>
        <p:nvSpPr>
          <p:cNvPr id="5" name="Foliennummernplatzhalter 4">
            <a:extLst>
              <a:ext uri="{FF2B5EF4-FFF2-40B4-BE49-F238E27FC236}">
                <a16:creationId xmlns:a16="http://schemas.microsoft.com/office/drawing/2014/main" id="{91DF842B-DC05-85E7-946B-0D39E009AC16}"/>
              </a:ext>
            </a:extLst>
          </p:cNvPr>
          <p:cNvSpPr>
            <a:spLocks noGrp="1"/>
          </p:cNvSpPr>
          <p:nvPr>
            <p:ph type="sldNum" sz="quarter" idx="12"/>
          </p:nvPr>
        </p:nvSpPr>
        <p:spPr>
          <a:xfrm>
            <a:off x="8610600" y="6356350"/>
            <a:ext cx="3007242" cy="365125"/>
          </a:xfrm>
        </p:spPr>
        <p:txBody>
          <a:bodyPr/>
          <a:lstStyle>
            <a:lvl1pPr>
              <a:defRPr sz="1000"/>
            </a:lvl1pPr>
          </a:lstStyle>
          <a:p>
            <a:fld id="{4AD183E9-DD6D-42F1-8E43-21E1FEC5E71C}" type="slidenum">
              <a:rPr lang="de-CH" smtClean="0"/>
              <a:pPr/>
              <a:t>‹#›</a:t>
            </a:fld>
            <a:endParaRPr lang="de-CH"/>
          </a:p>
        </p:txBody>
      </p:sp>
      <p:cxnSp>
        <p:nvCxnSpPr>
          <p:cNvPr id="8" name="Gerader Verbinder 7">
            <a:extLst>
              <a:ext uri="{FF2B5EF4-FFF2-40B4-BE49-F238E27FC236}">
                <a16:creationId xmlns:a16="http://schemas.microsoft.com/office/drawing/2014/main" id="{868E389A-E964-9C48-037E-388CB7BA9D09}"/>
              </a:ext>
            </a:extLst>
          </p:cNvPr>
          <p:cNvCxnSpPr>
            <a:cxnSpLocks/>
          </p:cNvCxnSpPr>
          <p:nvPr userDrawn="1"/>
        </p:nvCxnSpPr>
        <p:spPr>
          <a:xfrm>
            <a:off x="574158" y="935671"/>
            <a:ext cx="11043684" cy="0"/>
          </a:xfrm>
          <a:prstGeom prst="line">
            <a:avLst/>
          </a:prstGeom>
          <a:ln>
            <a:solidFill>
              <a:schemeClr val="bg1">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757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Nur Titel">
    <p:bg>
      <p:bgPr>
        <a:solidFill>
          <a:srgbClr val="F8F8F8">
            <a:alpha val="15000"/>
          </a:srgbClr>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5F3B4BDC-1256-4413-7B4A-4180E77F306F}"/>
              </a:ext>
            </a:extLst>
          </p:cNvPr>
          <p:cNvSpPr>
            <a:spLocks noGrp="1"/>
          </p:cNvSpPr>
          <p:nvPr>
            <p:ph type="dt" sz="half" idx="10"/>
          </p:nvPr>
        </p:nvSpPr>
        <p:spPr>
          <a:xfrm>
            <a:off x="574158" y="6356350"/>
            <a:ext cx="3007242" cy="365125"/>
          </a:xfrm>
        </p:spPr>
        <p:txBody>
          <a:bodyPr/>
          <a:lstStyle>
            <a:lvl1pPr>
              <a:defRPr sz="1000"/>
            </a:lvl1pPr>
          </a:lstStyle>
          <a:p>
            <a:fld id="{3E547925-B263-43A6-B0C8-6BD7A4115FA3}" type="datetime1">
              <a:rPr lang="de-CH" smtClean="0"/>
              <a:pPr/>
              <a:t>30.04.2026</a:t>
            </a:fld>
            <a:endParaRPr lang="de-CH"/>
          </a:p>
        </p:txBody>
      </p:sp>
      <p:sp>
        <p:nvSpPr>
          <p:cNvPr id="4" name="Fußzeilenplatzhalter 3">
            <a:extLst>
              <a:ext uri="{FF2B5EF4-FFF2-40B4-BE49-F238E27FC236}">
                <a16:creationId xmlns:a16="http://schemas.microsoft.com/office/drawing/2014/main" id="{39FC7D57-30BF-49A8-4E67-8E48F35EE7DE}"/>
              </a:ext>
            </a:extLst>
          </p:cNvPr>
          <p:cNvSpPr>
            <a:spLocks noGrp="1"/>
          </p:cNvSpPr>
          <p:nvPr>
            <p:ph type="ftr" sz="quarter" idx="11"/>
          </p:nvPr>
        </p:nvSpPr>
        <p:spPr/>
        <p:txBody>
          <a:bodyPr/>
          <a:lstStyle>
            <a:lvl1pPr>
              <a:defRPr sz="1000"/>
            </a:lvl1pPr>
          </a:lstStyle>
          <a:p>
            <a:r>
              <a:rPr lang="de-CH"/>
              <a:t>Michael Burkhart</a:t>
            </a:r>
          </a:p>
        </p:txBody>
      </p:sp>
      <p:sp>
        <p:nvSpPr>
          <p:cNvPr id="5" name="Foliennummernplatzhalter 4">
            <a:extLst>
              <a:ext uri="{FF2B5EF4-FFF2-40B4-BE49-F238E27FC236}">
                <a16:creationId xmlns:a16="http://schemas.microsoft.com/office/drawing/2014/main" id="{91DF842B-DC05-85E7-946B-0D39E009AC16}"/>
              </a:ext>
            </a:extLst>
          </p:cNvPr>
          <p:cNvSpPr>
            <a:spLocks noGrp="1"/>
          </p:cNvSpPr>
          <p:nvPr>
            <p:ph type="sldNum" sz="quarter" idx="12"/>
          </p:nvPr>
        </p:nvSpPr>
        <p:spPr>
          <a:xfrm>
            <a:off x="8610600" y="6356350"/>
            <a:ext cx="3007242" cy="365125"/>
          </a:xfrm>
        </p:spPr>
        <p:txBody>
          <a:bodyPr/>
          <a:lstStyle>
            <a:lvl1pPr>
              <a:defRPr sz="1000"/>
            </a:lvl1pPr>
          </a:lstStyle>
          <a:p>
            <a:fld id="{4AD183E9-DD6D-42F1-8E43-21E1FEC5E71C}" type="slidenum">
              <a:rPr lang="de-CH" smtClean="0"/>
              <a:pPr/>
              <a:t>‹#›</a:t>
            </a:fld>
            <a:endParaRPr lang="de-CH"/>
          </a:p>
        </p:txBody>
      </p:sp>
      <p:sp>
        <p:nvSpPr>
          <p:cNvPr id="11" name="Titel 1">
            <a:extLst>
              <a:ext uri="{FF2B5EF4-FFF2-40B4-BE49-F238E27FC236}">
                <a16:creationId xmlns:a16="http://schemas.microsoft.com/office/drawing/2014/main" id="{729E7927-0CB2-6091-62BC-8252CC033D27}"/>
              </a:ext>
            </a:extLst>
          </p:cNvPr>
          <p:cNvSpPr>
            <a:spLocks noGrp="1"/>
          </p:cNvSpPr>
          <p:nvPr>
            <p:ph type="title"/>
          </p:nvPr>
        </p:nvSpPr>
        <p:spPr>
          <a:xfrm>
            <a:off x="574158" y="170128"/>
            <a:ext cx="11043684" cy="765543"/>
          </a:xfrm>
        </p:spPr>
        <p:txBody>
          <a:bodyPr>
            <a:normAutofit/>
          </a:bodyPr>
          <a:lstStyle>
            <a:lvl1pPr>
              <a:defRPr sz="2800">
                <a:latin typeface="Helvetica LT Pro Black" panose="020B0904030502020204" pitchFamily="34" charset="0"/>
              </a:defRPr>
            </a:lvl1pPr>
          </a:lstStyle>
          <a:p>
            <a:r>
              <a:rPr lang="de-DE"/>
              <a:t>Mastertitelformat bearbeiten</a:t>
            </a:r>
            <a:endParaRPr lang="de-CH"/>
          </a:p>
        </p:txBody>
      </p:sp>
      <p:cxnSp>
        <p:nvCxnSpPr>
          <p:cNvPr id="12" name="Gerader Verbinder 11">
            <a:extLst>
              <a:ext uri="{FF2B5EF4-FFF2-40B4-BE49-F238E27FC236}">
                <a16:creationId xmlns:a16="http://schemas.microsoft.com/office/drawing/2014/main" id="{81EBC262-5315-9F02-B2BC-99D1EE15E0FC}"/>
              </a:ext>
            </a:extLst>
          </p:cNvPr>
          <p:cNvCxnSpPr>
            <a:cxnSpLocks/>
          </p:cNvCxnSpPr>
          <p:nvPr userDrawn="1"/>
        </p:nvCxnSpPr>
        <p:spPr>
          <a:xfrm>
            <a:off x="574158" y="935671"/>
            <a:ext cx="11043684" cy="0"/>
          </a:xfrm>
          <a:prstGeom prst="line">
            <a:avLst/>
          </a:prstGeom>
          <a:ln>
            <a:solidFill>
              <a:schemeClr val="bg1">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5488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87276AC-334E-FEF1-F742-3829D2449BF5}"/>
              </a:ext>
            </a:extLst>
          </p:cNvPr>
          <p:cNvSpPr>
            <a:spLocks noGrp="1"/>
          </p:cNvSpPr>
          <p:nvPr>
            <p:ph type="dt" sz="half" idx="10"/>
          </p:nvPr>
        </p:nvSpPr>
        <p:spPr/>
        <p:txBody>
          <a:bodyPr/>
          <a:lstStyle>
            <a:lvl1pPr>
              <a:defRPr sz="1000"/>
            </a:lvl1pPr>
          </a:lstStyle>
          <a:p>
            <a:fld id="{2C6F7188-4CE7-4B31-9C80-E5A99186EA8B}" type="datetime1">
              <a:rPr lang="de-CH" smtClean="0"/>
              <a:pPr/>
              <a:t>30.04.2026</a:t>
            </a:fld>
            <a:endParaRPr lang="de-CH"/>
          </a:p>
        </p:txBody>
      </p:sp>
      <p:sp>
        <p:nvSpPr>
          <p:cNvPr id="3" name="Fußzeilenplatzhalter 2">
            <a:extLst>
              <a:ext uri="{FF2B5EF4-FFF2-40B4-BE49-F238E27FC236}">
                <a16:creationId xmlns:a16="http://schemas.microsoft.com/office/drawing/2014/main" id="{6ADD22A2-9398-19EE-A7D4-56010D5DC080}"/>
              </a:ext>
            </a:extLst>
          </p:cNvPr>
          <p:cNvSpPr>
            <a:spLocks noGrp="1"/>
          </p:cNvSpPr>
          <p:nvPr>
            <p:ph type="ftr" sz="quarter" idx="11"/>
          </p:nvPr>
        </p:nvSpPr>
        <p:spPr/>
        <p:txBody>
          <a:bodyPr/>
          <a:lstStyle>
            <a:lvl1pPr>
              <a:defRPr sz="1000"/>
            </a:lvl1pPr>
          </a:lstStyle>
          <a:p>
            <a:r>
              <a:rPr lang="de-CH" dirty="0"/>
              <a:t>Burkhart &amp; Partners AG</a:t>
            </a:r>
          </a:p>
        </p:txBody>
      </p:sp>
      <p:sp>
        <p:nvSpPr>
          <p:cNvPr id="4" name="Foliennummernplatzhalter 3">
            <a:extLst>
              <a:ext uri="{FF2B5EF4-FFF2-40B4-BE49-F238E27FC236}">
                <a16:creationId xmlns:a16="http://schemas.microsoft.com/office/drawing/2014/main" id="{43751962-6AFD-CDAA-DFD9-3BD4DBA06EFD}"/>
              </a:ext>
            </a:extLst>
          </p:cNvPr>
          <p:cNvSpPr>
            <a:spLocks noGrp="1"/>
          </p:cNvSpPr>
          <p:nvPr>
            <p:ph type="sldNum" sz="quarter" idx="12"/>
          </p:nvPr>
        </p:nvSpPr>
        <p:spPr/>
        <p:txBody>
          <a:bodyPr/>
          <a:lstStyle>
            <a:lvl1pPr>
              <a:defRPr sz="1000"/>
            </a:lvl1pPr>
          </a:lstStyle>
          <a:p>
            <a:fld id="{4AD183E9-DD6D-42F1-8E43-21E1FEC5E71C}" type="slidenum">
              <a:rPr lang="de-CH" smtClean="0"/>
              <a:pPr/>
              <a:t>‹#›</a:t>
            </a:fld>
            <a:endParaRPr lang="de-CH"/>
          </a:p>
        </p:txBody>
      </p:sp>
    </p:spTree>
    <p:extLst>
      <p:ext uri="{BB962C8B-B14F-4D97-AF65-F5344CB8AC3E}">
        <p14:creationId xmlns:p14="http://schemas.microsoft.com/office/powerpoint/2010/main" val="991005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62C299-8AE3-45D5-4BAF-416B05086DA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6D88AE69-9226-6CB8-C2DA-F37049C25C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960AC898-E2F1-F988-0655-1214D9027A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E512C4F-336D-9178-54F8-BD156744FC56}"/>
              </a:ext>
            </a:extLst>
          </p:cNvPr>
          <p:cNvSpPr>
            <a:spLocks noGrp="1"/>
          </p:cNvSpPr>
          <p:nvPr>
            <p:ph type="dt" sz="half" idx="10"/>
          </p:nvPr>
        </p:nvSpPr>
        <p:spPr/>
        <p:txBody>
          <a:bodyPr/>
          <a:lstStyle/>
          <a:p>
            <a:fld id="{94F773A9-0D28-434E-AED2-DBEF9149B9F7}" type="datetime1">
              <a:rPr lang="de-CH" smtClean="0"/>
              <a:t>30.04.2026</a:t>
            </a:fld>
            <a:endParaRPr lang="de-CH"/>
          </a:p>
        </p:txBody>
      </p:sp>
      <p:sp>
        <p:nvSpPr>
          <p:cNvPr id="6" name="Fußzeilenplatzhalter 5">
            <a:extLst>
              <a:ext uri="{FF2B5EF4-FFF2-40B4-BE49-F238E27FC236}">
                <a16:creationId xmlns:a16="http://schemas.microsoft.com/office/drawing/2014/main" id="{E044C08E-E93E-AB12-716D-0B1E3777FDF8}"/>
              </a:ext>
            </a:extLst>
          </p:cNvPr>
          <p:cNvSpPr>
            <a:spLocks noGrp="1"/>
          </p:cNvSpPr>
          <p:nvPr>
            <p:ph type="ftr" sz="quarter" idx="11"/>
          </p:nvPr>
        </p:nvSpPr>
        <p:spPr/>
        <p:txBody>
          <a:bodyPr/>
          <a:lstStyle/>
          <a:p>
            <a:r>
              <a:rPr lang="de-CH"/>
              <a:t>Michael Burkhart</a:t>
            </a:r>
          </a:p>
        </p:txBody>
      </p:sp>
      <p:sp>
        <p:nvSpPr>
          <p:cNvPr id="7" name="Foliennummernplatzhalter 6">
            <a:extLst>
              <a:ext uri="{FF2B5EF4-FFF2-40B4-BE49-F238E27FC236}">
                <a16:creationId xmlns:a16="http://schemas.microsoft.com/office/drawing/2014/main" id="{54E68F66-8E9A-333D-9DA9-2F55A4A0470D}"/>
              </a:ext>
            </a:extLst>
          </p:cNvPr>
          <p:cNvSpPr>
            <a:spLocks noGrp="1"/>
          </p:cNvSpPr>
          <p:nvPr>
            <p:ph type="sldNum" sz="quarter" idx="12"/>
          </p:nvPr>
        </p:nvSpPr>
        <p:spPr/>
        <p:txBody>
          <a:bodyPr/>
          <a:lstStyle/>
          <a:p>
            <a:fld id="{4AD183E9-DD6D-42F1-8E43-21E1FEC5E71C}" type="slidenum">
              <a:rPr lang="de-CH" smtClean="0"/>
              <a:t>‹#›</a:t>
            </a:fld>
            <a:endParaRPr lang="de-CH"/>
          </a:p>
        </p:txBody>
      </p:sp>
    </p:spTree>
    <p:extLst>
      <p:ext uri="{BB962C8B-B14F-4D97-AF65-F5344CB8AC3E}">
        <p14:creationId xmlns:p14="http://schemas.microsoft.com/office/powerpoint/2010/main" val="163834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ACAA65-43DD-8C81-F8F9-401D008C87C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093280EE-1E51-941B-7AE5-479AE9FD4C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9E8023F7-B95B-52F7-D9DD-D259E1D081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9A1C951-19B5-CFCA-B23C-1631A6278E37}"/>
              </a:ext>
            </a:extLst>
          </p:cNvPr>
          <p:cNvSpPr>
            <a:spLocks noGrp="1"/>
          </p:cNvSpPr>
          <p:nvPr>
            <p:ph type="dt" sz="half" idx="10"/>
          </p:nvPr>
        </p:nvSpPr>
        <p:spPr/>
        <p:txBody>
          <a:bodyPr/>
          <a:lstStyle/>
          <a:p>
            <a:fld id="{B1FA98EE-9FC5-4ECE-9E49-6BA93783AFFF}" type="datetime1">
              <a:rPr lang="de-CH" smtClean="0"/>
              <a:t>30.04.2026</a:t>
            </a:fld>
            <a:endParaRPr lang="de-CH"/>
          </a:p>
        </p:txBody>
      </p:sp>
      <p:sp>
        <p:nvSpPr>
          <p:cNvPr id="6" name="Fußzeilenplatzhalter 5">
            <a:extLst>
              <a:ext uri="{FF2B5EF4-FFF2-40B4-BE49-F238E27FC236}">
                <a16:creationId xmlns:a16="http://schemas.microsoft.com/office/drawing/2014/main" id="{546810E4-5530-B299-4949-0F3882BF9B2E}"/>
              </a:ext>
            </a:extLst>
          </p:cNvPr>
          <p:cNvSpPr>
            <a:spLocks noGrp="1"/>
          </p:cNvSpPr>
          <p:nvPr>
            <p:ph type="ftr" sz="quarter" idx="11"/>
          </p:nvPr>
        </p:nvSpPr>
        <p:spPr/>
        <p:txBody>
          <a:bodyPr/>
          <a:lstStyle/>
          <a:p>
            <a:r>
              <a:rPr lang="de-CH"/>
              <a:t>Michael Burkhart</a:t>
            </a:r>
          </a:p>
        </p:txBody>
      </p:sp>
      <p:sp>
        <p:nvSpPr>
          <p:cNvPr id="7" name="Foliennummernplatzhalter 6">
            <a:extLst>
              <a:ext uri="{FF2B5EF4-FFF2-40B4-BE49-F238E27FC236}">
                <a16:creationId xmlns:a16="http://schemas.microsoft.com/office/drawing/2014/main" id="{F1421C96-21BA-55AB-C201-7FD619C2038E}"/>
              </a:ext>
            </a:extLst>
          </p:cNvPr>
          <p:cNvSpPr>
            <a:spLocks noGrp="1"/>
          </p:cNvSpPr>
          <p:nvPr>
            <p:ph type="sldNum" sz="quarter" idx="12"/>
          </p:nvPr>
        </p:nvSpPr>
        <p:spPr/>
        <p:txBody>
          <a:bodyPr/>
          <a:lstStyle/>
          <a:p>
            <a:fld id="{4AD183E9-DD6D-42F1-8E43-21E1FEC5E71C}" type="slidenum">
              <a:rPr lang="de-CH" smtClean="0"/>
              <a:t>‹#›</a:t>
            </a:fld>
            <a:endParaRPr lang="de-CH"/>
          </a:p>
        </p:txBody>
      </p:sp>
    </p:spTree>
    <p:extLst>
      <p:ext uri="{BB962C8B-B14F-4D97-AF65-F5344CB8AC3E}">
        <p14:creationId xmlns:p14="http://schemas.microsoft.com/office/powerpoint/2010/main" val="3965984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06FF75-1AEF-E3CF-8F95-E89C0F8C9C6F}"/>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02A77AB4-16F5-9B5A-8862-64EA06FBF397}"/>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B530F679-3494-47B5-1CD4-9611ADEFB92A}"/>
              </a:ext>
            </a:extLst>
          </p:cNvPr>
          <p:cNvSpPr>
            <a:spLocks noGrp="1"/>
          </p:cNvSpPr>
          <p:nvPr>
            <p:ph type="dt" sz="half" idx="10"/>
          </p:nvPr>
        </p:nvSpPr>
        <p:spPr/>
        <p:txBody>
          <a:bodyPr/>
          <a:lstStyle/>
          <a:p>
            <a:fld id="{63E42954-8979-45F5-BE61-0F4E8CBA425C}" type="datetime1">
              <a:rPr lang="de-CH" smtClean="0"/>
              <a:t>30.04.2026</a:t>
            </a:fld>
            <a:endParaRPr lang="de-CH"/>
          </a:p>
        </p:txBody>
      </p:sp>
      <p:sp>
        <p:nvSpPr>
          <p:cNvPr id="5" name="Fußzeilenplatzhalter 4">
            <a:extLst>
              <a:ext uri="{FF2B5EF4-FFF2-40B4-BE49-F238E27FC236}">
                <a16:creationId xmlns:a16="http://schemas.microsoft.com/office/drawing/2014/main" id="{94B11DDC-1B88-0932-1C31-4B1E76A20EB7}"/>
              </a:ext>
            </a:extLst>
          </p:cNvPr>
          <p:cNvSpPr>
            <a:spLocks noGrp="1"/>
          </p:cNvSpPr>
          <p:nvPr>
            <p:ph type="ftr" sz="quarter" idx="11"/>
          </p:nvPr>
        </p:nvSpPr>
        <p:spPr/>
        <p:txBody>
          <a:bodyPr/>
          <a:lstStyle/>
          <a:p>
            <a:r>
              <a:rPr lang="de-CH"/>
              <a:t>Michael Burkhart</a:t>
            </a:r>
          </a:p>
        </p:txBody>
      </p:sp>
      <p:sp>
        <p:nvSpPr>
          <p:cNvPr id="6" name="Foliennummernplatzhalter 5">
            <a:extLst>
              <a:ext uri="{FF2B5EF4-FFF2-40B4-BE49-F238E27FC236}">
                <a16:creationId xmlns:a16="http://schemas.microsoft.com/office/drawing/2014/main" id="{81EBD3C0-3EE3-2466-8A56-57CDD68F2E4D}"/>
              </a:ext>
            </a:extLst>
          </p:cNvPr>
          <p:cNvSpPr>
            <a:spLocks noGrp="1"/>
          </p:cNvSpPr>
          <p:nvPr>
            <p:ph type="sldNum" sz="quarter" idx="12"/>
          </p:nvPr>
        </p:nvSpPr>
        <p:spPr/>
        <p:txBody>
          <a:bodyPr/>
          <a:lstStyle/>
          <a:p>
            <a:fld id="{4AD183E9-DD6D-42F1-8E43-21E1FEC5E71C}" type="slidenum">
              <a:rPr lang="de-CH" smtClean="0"/>
              <a:t>‹#›</a:t>
            </a:fld>
            <a:endParaRPr lang="de-CH"/>
          </a:p>
        </p:txBody>
      </p:sp>
    </p:spTree>
    <p:extLst>
      <p:ext uri="{BB962C8B-B14F-4D97-AF65-F5344CB8AC3E}">
        <p14:creationId xmlns:p14="http://schemas.microsoft.com/office/powerpoint/2010/main" val="221937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83F5F57B-6F59-6D3E-67E5-F2136FC315E0}"/>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D5CB1F84-5A0C-9A9C-AD60-586469D88F4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CF7BF264-3922-1334-664C-13BCA3E4D4A7}"/>
              </a:ext>
            </a:extLst>
          </p:cNvPr>
          <p:cNvSpPr>
            <a:spLocks noGrp="1"/>
          </p:cNvSpPr>
          <p:nvPr>
            <p:ph type="dt" sz="half" idx="10"/>
          </p:nvPr>
        </p:nvSpPr>
        <p:spPr/>
        <p:txBody>
          <a:bodyPr/>
          <a:lstStyle/>
          <a:p>
            <a:fld id="{46D769C2-5764-4BAE-BD88-441430A61908}" type="datetime1">
              <a:rPr lang="de-CH" smtClean="0"/>
              <a:t>30.04.2026</a:t>
            </a:fld>
            <a:endParaRPr lang="de-CH"/>
          </a:p>
        </p:txBody>
      </p:sp>
      <p:sp>
        <p:nvSpPr>
          <p:cNvPr id="5" name="Fußzeilenplatzhalter 4">
            <a:extLst>
              <a:ext uri="{FF2B5EF4-FFF2-40B4-BE49-F238E27FC236}">
                <a16:creationId xmlns:a16="http://schemas.microsoft.com/office/drawing/2014/main" id="{471C5D79-776B-DA88-EB3B-47615EC08116}"/>
              </a:ext>
            </a:extLst>
          </p:cNvPr>
          <p:cNvSpPr>
            <a:spLocks noGrp="1"/>
          </p:cNvSpPr>
          <p:nvPr>
            <p:ph type="ftr" sz="quarter" idx="11"/>
          </p:nvPr>
        </p:nvSpPr>
        <p:spPr/>
        <p:txBody>
          <a:bodyPr/>
          <a:lstStyle/>
          <a:p>
            <a:r>
              <a:rPr lang="de-CH"/>
              <a:t>Michael Burkhart</a:t>
            </a:r>
          </a:p>
        </p:txBody>
      </p:sp>
      <p:sp>
        <p:nvSpPr>
          <p:cNvPr id="6" name="Foliennummernplatzhalter 5">
            <a:extLst>
              <a:ext uri="{FF2B5EF4-FFF2-40B4-BE49-F238E27FC236}">
                <a16:creationId xmlns:a16="http://schemas.microsoft.com/office/drawing/2014/main" id="{889F07FB-3515-956D-DF68-A809A35C6D36}"/>
              </a:ext>
            </a:extLst>
          </p:cNvPr>
          <p:cNvSpPr>
            <a:spLocks noGrp="1"/>
          </p:cNvSpPr>
          <p:nvPr>
            <p:ph type="sldNum" sz="quarter" idx="12"/>
          </p:nvPr>
        </p:nvSpPr>
        <p:spPr/>
        <p:txBody>
          <a:bodyPr/>
          <a:lstStyle/>
          <a:p>
            <a:fld id="{4AD183E9-DD6D-42F1-8E43-21E1FEC5E71C}" type="slidenum">
              <a:rPr lang="de-CH" smtClean="0"/>
              <a:t>‹#›</a:t>
            </a:fld>
            <a:endParaRPr lang="de-CH"/>
          </a:p>
        </p:txBody>
      </p:sp>
    </p:spTree>
    <p:extLst>
      <p:ext uri="{BB962C8B-B14F-4D97-AF65-F5344CB8AC3E}">
        <p14:creationId xmlns:p14="http://schemas.microsoft.com/office/powerpoint/2010/main" val="1901951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7A4B095-A1F3-A11C-ACBF-34C24560FC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129B2588-A474-F536-5462-D088F63EC7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5BC82311-EFED-8FD7-4E89-19477A5E65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6EC65F-8E5D-4F3D-AAC3-401E8E2B296C}" type="datetime1">
              <a:rPr lang="de-CH" smtClean="0"/>
              <a:t>30.04.2026</a:t>
            </a:fld>
            <a:endParaRPr lang="de-CH"/>
          </a:p>
        </p:txBody>
      </p:sp>
      <p:sp>
        <p:nvSpPr>
          <p:cNvPr id="5" name="Fußzeilenplatzhalter 4">
            <a:extLst>
              <a:ext uri="{FF2B5EF4-FFF2-40B4-BE49-F238E27FC236}">
                <a16:creationId xmlns:a16="http://schemas.microsoft.com/office/drawing/2014/main" id="{5D943633-C378-11F6-2FEA-6DD0855B1B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CH" dirty="0"/>
              <a:t>Burkhart &amp; Partners AG</a:t>
            </a:r>
          </a:p>
        </p:txBody>
      </p:sp>
      <p:sp>
        <p:nvSpPr>
          <p:cNvPr id="6" name="Foliennummernplatzhalter 5">
            <a:extLst>
              <a:ext uri="{FF2B5EF4-FFF2-40B4-BE49-F238E27FC236}">
                <a16:creationId xmlns:a16="http://schemas.microsoft.com/office/drawing/2014/main" id="{82D5CD48-3A28-6327-8ECC-E072C1422B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D183E9-DD6D-42F1-8E43-21E1FEC5E71C}" type="slidenum">
              <a:rPr lang="de-CH" smtClean="0"/>
              <a:t>‹#›</a:t>
            </a:fld>
            <a:endParaRPr lang="de-CH"/>
          </a:p>
        </p:txBody>
      </p:sp>
    </p:spTree>
    <p:extLst>
      <p:ext uri="{BB962C8B-B14F-4D97-AF65-F5344CB8AC3E}">
        <p14:creationId xmlns:p14="http://schemas.microsoft.com/office/powerpoint/2010/main" val="1253103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5" r:id="rId8"/>
    <p:sldLayoutId id="2147483656" r:id="rId9"/>
    <p:sldLayoutId id="2147483657" r:id="rId10"/>
    <p:sldLayoutId id="2147483658" r:id="rId11"/>
    <p:sldLayoutId id="2147483659"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hyperlink" Target="https://www.getyourlawyer.ch/baurecht/nutzungsrechte/"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2.png"/><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8.png"/><Relationship Id="rId4" Type="http://schemas.openxmlformats.org/officeDocument/2006/relationships/image" Target="../media/image57.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59.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hyperlink" Target="https://www.gl.ch/verwaltung/bau-und-umwelt/umwelt-wald-und-energie/umweltschutz-und-energie/energie/foerderprogramm.html/773"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3.png"/><Relationship Id="rId7" Type="http://schemas.openxmlformats.org/officeDocument/2006/relationships/image" Target="../media/image61.png"/><Relationship Id="rId12" Type="http://schemas.openxmlformats.org/officeDocument/2006/relationships/image" Target="../media/image66.jpe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7.jpeg"/><Relationship Id="rId10" Type="http://schemas.openxmlformats.org/officeDocument/2006/relationships/image" Target="../media/image64.jpeg"/><Relationship Id="rId4" Type="http://schemas.openxmlformats.org/officeDocument/2006/relationships/image" Target="../media/image6.pn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7" y="397460"/>
            <a:ext cx="2594143" cy="461665"/>
          </a:xfrm>
          <a:prstGeom prst="rect">
            <a:avLst/>
          </a:prstGeom>
          <a:noFill/>
        </p:spPr>
        <p:txBody>
          <a:bodyPr wrap="square" rtlCol="0">
            <a:spAutoFit/>
          </a:bodyPr>
          <a:lstStyle/>
          <a:p>
            <a:r>
              <a:rPr lang="de-CH" sz="2400" dirty="0">
                <a:latin typeface="Helvetica LT Pro Black" panose="020B0904030502020204" pitchFamily="34" charset="0"/>
              </a:rPr>
              <a:t>Lex-Koller</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8" name="Textfeld 7">
            <a:extLst>
              <a:ext uri="{FF2B5EF4-FFF2-40B4-BE49-F238E27FC236}">
                <a16:creationId xmlns:a16="http://schemas.microsoft.com/office/drawing/2014/main" id="{488E26F6-3E05-7E58-17ED-0CA3AB1F10A2}"/>
              </a:ext>
            </a:extLst>
          </p:cNvPr>
          <p:cNvSpPr txBox="1"/>
          <p:nvPr/>
        </p:nvSpPr>
        <p:spPr>
          <a:xfrm>
            <a:off x="731798" y="2821605"/>
            <a:ext cx="2460666" cy="369332"/>
          </a:xfrm>
          <a:prstGeom prst="rect">
            <a:avLst/>
          </a:prstGeom>
          <a:noFill/>
        </p:spPr>
        <p:txBody>
          <a:bodyPr wrap="square" rtlCol="0">
            <a:spAutoFit/>
          </a:bodyPr>
          <a:lstStyle/>
          <a:p>
            <a:pPr algn="ctr"/>
            <a:r>
              <a:rPr lang="de-CH" b="1" dirty="0">
                <a:solidFill>
                  <a:schemeClr val="accent2"/>
                </a:solidFill>
                <a:latin typeface="+mj-lt"/>
              </a:rPr>
              <a:t>CH-Staatsbürger</a:t>
            </a:r>
          </a:p>
        </p:txBody>
      </p:sp>
      <p:sp>
        <p:nvSpPr>
          <p:cNvPr id="9" name="Textfeld 8">
            <a:extLst>
              <a:ext uri="{FF2B5EF4-FFF2-40B4-BE49-F238E27FC236}">
                <a16:creationId xmlns:a16="http://schemas.microsoft.com/office/drawing/2014/main" id="{D06836DE-E6CC-FFC3-7782-155F8234160B}"/>
              </a:ext>
            </a:extLst>
          </p:cNvPr>
          <p:cNvSpPr txBox="1"/>
          <p:nvPr/>
        </p:nvSpPr>
        <p:spPr>
          <a:xfrm>
            <a:off x="5363540" y="2842184"/>
            <a:ext cx="1836157" cy="369332"/>
          </a:xfrm>
          <a:prstGeom prst="rect">
            <a:avLst/>
          </a:prstGeom>
          <a:noFill/>
        </p:spPr>
        <p:txBody>
          <a:bodyPr wrap="square" rtlCol="0">
            <a:spAutoFit/>
          </a:bodyPr>
          <a:lstStyle/>
          <a:p>
            <a:pPr algn="ctr"/>
            <a:r>
              <a:rPr lang="de-CH" b="1" dirty="0">
                <a:solidFill>
                  <a:schemeClr val="accent2"/>
                </a:solidFill>
                <a:latin typeface="+mj-lt"/>
              </a:rPr>
              <a:t>B-Bewilligung</a:t>
            </a:r>
          </a:p>
        </p:txBody>
      </p:sp>
      <p:sp>
        <p:nvSpPr>
          <p:cNvPr id="10" name="Textfeld 9">
            <a:extLst>
              <a:ext uri="{FF2B5EF4-FFF2-40B4-BE49-F238E27FC236}">
                <a16:creationId xmlns:a16="http://schemas.microsoft.com/office/drawing/2014/main" id="{FAADB4FB-716D-C1D9-5297-E7101D6455C6}"/>
              </a:ext>
            </a:extLst>
          </p:cNvPr>
          <p:cNvSpPr txBox="1"/>
          <p:nvPr/>
        </p:nvSpPr>
        <p:spPr>
          <a:xfrm>
            <a:off x="9264060" y="2838008"/>
            <a:ext cx="2196142" cy="369332"/>
          </a:xfrm>
          <a:prstGeom prst="rect">
            <a:avLst/>
          </a:prstGeom>
          <a:noFill/>
        </p:spPr>
        <p:txBody>
          <a:bodyPr wrap="square" rtlCol="0">
            <a:spAutoFit/>
          </a:bodyPr>
          <a:lstStyle/>
          <a:p>
            <a:pPr algn="ctr"/>
            <a:r>
              <a:rPr lang="de-CH" b="1" dirty="0">
                <a:solidFill>
                  <a:schemeClr val="accent2"/>
                </a:solidFill>
                <a:latin typeface="+mj-lt"/>
              </a:rPr>
              <a:t>C-Bewilligung</a:t>
            </a:r>
          </a:p>
        </p:txBody>
      </p:sp>
      <p:cxnSp>
        <p:nvCxnSpPr>
          <p:cNvPr id="11" name="Gerader Verbinder 10">
            <a:extLst>
              <a:ext uri="{FF2B5EF4-FFF2-40B4-BE49-F238E27FC236}">
                <a16:creationId xmlns:a16="http://schemas.microsoft.com/office/drawing/2014/main" id="{88DE6A57-2DF0-B31B-E593-AF643703A9BB}"/>
              </a:ext>
            </a:extLst>
          </p:cNvPr>
          <p:cNvCxnSpPr>
            <a:cxnSpLocks/>
          </p:cNvCxnSpPr>
          <p:nvPr/>
        </p:nvCxnSpPr>
        <p:spPr>
          <a:xfrm>
            <a:off x="4116051" y="3176860"/>
            <a:ext cx="0" cy="2541751"/>
          </a:xfrm>
          <a:prstGeom prst="line">
            <a:avLst/>
          </a:prstGeom>
          <a:ln w="19050" cap="rnd">
            <a:solidFill>
              <a:schemeClr val="accent4"/>
            </a:solidFill>
            <a:round/>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73DD990-D422-FDDB-6BC0-2578C6E4677F}"/>
              </a:ext>
            </a:extLst>
          </p:cNvPr>
          <p:cNvCxnSpPr>
            <a:cxnSpLocks/>
          </p:cNvCxnSpPr>
          <p:nvPr/>
        </p:nvCxnSpPr>
        <p:spPr>
          <a:xfrm>
            <a:off x="8354060" y="3207340"/>
            <a:ext cx="0" cy="2520796"/>
          </a:xfrm>
          <a:prstGeom prst="line">
            <a:avLst/>
          </a:prstGeom>
          <a:ln w="19050" cap="rnd">
            <a:solidFill>
              <a:schemeClr val="accent4"/>
            </a:solidFill>
            <a:roun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58E9E75D-25B0-F33C-06C7-2395C115864A}"/>
              </a:ext>
            </a:extLst>
          </p:cNvPr>
          <p:cNvCxnSpPr>
            <a:cxnSpLocks/>
          </p:cNvCxnSpPr>
          <p:nvPr/>
        </p:nvCxnSpPr>
        <p:spPr>
          <a:xfrm>
            <a:off x="971851" y="3190937"/>
            <a:ext cx="19975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624175E1-A0B0-6736-0F31-9C85590FA740}"/>
              </a:ext>
            </a:extLst>
          </p:cNvPr>
          <p:cNvCxnSpPr>
            <a:cxnSpLocks/>
          </p:cNvCxnSpPr>
          <p:nvPr/>
        </p:nvCxnSpPr>
        <p:spPr>
          <a:xfrm>
            <a:off x="5466239" y="3180665"/>
            <a:ext cx="161321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20D00C57-502E-DF3D-7747-A0093A2B4029}"/>
              </a:ext>
            </a:extLst>
          </p:cNvPr>
          <p:cNvCxnSpPr>
            <a:cxnSpLocks/>
          </p:cNvCxnSpPr>
          <p:nvPr/>
        </p:nvCxnSpPr>
        <p:spPr>
          <a:xfrm>
            <a:off x="9563100" y="3176860"/>
            <a:ext cx="1621631"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78D5827F-CDE9-D099-3691-DE249B2AFC6F}"/>
              </a:ext>
            </a:extLst>
          </p:cNvPr>
          <p:cNvSpPr txBox="1"/>
          <p:nvPr/>
        </p:nvSpPr>
        <p:spPr>
          <a:xfrm>
            <a:off x="514817" y="3437026"/>
            <a:ext cx="3312609" cy="1384995"/>
          </a:xfrm>
          <a:prstGeom prst="rect">
            <a:avLst/>
          </a:prstGeom>
          <a:noFill/>
        </p:spPr>
        <p:txBody>
          <a:bodyPr wrap="square" rtlCol="0">
            <a:spAutoFit/>
          </a:bodyPr>
          <a:lstStyle/>
          <a:p>
            <a:r>
              <a:rPr lang="de-CH" sz="1400" dirty="0"/>
              <a:t>Schweizer Staatsbürger sind von der Lex-Koller nicht betroffen und können in der Schweiz uneingeschränkt Grundstücke erwerben. </a:t>
            </a:r>
          </a:p>
          <a:p>
            <a:r>
              <a:rPr lang="de-CH" sz="1400" dirty="0"/>
              <a:t>Völlig unabhängig davon, ob sie in der Schweiz leben oder nicht. </a:t>
            </a:r>
          </a:p>
        </p:txBody>
      </p:sp>
      <p:sp>
        <p:nvSpPr>
          <p:cNvPr id="29" name="Textfeld 28">
            <a:extLst>
              <a:ext uri="{FF2B5EF4-FFF2-40B4-BE49-F238E27FC236}">
                <a16:creationId xmlns:a16="http://schemas.microsoft.com/office/drawing/2014/main" id="{24C0F6CB-34CD-7D43-41D3-F5DE537E0B19}"/>
              </a:ext>
            </a:extLst>
          </p:cNvPr>
          <p:cNvSpPr txBox="1"/>
          <p:nvPr/>
        </p:nvSpPr>
        <p:spPr>
          <a:xfrm>
            <a:off x="4629185" y="3437026"/>
            <a:ext cx="3514689" cy="2031325"/>
          </a:xfrm>
          <a:prstGeom prst="rect">
            <a:avLst/>
          </a:prstGeom>
          <a:noFill/>
        </p:spPr>
        <p:txBody>
          <a:bodyPr wrap="square" rtlCol="0">
            <a:spAutoFit/>
          </a:bodyPr>
          <a:lstStyle/>
          <a:p>
            <a:r>
              <a:rPr lang="de-CH" sz="1400" dirty="0"/>
              <a:t>Nicht betroffen von der Lex-Koller sind EU -/EFTA-Bürger, welche über eine Aufenthaltsbewilligung B verfügen und ihren Lebensmittelpunkt in der Schweiz haben.</a:t>
            </a:r>
          </a:p>
          <a:p>
            <a:endParaRPr lang="de-CH" sz="1400" dirty="0"/>
          </a:p>
          <a:p>
            <a:r>
              <a:rPr lang="de-CH" sz="1400" dirty="0"/>
              <a:t>Die EFTA (Europäische Freihandelszone) umfasst folgende 4 Länder: Island, Lichtenstein, Norwegen &amp; Schweiz</a:t>
            </a:r>
          </a:p>
        </p:txBody>
      </p:sp>
      <p:sp>
        <p:nvSpPr>
          <p:cNvPr id="34" name="Textfeld 33">
            <a:extLst>
              <a:ext uri="{FF2B5EF4-FFF2-40B4-BE49-F238E27FC236}">
                <a16:creationId xmlns:a16="http://schemas.microsoft.com/office/drawing/2014/main" id="{444BEE3D-179D-C5F1-1982-622C4AC79B0E}"/>
              </a:ext>
            </a:extLst>
          </p:cNvPr>
          <p:cNvSpPr txBox="1"/>
          <p:nvPr/>
        </p:nvSpPr>
        <p:spPr>
          <a:xfrm>
            <a:off x="8836043" y="3422594"/>
            <a:ext cx="2980036" cy="1169551"/>
          </a:xfrm>
          <a:prstGeom prst="rect">
            <a:avLst/>
          </a:prstGeom>
          <a:noFill/>
        </p:spPr>
        <p:txBody>
          <a:bodyPr wrap="square" rtlCol="0">
            <a:spAutoFit/>
          </a:bodyPr>
          <a:lstStyle/>
          <a:p>
            <a:r>
              <a:rPr lang="de-CH" sz="1400" dirty="0"/>
              <a:t>Bürgen der restlichen Staaten müssen über eine Aufenthaltsbewilligung C verfügen, wobei der Lebensmittelpunkt in der Schweiz liegen muss. </a:t>
            </a:r>
          </a:p>
        </p:txBody>
      </p:sp>
      <p:sp>
        <p:nvSpPr>
          <p:cNvPr id="39" name="Textfeld 38">
            <a:extLst>
              <a:ext uri="{FF2B5EF4-FFF2-40B4-BE49-F238E27FC236}">
                <a16:creationId xmlns:a16="http://schemas.microsoft.com/office/drawing/2014/main" id="{B128D904-7938-D94D-57C0-A676DDE71609}"/>
              </a:ext>
            </a:extLst>
          </p:cNvPr>
          <p:cNvSpPr txBox="1"/>
          <p:nvPr/>
        </p:nvSpPr>
        <p:spPr>
          <a:xfrm>
            <a:off x="514818" y="1141456"/>
            <a:ext cx="10078253" cy="1169551"/>
          </a:xfrm>
          <a:prstGeom prst="rect">
            <a:avLst/>
          </a:prstGeom>
          <a:noFill/>
        </p:spPr>
        <p:txBody>
          <a:bodyPr wrap="square" rtlCol="0">
            <a:spAutoFit/>
          </a:bodyPr>
          <a:lstStyle/>
          <a:p>
            <a:r>
              <a:rPr lang="de-CH" sz="1400" dirty="0"/>
              <a:t>Lex Koller ist ein schweizerisches Gesetz, das den Erwerb von Immobilien &amp; Grundstücke durch Ausländer regelt und Einschränkungen einführt. Es dient dem Schutz des Schweizer Immobilienmarktes vor übermässiger Auslandinvestitionen. </a:t>
            </a:r>
          </a:p>
          <a:p>
            <a:endParaRPr lang="de-CH" sz="1400" dirty="0"/>
          </a:p>
          <a:p>
            <a:r>
              <a:rPr lang="de-CH" sz="1400" dirty="0"/>
              <a:t>Nicht unter das Gesetz Lex Koller fallen Gewerbeimmobilien sowie Ferienwohnungen. Letzteres muss vom Kanton Bewilligt werden, wobei jährlich nur ein Kontingent von 1’500 Wohnungen besteht. </a:t>
            </a:r>
          </a:p>
        </p:txBody>
      </p:sp>
    </p:spTree>
    <p:extLst>
      <p:ext uri="{BB962C8B-B14F-4D97-AF65-F5344CB8AC3E}">
        <p14:creationId xmlns:p14="http://schemas.microsoft.com/office/powerpoint/2010/main" val="671972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7" y="397460"/>
            <a:ext cx="4600064" cy="461665"/>
          </a:xfrm>
          <a:prstGeom prst="rect">
            <a:avLst/>
          </a:prstGeom>
          <a:noFill/>
        </p:spPr>
        <p:txBody>
          <a:bodyPr wrap="square" rtlCol="0">
            <a:spAutoFit/>
          </a:bodyPr>
          <a:lstStyle/>
          <a:p>
            <a:r>
              <a:rPr lang="de-CH" sz="2400" dirty="0">
                <a:latin typeface="Helvetica LT Pro Black" panose="020B0904030502020204" pitchFamily="34" charset="0"/>
              </a:rPr>
              <a:t>Lex-Koller</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4659B3AC-9484-7406-8F4A-0D3948302360}"/>
              </a:ext>
            </a:extLst>
          </p:cNvPr>
          <p:cNvSpPr txBox="1"/>
          <p:nvPr/>
        </p:nvSpPr>
        <p:spPr>
          <a:xfrm>
            <a:off x="514817" y="2371725"/>
            <a:ext cx="5057775" cy="3108543"/>
          </a:xfrm>
          <a:prstGeom prst="rect">
            <a:avLst/>
          </a:prstGeom>
          <a:noFill/>
        </p:spPr>
        <p:txBody>
          <a:bodyPr wrap="square" rtlCol="0">
            <a:spAutoFit/>
          </a:bodyPr>
          <a:lstStyle/>
          <a:p>
            <a:r>
              <a:rPr lang="de-CH" sz="1400" dirty="0"/>
              <a:t>Für natürliche Personen, welche weder Schweizer Staatsbürger noch eine B oder C Bewilligung und ihren Wohnsitz in der Schweiz haben, besteht die Möglichkeit auf den Erwerb von Ferienwohnungen sowie Gewerbeimmobilien. </a:t>
            </a:r>
          </a:p>
          <a:p>
            <a:endParaRPr lang="de-CH" sz="1400" dirty="0"/>
          </a:p>
          <a:p>
            <a:r>
              <a:rPr lang="de-CH" sz="1400" dirty="0"/>
              <a:t>Gewerbeimmobilien können grundsätzlich ohne Bewilligungsverfahren erworben werden, wobei im Gegensatz die Ferienwohnungen durch den Kanton bewilligt werden müssen. Jährlich besteht nur ein begrenztes Kontigent von 1’500 Wohnungen zur Verfügung.</a:t>
            </a:r>
          </a:p>
          <a:p>
            <a:endParaRPr lang="de-CH" sz="1400" dirty="0"/>
          </a:p>
          <a:p>
            <a:r>
              <a:rPr lang="de-CH" sz="1400" dirty="0"/>
              <a:t>In beiden Fällen gilt eine kantonale Abklärung über allfällige Einschränkungen. </a:t>
            </a:r>
          </a:p>
        </p:txBody>
      </p:sp>
      <p:sp>
        <p:nvSpPr>
          <p:cNvPr id="3" name="Textfeld 2">
            <a:extLst>
              <a:ext uri="{FF2B5EF4-FFF2-40B4-BE49-F238E27FC236}">
                <a16:creationId xmlns:a16="http://schemas.microsoft.com/office/drawing/2014/main" id="{F98B761A-D9C3-EE15-3B12-F6EBF82577E4}"/>
              </a:ext>
            </a:extLst>
          </p:cNvPr>
          <p:cNvSpPr txBox="1"/>
          <p:nvPr/>
        </p:nvSpPr>
        <p:spPr>
          <a:xfrm>
            <a:off x="6619410" y="2371725"/>
            <a:ext cx="4514850" cy="2246769"/>
          </a:xfrm>
          <a:prstGeom prst="rect">
            <a:avLst/>
          </a:prstGeom>
          <a:noFill/>
        </p:spPr>
        <p:txBody>
          <a:bodyPr wrap="square" rtlCol="0">
            <a:spAutoFit/>
          </a:bodyPr>
          <a:lstStyle/>
          <a:p>
            <a:r>
              <a:rPr lang="de-CH" sz="1400" dirty="0"/>
              <a:t>Als eine juristische Person im Ausland gilt zum Beispiel eine Gesellschaft, die ihren Sitz im Ausland hat. Aber auch Gesellschaften mit Sitz in der Schweiz können hierunter fallen. </a:t>
            </a:r>
          </a:p>
          <a:p>
            <a:endParaRPr lang="de-CH" sz="1400" dirty="0"/>
          </a:p>
          <a:p>
            <a:r>
              <a:rPr lang="de-CH" sz="1400" dirty="0"/>
              <a:t>Ausschlaggebend dafür ist, ob sie von einer Person im Ausland beherrscht wird oder nicht. Das bedeutet, Ausländer können auch nicht über Aktiengesellschaften aus der Schweiz Grundstücke oder Immobilien in der Schweiz kaufen.</a:t>
            </a:r>
          </a:p>
        </p:txBody>
      </p:sp>
      <p:sp>
        <p:nvSpPr>
          <p:cNvPr id="4" name="Textfeld 3">
            <a:extLst>
              <a:ext uri="{FF2B5EF4-FFF2-40B4-BE49-F238E27FC236}">
                <a16:creationId xmlns:a16="http://schemas.microsoft.com/office/drawing/2014/main" id="{F43492DF-FF91-7CDE-65A8-34CE665DFBED}"/>
              </a:ext>
            </a:extLst>
          </p:cNvPr>
          <p:cNvSpPr txBox="1"/>
          <p:nvPr/>
        </p:nvSpPr>
        <p:spPr>
          <a:xfrm>
            <a:off x="583038" y="1530347"/>
            <a:ext cx="2460666" cy="369332"/>
          </a:xfrm>
          <a:prstGeom prst="rect">
            <a:avLst/>
          </a:prstGeom>
          <a:noFill/>
        </p:spPr>
        <p:txBody>
          <a:bodyPr wrap="square" rtlCol="0">
            <a:spAutoFit/>
          </a:bodyPr>
          <a:lstStyle/>
          <a:p>
            <a:r>
              <a:rPr lang="de-CH" b="1" dirty="0">
                <a:solidFill>
                  <a:schemeClr val="accent2"/>
                </a:solidFill>
                <a:latin typeface="+mj-lt"/>
              </a:rPr>
              <a:t>Natürliche Personen</a:t>
            </a:r>
          </a:p>
        </p:txBody>
      </p:sp>
      <p:sp>
        <p:nvSpPr>
          <p:cNvPr id="12" name="Textfeld 11">
            <a:extLst>
              <a:ext uri="{FF2B5EF4-FFF2-40B4-BE49-F238E27FC236}">
                <a16:creationId xmlns:a16="http://schemas.microsoft.com/office/drawing/2014/main" id="{EE3BACBE-EEE5-F53B-433D-92F25C9537F3}"/>
              </a:ext>
            </a:extLst>
          </p:cNvPr>
          <p:cNvSpPr txBox="1"/>
          <p:nvPr/>
        </p:nvSpPr>
        <p:spPr>
          <a:xfrm>
            <a:off x="6726663" y="1559435"/>
            <a:ext cx="3188862" cy="369332"/>
          </a:xfrm>
          <a:prstGeom prst="rect">
            <a:avLst/>
          </a:prstGeom>
          <a:noFill/>
        </p:spPr>
        <p:txBody>
          <a:bodyPr wrap="square" rtlCol="0">
            <a:spAutoFit/>
          </a:bodyPr>
          <a:lstStyle/>
          <a:p>
            <a:r>
              <a:rPr lang="de-CH" b="1" dirty="0">
                <a:solidFill>
                  <a:schemeClr val="accent2"/>
                </a:solidFill>
                <a:latin typeface="+mj-lt"/>
              </a:rPr>
              <a:t>Juristische Personen</a:t>
            </a:r>
          </a:p>
        </p:txBody>
      </p:sp>
      <p:grpSp>
        <p:nvGrpSpPr>
          <p:cNvPr id="13" name="Gruppieren 12">
            <a:extLst>
              <a:ext uri="{FF2B5EF4-FFF2-40B4-BE49-F238E27FC236}">
                <a16:creationId xmlns:a16="http://schemas.microsoft.com/office/drawing/2014/main" id="{275DD90D-486A-E894-D6D0-3E9432A8E37A}"/>
              </a:ext>
            </a:extLst>
          </p:cNvPr>
          <p:cNvGrpSpPr/>
          <p:nvPr/>
        </p:nvGrpSpPr>
        <p:grpSpPr>
          <a:xfrm>
            <a:off x="3043704" y="1450428"/>
            <a:ext cx="166221" cy="369332"/>
            <a:chOff x="4138693" y="4004789"/>
            <a:chExt cx="180000" cy="418680"/>
          </a:xfrm>
        </p:grpSpPr>
        <p:sp>
          <p:nvSpPr>
            <p:cNvPr id="15" name="Freeform 540">
              <a:extLst>
                <a:ext uri="{FF2B5EF4-FFF2-40B4-BE49-F238E27FC236}">
                  <a16:creationId xmlns:a16="http://schemas.microsoft.com/office/drawing/2014/main" id="{4A6DF051-A649-0960-2FB3-BE015C7E739D}"/>
                </a:ext>
              </a:extLst>
            </p:cNvPr>
            <p:cNvSpPr/>
            <p:nvPr/>
          </p:nvSpPr>
          <p:spPr>
            <a:xfrm>
              <a:off x="4175053" y="4004789"/>
              <a:ext cx="106920" cy="106920"/>
            </a:xfrm>
            <a:custGeom>
              <a:avLst/>
              <a:gdLst/>
              <a:ahLst/>
              <a:cxnLst>
                <a:cxn ang="3cd4">
                  <a:pos x="hc" y="t"/>
                </a:cxn>
                <a:cxn ang="cd2">
                  <a:pos x="l" y="vc"/>
                </a:cxn>
                <a:cxn ang="cd4">
                  <a:pos x="hc" y="b"/>
                </a:cxn>
                <a:cxn ang="0">
                  <a:pos x="r" y="vc"/>
                </a:cxn>
              </a:cxnLst>
              <a:rect l="l" t="t" r="r" b="b"/>
              <a:pathLst>
                <a:path w="298" h="298">
                  <a:moveTo>
                    <a:pt x="149" y="56"/>
                  </a:moveTo>
                  <a:cubicBezTo>
                    <a:pt x="200" y="56"/>
                    <a:pt x="242" y="97"/>
                    <a:pt x="242" y="149"/>
                  </a:cubicBezTo>
                  <a:cubicBezTo>
                    <a:pt x="242" y="201"/>
                    <a:pt x="200" y="243"/>
                    <a:pt x="149" y="243"/>
                  </a:cubicBezTo>
                  <a:cubicBezTo>
                    <a:pt x="97" y="243"/>
                    <a:pt x="55" y="201"/>
                    <a:pt x="55" y="149"/>
                  </a:cubicBezTo>
                  <a:cubicBezTo>
                    <a:pt x="55" y="97"/>
                    <a:pt x="97" y="56"/>
                    <a:pt x="149" y="56"/>
                  </a:cubicBezTo>
                  <a:close/>
                  <a:moveTo>
                    <a:pt x="149" y="298"/>
                  </a:moveTo>
                  <a:cubicBezTo>
                    <a:pt x="231" y="298"/>
                    <a:pt x="298" y="231"/>
                    <a:pt x="298" y="149"/>
                  </a:cubicBezTo>
                  <a:cubicBezTo>
                    <a:pt x="298" y="67"/>
                    <a:pt x="231" y="0"/>
                    <a:pt x="149" y="0"/>
                  </a:cubicBezTo>
                  <a:cubicBezTo>
                    <a:pt x="67" y="0"/>
                    <a:pt x="0" y="67"/>
                    <a:pt x="0" y="149"/>
                  </a:cubicBezTo>
                  <a:cubicBezTo>
                    <a:pt x="0" y="231"/>
                    <a:pt x="67" y="298"/>
                    <a:pt x="149" y="298"/>
                  </a:cubicBezTo>
                  <a:close/>
                </a:path>
              </a:pathLst>
            </a:custGeom>
            <a:solidFill>
              <a:srgbClr val="000000"/>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9" name="Freeform 541">
              <a:extLst>
                <a:ext uri="{FF2B5EF4-FFF2-40B4-BE49-F238E27FC236}">
                  <a16:creationId xmlns:a16="http://schemas.microsoft.com/office/drawing/2014/main" id="{E8F90CBF-AE5E-B4FC-E723-129A5ADCDDDA}"/>
                </a:ext>
              </a:extLst>
            </p:cNvPr>
            <p:cNvSpPr/>
            <p:nvPr/>
          </p:nvSpPr>
          <p:spPr>
            <a:xfrm>
              <a:off x="4138693" y="4120349"/>
              <a:ext cx="180000" cy="303120"/>
            </a:xfrm>
            <a:custGeom>
              <a:avLst/>
              <a:gdLst/>
              <a:ahLst/>
              <a:cxnLst>
                <a:cxn ang="3cd4">
                  <a:pos x="hc" y="t"/>
                </a:cxn>
                <a:cxn ang="cd2">
                  <a:pos x="l" y="vc"/>
                </a:cxn>
                <a:cxn ang="cd4">
                  <a:pos x="hc" y="b"/>
                </a:cxn>
                <a:cxn ang="0">
                  <a:pos x="r" y="vc"/>
                </a:cxn>
              </a:cxnLst>
              <a:rect l="l" t="t" r="r" b="b"/>
              <a:pathLst>
                <a:path w="501" h="843">
                  <a:moveTo>
                    <a:pt x="391" y="412"/>
                  </a:moveTo>
                  <a:cubicBezTo>
                    <a:pt x="375" y="412"/>
                    <a:pt x="363" y="424"/>
                    <a:pt x="363" y="439"/>
                  </a:cubicBezTo>
                  <a:lnTo>
                    <a:pt x="363" y="788"/>
                  </a:lnTo>
                  <a:lnTo>
                    <a:pt x="134" y="788"/>
                  </a:lnTo>
                  <a:lnTo>
                    <a:pt x="134" y="439"/>
                  </a:lnTo>
                  <a:cubicBezTo>
                    <a:pt x="134" y="424"/>
                    <a:pt x="122" y="412"/>
                    <a:pt x="107" y="412"/>
                  </a:cubicBezTo>
                  <a:lnTo>
                    <a:pt x="55" y="412"/>
                  </a:lnTo>
                  <a:lnTo>
                    <a:pt x="55" y="152"/>
                  </a:lnTo>
                  <a:cubicBezTo>
                    <a:pt x="55" y="134"/>
                    <a:pt x="64" y="117"/>
                    <a:pt x="78" y="107"/>
                  </a:cubicBezTo>
                  <a:cubicBezTo>
                    <a:pt x="126" y="74"/>
                    <a:pt x="187" y="55"/>
                    <a:pt x="250" y="55"/>
                  </a:cubicBezTo>
                  <a:cubicBezTo>
                    <a:pt x="313" y="55"/>
                    <a:pt x="374" y="74"/>
                    <a:pt x="422" y="108"/>
                  </a:cubicBezTo>
                  <a:cubicBezTo>
                    <a:pt x="436" y="118"/>
                    <a:pt x="445" y="134"/>
                    <a:pt x="445" y="152"/>
                  </a:cubicBezTo>
                  <a:cubicBezTo>
                    <a:pt x="445" y="177"/>
                    <a:pt x="445" y="342"/>
                    <a:pt x="445" y="412"/>
                  </a:cubicBezTo>
                  <a:close/>
                  <a:moveTo>
                    <a:pt x="500" y="151"/>
                  </a:moveTo>
                  <a:cubicBezTo>
                    <a:pt x="500" y="116"/>
                    <a:pt x="483" y="83"/>
                    <a:pt x="454" y="63"/>
                  </a:cubicBezTo>
                  <a:cubicBezTo>
                    <a:pt x="397" y="22"/>
                    <a:pt x="324" y="0"/>
                    <a:pt x="250" y="0"/>
                  </a:cubicBezTo>
                  <a:cubicBezTo>
                    <a:pt x="176" y="0"/>
                    <a:pt x="104" y="22"/>
                    <a:pt x="47" y="62"/>
                  </a:cubicBezTo>
                  <a:cubicBezTo>
                    <a:pt x="17" y="82"/>
                    <a:pt x="0" y="116"/>
                    <a:pt x="0" y="152"/>
                  </a:cubicBezTo>
                  <a:lnTo>
                    <a:pt x="0" y="439"/>
                  </a:lnTo>
                  <a:cubicBezTo>
                    <a:pt x="0" y="454"/>
                    <a:pt x="12" y="467"/>
                    <a:pt x="27" y="467"/>
                  </a:cubicBezTo>
                  <a:lnTo>
                    <a:pt x="79" y="467"/>
                  </a:lnTo>
                  <a:lnTo>
                    <a:pt x="79" y="816"/>
                  </a:lnTo>
                  <a:cubicBezTo>
                    <a:pt x="79" y="831"/>
                    <a:pt x="92" y="843"/>
                    <a:pt x="107" y="843"/>
                  </a:cubicBezTo>
                  <a:lnTo>
                    <a:pt x="391" y="843"/>
                  </a:lnTo>
                  <a:cubicBezTo>
                    <a:pt x="406" y="843"/>
                    <a:pt x="418" y="831"/>
                    <a:pt x="418" y="816"/>
                  </a:cubicBezTo>
                  <a:lnTo>
                    <a:pt x="418" y="467"/>
                  </a:lnTo>
                  <a:lnTo>
                    <a:pt x="473" y="467"/>
                  </a:lnTo>
                  <a:cubicBezTo>
                    <a:pt x="488" y="467"/>
                    <a:pt x="501" y="454"/>
                    <a:pt x="501" y="439"/>
                  </a:cubicBezTo>
                  <a:cubicBezTo>
                    <a:pt x="501" y="408"/>
                    <a:pt x="500" y="181"/>
                    <a:pt x="500" y="151"/>
                  </a:cubicBezTo>
                  <a:close/>
                </a:path>
              </a:pathLst>
            </a:custGeom>
            <a:solidFill>
              <a:srgbClr val="000000"/>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pic>
        <p:nvPicPr>
          <p:cNvPr id="21" name="Grafik 20" descr="Ein Bild, das Schwarz, Dunkelheit enthält.&#10;&#10;Automatisch generierte Beschreibung">
            <a:extLst>
              <a:ext uri="{FF2B5EF4-FFF2-40B4-BE49-F238E27FC236}">
                <a16:creationId xmlns:a16="http://schemas.microsoft.com/office/drawing/2014/main" id="{C9E89067-28B6-BACC-40FF-B412ABC6C2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7656" y="1487979"/>
            <a:ext cx="371170" cy="371170"/>
          </a:xfrm>
          <a:prstGeom prst="rect">
            <a:avLst/>
          </a:prstGeom>
        </p:spPr>
      </p:pic>
    </p:spTree>
    <p:extLst>
      <p:ext uri="{BB962C8B-B14F-4D97-AF65-F5344CB8AC3E}">
        <p14:creationId xmlns:p14="http://schemas.microsoft.com/office/powerpoint/2010/main" val="373007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7" y="397460"/>
            <a:ext cx="5510598" cy="461665"/>
          </a:xfrm>
          <a:prstGeom prst="rect">
            <a:avLst/>
          </a:prstGeom>
          <a:noFill/>
        </p:spPr>
        <p:txBody>
          <a:bodyPr wrap="square" rtlCol="0">
            <a:spAutoFit/>
          </a:bodyPr>
          <a:lstStyle/>
          <a:p>
            <a:r>
              <a:rPr lang="de-CH" sz="2400" dirty="0">
                <a:latin typeface="Helvetica LT Pro Black" panose="020B0904030502020204" pitchFamily="34" charset="0"/>
              </a:rPr>
              <a:t>DCF-Berechnung </a:t>
            </a:r>
            <a:r>
              <a:rPr lang="de-CH" sz="1000" dirty="0">
                <a:latin typeface="Helvetica LT Pro Black" panose="020B0904030502020204" pitchFamily="34" charset="0"/>
              </a:rPr>
              <a:t>(dynamisch)</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8" name="Textfeld 7">
            <a:extLst>
              <a:ext uri="{FF2B5EF4-FFF2-40B4-BE49-F238E27FC236}">
                <a16:creationId xmlns:a16="http://schemas.microsoft.com/office/drawing/2014/main" id="{E1429423-DA74-85CE-6EA1-0237AE3508C2}"/>
              </a:ext>
            </a:extLst>
          </p:cNvPr>
          <p:cNvSpPr txBox="1"/>
          <p:nvPr/>
        </p:nvSpPr>
        <p:spPr>
          <a:xfrm>
            <a:off x="514817" y="1145406"/>
            <a:ext cx="6920564" cy="369332"/>
          </a:xfrm>
          <a:prstGeom prst="rect">
            <a:avLst/>
          </a:prstGeom>
          <a:noFill/>
        </p:spPr>
        <p:txBody>
          <a:bodyPr wrap="square" rtlCol="0">
            <a:spAutoFit/>
          </a:bodyPr>
          <a:lstStyle/>
          <a:p>
            <a:r>
              <a:rPr lang="de-DE" dirty="0"/>
              <a:t>Abgezinsten Geldflüsse für Wert von Renditeimmobilien</a:t>
            </a:r>
            <a:endParaRPr lang="de-CH" dirty="0"/>
          </a:p>
        </p:txBody>
      </p:sp>
      <p:pic>
        <p:nvPicPr>
          <p:cNvPr id="11" name="Grafik 10">
            <a:extLst>
              <a:ext uri="{FF2B5EF4-FFF2-40B4-BE49-F238E27FC236}">
                <a16:creationId xmlns:a16="http://schemas.microsoft.com/office/drawing/2014/main" id="{52EC1CF4-BD65-9B64-83B2-294FB913BF93}"/>
              </a:ext>
            </a:extLst>
          </p:cNvPr>
          <p:cNvPicPr>
            <a:picLocks noChangeAspect="1"/>
          </p:cNvPicPr>
          <p:nvPr/>
        </p:nvPicPr>
        <p:blipFill>
          <a:blip r:embed="rId4"/>
          <a:stretch>
            <a:fillRect/>
          </a:stretch>
        </p:blipFill>
        <p:spPr>
          <a:xfrm>
            <a:off x="584142" y="1801019"/>
            <a:ext cx="9926435" cy="3715268"/>
          </a:xfrm>
          <a:prstGeom prst="rect">
            <a:avLst/>
          </a:prstGeom>
        </p:spPr>
      </p:pic>
    </p:spTree>
    <p:extLst>
      <p:ext uri="{BB962C8B-B14F-4D97-AF65-F5344CB8AC3E}">
        <p14:creationId xmlns:p14="http://schemas.microsoft.com/office/powerpoint/2010/main" val="2242901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7" y="397460"/>
            <a:ext cx="4600064" cy="461665"/>
          </a:xfrm>
          <a:prstGeom prst="rect">
            <a:avLst/>
          </a:prstGeom>
          <a:noFill/>
        </p:spPr>
        <p:txBody>
          <a:bodyPr wrap="square" rtlCol="0">
            <a:spAutoFit/>
          </a:bodyPr>
          <a:lstStyle/>
          <a:p>
            <a:r>
              <a:rPr lang="de-CH" sz="2400" dirty="0">
                <a:latin typeface="Helvetica LT Pro Black" panose="020B0904030502020204" pitchFamily="34" charset="0"/>
              </a:rPr>
              <a:t>DCF-Berechnung</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8" name="Textfeld 7">
            <a:extLst>
              <a:ext uri="{FF2B5EF4-FFF2-40B4-BE49-F238E27FC236}">
                <a16:creationId xmlns:a16="http://schemas.microsoft.com/office/drawing/2014/main" id="{E1429423-DA74-85CE-6EA1-0237AE3508C2}"/>
              </a:ext>
            </a:extLst>
          </p:cNvPr>
          <p:cNvSpPr txBox="1"/>
          <p:nvPr/>
        </p:nvSpPr>
        <p:spPr>
          <a:xfrm>
            <a:off x="514817" y="1145406"/>
            <a:ext cx="6920564" cy="369332"/>
          </a:xfrm>
          <a:prstGeom prst="rect">
            <a:avLst/>
          </a:prstGeom>
          <a:noFill/>
        </p:spPr>
        <p:txBody>
          <a:bodyPr wrap="square" rtlCol="0">
            <a:spAutoFit/>
          </a:bodyPr>
          <a:lstStyle/>
          <a:p>
            <a:r>
              <a:rPr lang="de-DE" dirty="0"/>
              <a:t>Berechnung des Kapitalisierungs- oder Diskontierungszinssatz </a:t>
            </a:r>
            <a:endParaRPr lang="de-CH" dirty="0"/>
          </a:p>
        </p:txBody>
      </p:sp>
      <p:sp>
        <p:nvSpPr>
          <p:cNvPr id="2" name="Textfeld 1">
            <a:extLst>
              <a:ext uri="{FF2B5EF4-FFF2-40B4-BE49-F238E27FC236}">
                <a16:creationId xmlns:a16="http://schemas.microsoft.com/office/drawing/2014/main" id="{7E10228A-F0AD-B592-CEA7-332A8EAFBAF3}"/>
              </a:ext>
            </a:extLst>
          </p:cNvPr>
          <p:cNvSpPr txBox="1"/>
          <p:nvPr/>
        </p:nvSpPr>
        <p:spPr>
          <a:xfrm>
            <a:off x="514817" y="2078987"/>
            <a:ext cx="3007185" cy="369332"/>
          </a:xfrm>
          <a:prstGeom prst="rect">
            <a:avLst/>
          </a:prstGeom>
          <a:noFill/>
        </p:spPr>
        <p:txBody>
          <a:bodyPr wrap="square" rtlCol="0">
            <a:spAutoFit/>
          </a:bodyPr>
          <a:lstStyle/>
          <a:p>
            <a:r>
              <a:rPr lang="de-DE" b="1" dirty="0">
                <a:solidFill>
                  <a:schemeClr val="accent2"/>
                </a:solidFill>
                <a:latin typeface="+mj-lt"/>
              </a:rPr>
              <a:t>A</a:t>
            </a:r>
            <a:r>
              <a:rPr lang="de-CH" b="1" dirty="0" err="1">
                <a:solidFill>
                  <a:schemeClr val="accent2"/>
                </a:solidFill>
                <a:latin typeface="+mj-lt"/>
              </a:rPr>
              <a:t>nalytische</a:t>
            </a:r>
            <a:r>
              <a:rPr lang="de-CH" b="1" dirty="0">
                <a:solidFill>
                  <a:schemeClr val="accent2"/>
                </a:solidFill>
                <a:latin typeface="+mj-lt"/>
              </a:rPr>
              <a:t> Verfahren </a:t>
            </a:r>
          </a:p>
        </p:txBody>
      </p:sp>
      <p:sp>
        <p:nvSpPr>
          <p:cNvPr id="3" name="Textfeld 2">
            <a:extLst>
              <a:ext uri="{FF2B5EF4-FFF2-40B4-BE49-F238E27FC236}">
                <a16:creationId xmlns:a16="http://schemas.microsoft.com/office/drawing/2014/main" id="{6FCA69AB-1F8E-FE5B-7CDE-688B96CE8765}"/>
              </a:ext>
            </a:extLst>
          </p:cNvPr>
          <p:cNvSpPr txBox="1"/>
          <p:nvPr/>
        </p:nvSpPr>
        <p:spPr>
          <a:xfrm>
            <a:off x="6177013" y="2010735"/>
            <a:ext cx="3007185" cy="369332"/>
          </a:xfrm>
          <a:prstGeom prst="rect">
            <a:avLst/>
          </a:prstGeom>
          <a:noFill/>
        </p:spPr>
        <p:txBody>
          <a:bodyPr wrap="square" rtlCol="0">
            <a:spAutoFit/>
          </a:bodyPr>
          <a:lstStyle/>
          <a:p>
            <a:r>
              <a:rPr lang="de-DE" b="1" dirty="0">
                <a:solidFill>
                  <a:schemeClr val="accent2"/>
                </a:solidFill>
                <a:latin typeface="+mj-lt"/>
              </a:rPr>
              <a:t>Synthetische Verfahren</a:t>
            </a:r>
            <a:endParaRPr lang="de-CH" b="1" dirty="0">
              <a:solidFill>
                <a:schemeClr val="accent2"/>
              </a:solidFill>
              <a:latin typeface="+mj-lt"/>
            </a:endParaRPr>
          </a:p>
        </p:txBody>
      </p:sp>
      <p:sp>
        <p:nvSpPr>
          <p:cNvPr id="4" name="Textfeld 3">
            <a:extLst>
              <a:ext uri="{FF2B5EF4-FFF2-40B4-BE49-F238E27FC236}">
                <a16:creationId xmlns:a16="http://schemas.microsoft.com/office/drawing/2014/main" id="{C7215A15-B9AB-A3C1-6E33-96B3584BA383}"/>
              </a:ext>
            </a:extLst>
          </p:cNvPr>
          <p:cNvSpPr txBox="1"/>
          <p:nvPr/>
        </p:nvSpPr>
        <p:spPr>
          <a:xfrm>
            <a:off x="514816" y="2660620"/>
            <a:ext cx="4374817" cy="1815882"/>
          </a:xfrm>
          <a:prstGeom prst="rect">
            <a:avLst/>
          </a:prstGeom>
          <a:noFill/>
        </p:spPr>
        <p:txBody>
          <a:bodyPr wrap="square" rtlCol="0">
            <a:spAutoFit/>
          </a:bodyPr>
          <a:lstStyle/>
          <a:p>
            <a:r>
              <a:rPr lang="de-CH" sz="1400" dirty="0"/>
              <a:t>Im analytischen Verfahren werden über Auswertungen Werte vergleichbarer Immobilien hinzugezogen. In den International </a:t>
            </a:r>
            <a:r>
              <a:rPr lang="de-CH" sz="1400" dirty="0" err="1"/>
              <a:t>Valuation</a:t>
            </a:r>
            <a:r>
              <a:rPr lang="de-CH" sz="1400" dirty="0"/>
              <a:t> Standards (IVS) wird das analytische Verfahren favorisiert. Wenn geeignete Daten vorliegen, muss es angewandt werden. Allerdings sind derartige Daten nur selten verfügbar und es ist schwierig, Diskontierungssätze aus diesen Daten abzuleiten.</a:t>
            </a:r>
          </a:p>
        </p:txBody>
      </p:sp>
      <p:sp>
        <p:nvSpPr>
          <p:cNvPr id="10" name="Textfeld 9">
            <a:extLst>
              <a:ext uri="{FF2B5EF4-FFF2-40B4-BE49-F238E27FC236}">
                <a16:creationId xmlns:a16="http://schemas.microsoft.com/office/drawing/2014/main" id="{3AC78D43-333D-5FA4-14CF-C110F8C9208D}"/>
              </a:ext>
            </a:extLst>
          </p:cNvPr>
          <p:cNvSpPr txBox="1"/>
          <p:nvPr/>
        </p:nvSpPr>
        <p:spPr>
          <a:xfrm>
            <a:off x="6177013" y="2660620"/>
            <a:ext cx="5305926" cy="2462213"/>
          </a:xfrm>
          <a:prstGeom prst="rect">
            <a:avLst/>
          </a:prstGeom>
          <a:noFill/>
        </p:spPr>
        <p:txBody>
          <a:bodyPr wrap="square">
            <a:spAutoFit/>
          </a:bodyPr>
          <a:lstStyle/>
          <a:p>
            <a:r>
              <a:rPr lang="de-CH" sz="1400" dirty="0"/>
              <a:t>Im synthetischen Verfahren geht man von einem Basiszinssatz aus, dem Zinssatz einer risikoarmen Alternativanlage, meistens dem Zinssatz für Bundesobligationen mit 10 Jahren Laufzeit. Durch Aufrechnen von markt- und objekttypischen Zuschlägen wird der Zinssatz festgelegt, indem alle relevanten, wertbestimmenden Komponenten eruiert werden. Bei der Bemessung der einzelnen Komponenten sind die Überlegungen, die zur Festsetzung der Teilsätze führen, offenzulegen. Die Komponenten des synthetischen Diskontierungs- und Kapitalisierungssatzes lassen sich i.d.R. nicht eindeutig quantifizieren.</a:t>
            </a:r>
          </a:p>
        </p:txBody>
      </p:sp>
    </p:spTree>
    <p:extLst>
      <p:ext uri="{BB962C8B-B14F-4D97-AF65-F5344CB8AC3E}">
        <p14:creationId xmlns:p14="http://schemas.microsoft.com/office/powerpoint/2010/main" val="323367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7" y="397460"/>
            <a:ext cx="4600064" cy="461665"/>
          </a:xfrm>
          <a:prstGeom prst="rect">
            <a:avLst/>
          </a:prstGeom>
          <a:noFill/>
        </p:spPr>
        <p:txBody>
          <a:bodyPr wrap="square" rtlCol="0">
            <a:spAutoFit/>
          </a:bodyPr>
          <a:lstStyle/>
          <a:p>
            <a:r>
              <a:rPr lang="de-CH" sz="2400" dirty="0">
                <a:latin typeface="Helvetica LT Pro Black" panose="020B0904030502020204" pitchFamily="34" charset="0"/>
              </a:rPr>
              <a:t>DCF-Berechnung</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8" name="Textfeld 7">
            <a:extLst>
              <a:ext uri="{FF2B5EF4-FFF2-40B4-BE49-F238E27FC236}">
                <a16:creationId xmlns:a16="http://schemas.microsoft.com/office/drawing/2014/main" id="{E1429423-DA74-85CE-6EA1-0237AE3508C2}"/>
              </a:ext>
            </a:extLst>
          </p:cNvPr>
          <p:cNvSpPr txBox="1"/>
          <p:nvPr/>
        </p:nvSpPr>
        <p:spPr>
          <a:xfrm>
            <a:off x="514817" y="1145406"/>
            <a:ext cx="6920564" cy="369332"/>
          </a:xfrm>
          <a:prstGeom prst="rect">
            <a:avLst/>
          </a:prstGeom>
          <a:noFill/>
        </p:spPr>
        <p:txBody>
          <a:bodyPr wrap="square" rtlCol="0">
            <a:spAutoFit/>
          </a:bodyPr>
          <a:lstStyle/>
          <a:p>
            <a:r>
              <a:rPr lang="de-DE" dirty="0"/>
              <a:t>Berechnung des Kapitalisierungs- oder Diskontierungszinssatz </a:t>
            </a:r>
            <a:endParaRPr lang="de-CH" dirty="0"/>
          </a:p>
        </p:txBody>
      </p:sp>
      <p:sp>
        <p:nvSpPr>
          <p:cNvPr id="9" name="Textfeld 8">
            <a:extLst>
              <a:ext uri="{FF2B5EF4-FFF2-40B4-BE49-F238E27FC236}">
                <a16:creationId xmlns:a16="http://schemas.microsoft.com/office/drawing/2014/main" id="{14A2B510-DDDD-ED9E-8D8C-296BF8019712}"/>
              </a:ext>
            </a:extLst>
          </p:cNvPr>
          <p:cNvSpPr txBox="1"/>
          <p:nvPr/>
        </p:nvSpPr>
        <p:spPr>
          <a:xfrm>
            <a:off x="1311256" y="3848361"/>
            <a:ext cx="3007185" cy="369332"/>
          </a:xfrm>
          <a:prstGeom prst="rect">
            <a:avLst/>
          </a:prstGeom>
          <a:noFill/>
        </p:spPr>
        <p:txBody>
          <a:bodyPr wrap="square" rtlCol="0">
            <a:spAutoFit/>
          </a:bodyPr>
          <a:lstStyle/>
          <a:p>
            <a:pPr algn="ctr"/>
            <a:r>
              <a:rPr lang="de-DE" b="1" dirty="0">
                <a:solidFill>
                  <a:schemeClr val="accent2"/>
                </a:solidFill>
                <a:latin typeface="+mj-lt"/>
              </a:rPr>
              <a:t>Marktspezifische Basis</a:t>
            </a:r>
            <a:endParaRPr lang="de-CH" b="1" dirty="0">
              <a:solidFill>
                <a:schemeClr val="accent2"/>
              </a:solidFill>
              <a:latin typeface="+mj-lt"/>
            </a:endParaRPr>
          </a:p>
        </p:txBody>
      </p:sp>
      <p:sp>
        <p:nvSpPr>
          <p:cNvPr id="11" name="Textfeld 10">
            <a:extLst>
              <a:ext uri="{FF2B5EF4-FFF2-40B4-BE49-F238E27FC236}">
                <a16:creationId xmlns:a16="http://schemas.microsoft.com/office/drawing/2014/main" id="{52059497-10C3-AC3A-5659-B9ED44D8B663}"/>
              </a:ext>
            </a:extLst>
          </p:cNvPr>
          <p:cNvSpPr txBox="1"/>
          <p:nvPr/>
        </p:nvSpPr>
        <p:spPr>
          <a:xfrm>
            <a:off x="7000635" y="3805921"/>
            <a:ext cx="4587254" cy="369332"/>
          </a:xfrm>
          <a:prstGeom prst="rect">
            <a:avLst/>
          </a:prstGeom>
          <a:noFill/>
        </p:spPr>
        <p:txBody>
          <a:bodyPr wrap="square" rtlCol="0">
            <a:spAutoFit/>
          </a:bodyPr>
          <a:lstStyle/>
          <a:p>
            <a:pPr algn="ctr"/>
            <a:r>
              <a:rPr lang="de-DE" b="1" dirty="0">
                <a:solidFill>
                  <a:schemeClr val="accent2"/>
                </a:solidFill>
                <a:latin typeface="+mj-lt"/>
              </a:rPr>
              <a:t>Objektspezifische Chancen &amp; Risiken</a:t>
            </a:r>
            <a:endParaRPr lang="de-CH" b="1" dirty="0">
              <a:solidFill>
                <a:schemeClr val="accent2"/>
              </a:solidFill>
              <a:latin typeface="+mj-lt"/>
            </a:endParaRPr>
          </a:p>
        </p:txBody>
      </p:sp>
      <p:sp>
        <p:nvSpPr>
          <p:cNvPr id="12" name="Rechteck 11">
            <a:extLst>
              <a:ext uri="{FF2B5EF4-FFF2-40B4-BE49-F238E27FC236}">
                <a16:creationId xmlns:a16="http://schemas.microsoft.com/office/drawing/2014/main" id="{3F83E0A8-2A9D-40B6-BC32-C4B9C2965F1E}"/>
              </a:ext>
            </a:extLst>
          </p:cNvPr>
          <p:cNvSpPr/>
          <p:nvPr/>
        </p:nvSpPr>
        <p:spPr>
          <a:xfrm>
            <a:off x="279132" y="2485069"/>
            <a:ext cx="1549667" cy="103952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3" name="Rechteck 12">
            <a:extLst>
              <a:ext uri="{FF2B5EF4-FFF2-40B4-BE49-F238E27FC236}">
                <a16:creationId xmlns:a16="http://schemas.microsoft.com/office/drawing/2014/main" id="{087EE051-9318-AD8E-FA98-0E1D2C264470}"/>
              </a:ext>
            </a:extLst>
          </p:cNvPr>
          <p:cNvSpPr/>
          <p:nvPr/>
        </p:nvSpPr>
        <p:spPr>
          <a:xfrm>
            <a:off x="2040014" y="2481027"/>
            <a:ext cx="1549667" cy="103952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4" name="Rechteck 13">
            <a:extLst>
              <a:ext uri="{FF2B5EF4-FFF2-40B4-BE49-F238E27FC236}">
                <a16:creationId xmlns:a16="http://schemas.microsoft.com/office/drawing/2014/main" id="{5E21BA24-234F-CB06-B225-01416E3B2A5C}"/>
              </a:ext>
            </a:extLst>
          </p:cNvPr>
          <p:cNvSpPr/>
          <p:nvPr/>
        </p:nvSpPr>
        <p:spPr>
          <a:xfrm>
            <a:off x="3800896" y="2481027"/>
            <a:ext cx="1549667" cy="103952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5" name="Rechteck 14">
            <a:extLst>
              <a:ext uri="{FF2B5EF4-FFF2-40B4-BE49-F238E27FC236}">
                <a16:creationId xmlns:a16="http://schemas.microsoft.com/office/drawing/2014/main" id="{7D2789BA-C5C7-073E-857F-120F3807FC9D}"/>
              </a:ext>
            </a:extLst>
          </p:cNvPr>
          <p:cNvSpPr/>
          <p:nvPr/>
        </p:nvSpPr>
        <p:spPr>
          <a:xfrm>
            <a:off x="6776051" y="2483454"/>
            <a:ext cx="1549667" cy="103952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 name="Rechteck 15">
            <a:extLst>
              <a:ext uri="{FF2B5EF4-FFF2-40B4-BE49-F238E27FC236}">
                <a16:creationId xmlns:a16="http://schemas.microsoft.com/office/drawing/2014/main" id="{CD1C89ED-D1EA-A77B-C725-477B40B52930}"/>
              </a:ext>
            </a:extLst>
          </p:cNvPr>
          <p:cNvSpPr/>
          <p:nvPr/>
        </p:nvSpPr>
        <p:spPr>
          <a:xfrm>
            <a:off x="8480932" y="2481027"/>
            <a:ext cx="1549667" cy="103952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7" name="Rechteck 16">
            <a:extLst>
              <a:ext uri="{FF2B5EF4-FFF2-40B4-BE49-F238E27FC236}">
                <a16:creationId xmlns:a16="http://schemas.microsoft.com/office/drawing/2014/main" id="{B34ADFFB-2F1C-11C9-71CE-F933A1084CCC}"/>
              </a:ext>
            </a:extLst>
          </p:cNvPr>
          <p:cNvSpPr/>
          <p:nvPr/>
        </p:nvSpPr>
        <p:spPr>
          <a:xfrm>
            <a:off x="10196251" y="2481027"/>
            <a:ext cx="1549667" cy="103952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8" name="Textfeld 17">
            <a:extLst>
              <a:ext uri="{FF2B5EF4-FFF2-40B4-BE49-F238E27FC236}">
                <a16:creationId xmlns:a16="http://schemas.microsoft.com/office/drawing/2014/main" id="{182E1F33-5689-905C-99FE-BB1A0900D17E}"/>
              </a:ext>
            </a:extLst>
          </p:cNvPr>
          <p:cNvSpPr txBox="1"/>
          <p:nvPr/>
        </p:nvSpPr>
        <p:spPr>
          <a:xfrm>
            <a:off x="205637" y="2677623"/>
            <a:ext cx="1704238" cy="646331"/>
          </a:xfrm>
          <a:prstGeom prst="rect">
            <a:avLst/>
          </a:prstGeom>
          <a:noFill/>
        </p:spPr>
        <p:txBody>
          <a:bodyPr wrap="square" rtlCol="0">
            <a:spAutoFit/>
          </a:bodyPr>
          <a:lstStyle/>
          <a:p>
            <a:pPr algn="ctr"/>
            <a:r>
              <a:rPr lang="de-DE" sz="1200" dirty="0"/>
              <a:t>Risikoarmer Basiszinssatz</a:t>
            </a:r>
          </a:p>
          <a:p>
            <a:pPr algn="ctr"/>
            <a:r>
              <a:rPr lang="de-DE" sz="1200" dirty="0"/>
              <a:t>(Bundesobligationen)</a:t>
            </a:r>
            <a:endParaRPr lang="de-CH" sz="1200" dirty="0"/>
          </a:p>
        </p:txBody>
      </p:sp>
      <p:sp>
        <p:nvSpPr>
          <p:cNvPr id="19" name="Textfeld 18">
            <a:extLst>
              <a:ext uri="{FF2B5EF4-FFF2-40B4-BE49-F238E27FC236}">
                <a16:creationId xmlns:a16="http://schemas.microsoft.com/office/drawing/2014/main" id="{98753712-C777-1943-181D-F9DE8709C8AD}"/>
              </a:ext>
            </a:extLst>
          </p:cNvPr>
          <p:cNvSpPr txBox="1"/>
          <p:nvPr/>
        </p:nvSpPr>
        <p:spPr>
          <a:xfrm>
            <a:off x="2220419" y="2677625"/>
            <a:ext cx="1188856" cy="646331"/>
          </a:xfrm>
          <a:prstGeom prst="rect">
            <a:avLst/>
          </a:prstGeom>
          <a:noFill/>
        </p:spPr>
        <p:txBody>
          <a:bodyPr wrap="square" rtlCol="0">
            <a:spAutoFit/>
          </a:bodyPr>
          <a:lstStyle/>
          <a:p>
            <a:pPr algn="ctr"/>
            <a:r>
              <a:rPr lang="de-DE" sz="1200" dirty="0"/>
              <a:t>Attraktivität &amp; Risiko des Anlagemarkts</a:t>
            </a:r>
            <a:endParaRPr lang="de-CH" sz="1200" dirty="0"/>
          </a:p>
        </p:txBody>
      </p:sp>
      <p:sp>
        <p:nvSpPr>
          <p:cNvPr id="20" name="Textfeld 19">
            <a:extLst>
              <a:ext uri="{FF2B5EF4-FFF2-40B4-BE49-F238E27FC236}">
                <a16:creationId xmlns:a16="http://schemas.microsoft.com/office/drawing/2014/main" id="{DB049B4B-2214-AD25-057F-BCC27F86E8FD}"/>
              </a:ext>
            </a:extLst>
          </p:cNvPr>
          <p:cNvSpPr txBox="1"/>
          <p:nvPr/>
        </p:nvSpPr>
        <p:spPr>
          <a:xfrm>
            <a:off x="3870993" y="2690814"/>
            <a:ext cx="1409471" cy="646331"/>
          </a:xfrm>
          <a:prstGeom prst="rect">
            <a:avLst/>
          </a:prstGeom>
          <a:noFill/>
        </p:spPr>
        <p:txBody>
          <a:bodyPr wrap="square" rtlCol="0">
            <a:spAutoFit/>
          </a:bodyPr>
          <a:lstStyle/>
          <a:p>
            <a:pPr algn="ctr"/>
            <a:r>
              <a:rPr lang="de-DE" sz="1200" dirty="0"/>
              <a:t>Angebot / Nachfrage Immobilienmarkt</a:t>
            </a:r>
            <a:endParaRPr lang="de-CH" sz="1200" dirty="0"/>
          </a:p>
        </p:txBody>
      </p:sp>
      <p:sp>
        <p:nvSpPr>
          <p:cNvPr id="21" name="Textfeld 20">
            <a:extLst>
              <a:ext uri="{FF2B5EF4-FFF2-40B4-BE49-F238E27FC236}">
                <a16:creationId xmlns:a16="http://schemas.microsoft.com/office/drawing/2014/main" id="{6D7DC60F-C169-A705-16E2-ADC8C75C86F3}"/>
              </a:ext>
            </a:extLst>
          </p:cNvPr>
          <p:cNvSpPr txBox="1"/>
          <p:nvPr/>
        </p:nvSpPr>
        <p:spPr>
          <a:xfrm>
            <a:off x="6846148" y="2677624"/>
            <a:ext cx="1409471" cy="646331"/>
          </a:xfrm>
          <a:prstGeom prst="rect">
            <a:avLst/>
          </a:prstGeom>
          <a:noFill/>
        </p:spPr>
        <p:txBody>
          <a:bodyPr wrap="square" rtlCol="0">
            <a:spAutoFit/>
          </a:bodyPr>
          <a:lstStyle/>
          <a:p>
            <a:pPr algn="ctr"/>
            <a:r>
              <a:rPr lang="de-DE" sz="1200" dirty="0"/>
              <a:t>Lagespezifische Chancen / Risiken</a:t>
            </a:r>
            <a:endParaRPr lang="de-CH" sz="1200" dirty="0"/>
          </a:p>
        </p:txBody>
      </p:sp>
      <p:sp>
        <p:nvSpPr>
          <p:cNvPr id="22" name="Textfeld 21">
            <a:extLst>
              <a:ext uri="{FF2B5EF4-FFF2-40B4-BE49-F238E27FC236}">
                <a16:creationId xmlns:a16="http://schemas.microsoft.com/office/drawing/2014/main" id="{C45A76A7-89C6-F53A-4F02-E12A0C5E3D2B}"/>
              </a:ext>
            </a:extLst>
          </p:cNvPr>
          <p:cNvSpPr txBox="1"/>
          <p:nvPr/>
        </p:nvSpPr>
        <p:spPr>
          <a:xfrm>
            <a:off x="8556249" y="2703021"/>
            <a:ext cx="1409471" cy="646331"/>
          </a:xfrm>
          <a:prstGeom prst="rect">
            <a:avLst/>
          </a:prstGeom>
          <a:noFill/>
        </p:spPr>
        <p:txBody>
          <a:bodyPr wrap="square" rtlCol="0">
            <a:spAutoFit/>
          </a:bodyPr>
          <a:lstStyle/>
          <a:p>
            <a:pPr algn="ctr"/>
            <a:r>
              <a:rPr lang="de-DE" sz="1200" dirty="0"/>
              <a:t>Objektspezifische Chancen / Risiken</a:t>
            </a:r>
            <a:endParaRPr lang="de-CH" sz="1200" dirty="0"/>
          </a:p>
        </p:txBody>
      </p:sp>
      <p:sp>
        <p:nvSpPr>
          <p:cNvPr id="23" name="Textfeld 22">
            <a:extLst>
              <a:ext uri="{FF2B5EF4-FFF2-40B4-BE49-F238E27FC236}">
                <a16:creationId xmlns:a16="http://schemas.microsoft.com/office/drawing/2014/main" id="{F49554FF-DEA6-1E1E-9D44-308DEBF4AB70}"/>
              </a:ext>
            </a:extLst>
          </p:cNvPr>
          <p:cNvSpPr txBox="1"/>
          <p:nvPr/>
        </p:nvSpPr>
        <p:spPr>
          <a:xfrm>
            <a:off x="10411264" y="2783148"/>
            <a:ext cx="1119639" cy="461665"/>
          </a:xfrm>
          <a:prstGeom prst="rect">
            <a:avLst/>
          </a:prstGeom>
          <a:noFill/>
        </p:spPr>
        <p:txBody>
          <a:bodyPr wrap="square" rtlCol="0">
            <a:spAutoFit/>
          </a:bodyPr>
          <a:lstStyle/>
          <a:p>
            <a:pPr algn="ctr"/>
            <a:r>
              <a:rPr lang="de-DE" sz="1200" dirty="0"/>
              <a:t>Immobilitäts-zuschlag</a:t>
            </a:r>
            <a:endParaRPr lang="de-CH" sz="1200" dirty="0"/>
          </a:p>
        </p:txBody>
      </p:sp>
      <p:sp>
        <p:nvSpPr>
          <p:cNvPr id="24" name="Textfeld 23">
            <a:extLst>
              <a:ext uri="{FF2B5EF4-FFF2-40B4-BE49-F238E27FC236}">
                <a16:creationId xmlns:a16="http://schemas.microsoft.com/office/drawing/2014/main" id="{CFA2FA9B-64A9-4EE6-3E9D-48C74380D772}"/>
              </a:ext>
            </a:extLst>
          </p:cNvPr>
          <p:cNvSpPr txBox="1"/>
          <p:nvPr/>
        </p:nvSpPr>
        <p:spPr>
          <a:xfrm>
            <a:off x="707483" y="5146499"/>
            <a:ext cx="5568190" cy="307777"/>
          </a:xfrm>
          <a:prstGeom prst="rect">
            <a:avLst/>
          </a:prstGeom>
          <a:noFill/>
        </p:spPr>
        <p:txBody>
          <a:bodyPr wrap="square" rtlCol="0">
            <a:spAutoFit/>
          </a:bodyPr>
          <a:lstStyle/>
          <a:p>
            <a:r>
              <a:rPr lang="de-DE" sz="1400" dirty="0"/>
              <a:t>Durchschnittliche Zinssätze bei IAZI / Wüest Partner ersichtlich</a:t>
            </a:r>
            <a:endParaRPr lang="de-CH" sz="1400" dirty="0"/>
          </a:p>
        </p:txBody>
      </p:sp>
    </p:spTree>
    <p:extLst>
      <p:ext uri="{BB962C8B-B14F-4D97-AF65-F5344CB8AC3E}">
        <p14:creationId xmlns:p14="http://schemas.microsoft.com/office/powerpoint/2010/main" val="112252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5780105" cy="461665"/>
          </a:xfrm>
          <a:prstGeom prst="rect">
            <a:avLst/>
          </a:prstGeom>
          <a:noFill/>
        </p:spPr>
        <p:txBody>
          <a:bodyPr wrap="square" rtlCol="0">
            <a:spAutoFit/>
          </a:bodyPr>
          <a:lstStyle/>
          <a:p>
            <a:r>
              <a:rPr lang="de-CH" sz="2400" dirty="0">
                <a:latin typeface="Helvetica LT Pro Black" panose="020B0904030502020204" pitchFamily="34" charset="0"/>
              </a:rPr>
              <a:t>Ertragswert Methode </a:t>
            </a:r>
            <a:r>
              <a:rPr lang="de-CH" sz="1000" dirty="0">
                <a:latin typeface="Helvetica LT Pro Black" panose="020B0904030502020204" pitchFamily="34" charset="0"/>
              </a:rPr>
              <a:t>(statisch)</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Rechteck 1">
            <a:extLst>
              <a:ext uri="{FF2B5EF4-FFF2-40B4-BE49-F238E27FC236}">
                <a16:creationId xmlns:a16="http://schemas.microsoft.com/office/drawing/2014/main" id="{A2624BB6-7AB1-9EF9-94F2-B695D68CD0EE}"/>
              </a:ext>
            </a:extLst>
          </p:cNvPr>
          <p:cNvSpPr/>
          <p:nvPr/>
        </p:nvSpPr>
        <p:spPr>
          <a:xfrm>
            <a:off x="514817" y="1129777"/>
            <a:ext cx="6697038" cy="18931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3" name="Rechteck 2">
            <a:extLst>
              <a:ext uri="{FF2B5EF4-FFF2-40B4-BE49-F238E27FC236}">
                <a16:creationId xmlns:a16="http://schemas.microsoft.com/office/drawing/2014/main" id="{CB0AF360-72D3-C025-8C64-3982424C8C4F}"/>
              </a:ext>
            </a:extLst>
          </p:cNvPr>
          <p:cNvSpPr/>
          <p:nvPr/>
        </p:nvSpPr>
        <p:spPr>
          <a:xfrm>
            <a:off x="514817" y="3239539"/>
            <a:ext cx="6697038" cy="10163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4" name="Rechteck 3">
            <a:extLst>
              <a:ext uri="{FF2B5EF4-FFF2-40B4-BE49-F238E27FC236}">
                <a16:creationId xmlns:a16="http://schemas.microsoft.com/office/drawing/2014/main" id="{BBE15DB6-3852-AE35-3A35-B80366A821FB}"/>
              </a:ext>
            </a:extLst>
          </p:cNvPr>
          <p:cNvSpPr/>
          <p:nvPr/>
        </p:nvSpPr>
        <p:spPr>
          <a:xfrm>
            <a:off x="549920" y="5013897"/>
            <a:ext cx="6661935" cy="7687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 name="Textfeld 9">
            <a:extLst>
              <a:ext uri="{FF2B5EF4-FFF2-40B4-BE49-F238E27FC236}">
                <a16:creationId xmlns:a16="http://schemas.microsoft.com/office/drawing/2014/main" id="{3A14190C-C785-6E9A-FD01-1F1F12FC1487}"/>
              </a:ext>
            </a:extLst>
          </p:cNvPr>
          <p:cNvSpPr txBox="1"/>
          <p:nvPr/>
        </p:nvSpPr>
        <p:spPr>
          <a:xfrm>
            <a:off x="903522" y="1805807"/>
            <a:ext cx="2743200" cy="307777"/>
          </a:xfrm>
          <a:prstGeom prst="rect">
            <a:avLst/>
          </a:prstGeom>
          <a:noFill/>
        </p:spPr>
        <p:txBody>
          <a:bodyPr wrap="square" rtlCol="0">
            <a:spAutoFit/>
          </a:bodyPr>
          <a:lstStyle/>
          <a:p>
            <a:r>
              <a:rPr lang="de-CH" sz="1400" dirty="0"/>
              <a:t>Jährlicher Nettomietzins x 100% </a:t>
            </a:r>
          </a:p>
        </p:txBody>
      </p:sp>
      <p:sp>
        <p:nvSpPr>
          <p:cNvPr id="24" name="Textfeld 23">
            <a:extLst>
              <a:ext uri="{FF2B5EF4-FFF2-40B4-BE49-F238E27FC236}">
                <a16:creationId xmlns:a16="http://schemas.microsoft.com/office/drawing/2014/main" id="{64B94713-B123-4C37-A965-5D8460185E84}"/>
              </a:ext>
            </a:extLst>
          </p:cNvPr>
          <p:cNvSpPr txBox="1"/>
          <p:nvPr/>
        </p:nvSpPr>
        <p:spPr>
          <a:xfrm>
            <a:off x="766534" y="2252289"/>
            <a:ext cx="2985787" cy="307777"/>
          </a:xfrm>
          <a:prstGeom prst="rect">
            <a:avLst/>
          </a:prstGeom>
          <a:noFill/>
        </p:spPr>
        <p:txBody>
          <a:bodyPr wrap="square" rtlCol="0">
            <a:spAutoFit/>
          </a:bodyPr>
          <a:lstStyle/>
          <a:p>
            <a:pPr algn="ctr"/>
            <a:r>
              <a:rPr lang="de-CH" sz="1400" dirty="0"/>
              <a:t>Kapitalisierungssatz</a:t>
            </a:r>
          </a:p>
        </p:txBody>
      </p:sp>
      <p:cxnSp>
        <p:nvCxnSpPr>
          <p:cNvPr id="25" name="Gerader Verbinder 24">
            <a:extLst>
              <a:ext uri="{FF2B5EF4-FFF2-40B4-BE49-F238E27FC236}">
                <a16:creationId xmlns:a16="http://schemas.microsoft.com/office/drawing/2014/main" id="{EF0BAEDA-904C-BA7B-164B-DAFF3CB9AC66}"/>
              </a:ext>
            </a:extLst>
          </p:cNvPr>
          <p:cNvCxnSpPr>
            <a:cxnSpLocks/>
          </p:cNvCxnSpPr>
          <p:nvPr/>
        </p:nvCxnSpPr>
        <p:spPr>
          <a:xfrm>
            <a:off x="960887" y="2168837"/>
            <a:ext cx="2517028"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3BC0AB4E-B537-39FE-355B-413FB54EB25D}"/>
              </a:ext>
            </a:extLst>
          </p:cNvPr>
          <p:cNvSpPr txBox="1"/>
          <p:nvPr/>
        </p:nvSpPr>
        <p:spPr>
          <a:xfrm>
            <a:off x="903522" y="1296976"/>
            <a:ext cx="1859623" cy="369332"/>
          </a:xfrm>
          <a:prstGeom prst="rect">
            <a:avLst/>
          </a:prstGeom>
          <a:noFill/>
        </p:spPr>
        <p:txBody>
          <a:bodyPr wrap="square" rtlCol="0">
            <a:spAutoFit/>
          </a:bodyPr>
          <a:lstStyle/>
          <a:p>
            <a:r>
              <a:rPr lang="de-CH" b="1" dirty="0">
                <a:latin typeface="Helvetica LT Pro Black" panose="020B0904030502020204" pitchFamily="34" charset="0"/>
              </a:rPr>
              <a:t>Ertragswert</a:t>
            </a:r>
          </a:p>
        </p:txBody>
      </p:sp>
      <p:sp>
        <p:nvSpPr>
          <p:cNvPr id="27" name="Textfeld 26">
            <a:extLst>
              <a:ext uri="{FF2B5EF4-FFF2-40B4-BE49-F238E27FC236}">
                <a16:creationId xmlns:a16="http://schemas.microsoft.com/office/drawing/2014/main" id="{B8E28993-20EC-8B07-FBC0-EB3F16156666}"/>
              </a:ext>
            </a:extLst>
          </p:cNvPr>
          <p:cNvSpPr txBox="1"/>
          <p:nvPr/>
        </p:nvSpPr>
        <p:spPr>
          <a:xfrm>
            <a:off x="7291195" y="1666308"/>
            <a:ext cx="1041684" cy="707886"/>
          </a:xfrm>
          <a:prstGeom prst="rect">
            <a:avLst/>
          </a:prstGeom>
          <a:noFill/>
        </p:spPr>
        <p:txBody>
          <a:bodyPr wrap="square" rtlCol="0">
            <a:spAutoFit/>
          </a:bodyPr>
          <a:lstStyle/>
          <a:p>
            <a:pPr algn="ctr"/>
            <a:r>
              <a:rPr lang="de-CH" sz="4000" dirty="0"/>
              <a:t>+</a:t>
            </a:r>
          </a:p>
        </p:txBody>
      </p:sp>
      <p:sp>
        <p:nvSpPr>
          <p:cNvPr id="28" name="Textfeld 27">
            <a:extLst>
              <a:ext uri="{FF2B5EF4-FFF2-40B4-BE49-F238E27FC236}">
                <a16:creationId xmlns:a16="http://schemas.microsoft.com/office/drawing/2014/main" id="{F7B4A8E2-052D-68CD-4D55-E5AB9AC88376}"/>
              </a:ext>
            </a:extLst>
          </p:cNvPr>
          <p:cNvSpPr txBox="1"/>
          <p:nvPr/>
        </p:nvSpPr>
        <p:spPr>
          <a:xfrm>
            <a:off x="834032" y="3318029"/>
            <a:ext cx="3133619" cy="369332"/>
          </a:xfrm>
          <a:prstGeom prst="rect">
            <a:avLst/>
          </a:prstGeom>
          <a:noFill/>
        </p:spPr>
        <p:txBody>
          <a:bodyPr wrap="square" rtlCol="0">
            <a:spAutoFit/>
          </a:bodyPr>
          <a:lstStyle/>
          <a:p>
            <a:r>
              <a:rPr lang="de-CH" b="1" dirty="0">
                <a:latin typeface="Helvetica LT Pro Black" panose="020B0904030502020204" pitchFamily="34" charset="0"/>
              </a:rPr>
              <a:t>Altersentwertung</a:t>
            </a:r>
          </a:p>
        </p:txBody>
      </p:sp>
      <p:sp>
        <p:nvSpPr>
          <p:cNvPr id="29" name="Textfeld 28">
            <a:extLst>
              <a:ext uri="{FF2B5EF4-FFF2-40B4-BE49-F238E27FC236}">
                <a16:creationId xmlns:a16="http://schemas.microsoft.com/office/drawing/2014/main" id="{5F5C5427-1A69-195D-30A6-C3171EAE78B8}"/>
              </a:ext>
            </a:extLst>
          </p:cNvPr>
          <p:cNvSpPr txBox="1"/>
          <p:nvPr/>
        </p:nvSpPr>
        <p:spPr>
          <a:xfrm>
            <a:off x="903522" y="3622263"/>
            <a:ext cx="3472665" cy="523220"/>
          </a:xfrm>
          <a:prstGeom prst="rect">
            <a:avLst/>
          </a:prstGeom>
          <a:noFill/>
        </p:spPr>
        <p:txBody>
          <a:bodyPr wrap="square" rtlCol="0">
            <a:spAutoFit/>
          </a:bodyPr>
          <a:lstStyle/>
          <a:p>
            <a:r>
              <a:rPr lang="de-CH" sz="1400" dirty="0"/>
              <a:t>1% pro Jahr des Gebäudeversicherungsneuwerts</a:t>
            </a:r>
          </a:p>
        </p:txBody>
      </p:sp>
      <p:sp>
        <p:nvSpPr>
          <p:cNvPr id="30" name="Textfeld 29">
            <a:extLst>
              <a:ext uri="{FF2B5EF4-FFF2-40B4-BE49-F238E27FC236}">
                <a16:creationId xmlns:a16="http://schemas.microsoft.com/office/drawing/2014/main" id="{CB428745-EF50-393F-7AC9-A876D4DF70CF}"/>
              </a:ext>
            </a:extLst>
          </p:cNvPr>
          <p:cNvSpPr txBox="1"/>
          <p:nvPr/>
        </p:nvSpPr>
        <p:spPr>
          <a:xfrm>
            <a:off x="7291480" y="3340102"/>
            <a:ext cx="1041684" cy="707886"/>
          </a:xfrm>
          <a:prstGeom prst="rect">
            <a:avLst/>
          </a:prstGeom>
          <a:noFill/>
        </p:spPr>
        <p:txBody>
          <a:bodyPr wrap="square" rtlCol="0">
            <a:spAutoFit/>
          </a:bodyPr>
          <a:lstStyle/>
          <a:p>
            <a:pPr algn="ctr"/>
            <a:r>
              <a:rPr lang="de-CH" sz="4000" dirty="0"/>
              <a:t>-</a:t>
            </a:r>
          </a:p>
        </p:txBody>
      </p:sp>
      <p:sp>
        <p:nvSpPr>
          <p:cNvPr id="31" name="Textfeld 30">
            <a:extLst>
              <a:ext uri="{FF2B5EF4-FFF2-40B4-BE49-F238E27FC236}">
                <a16:creationId xmlns:a16="http://schemas.microsoft.com/office/drawing/2014/main" id="{0BD4D720-A131-BA66-5E87-6909443634BC}"/>
              </a:ext>
            </a:extLst>
          </p:cNvPr>
          <p:cNvSpPr txBox="1"/>
          <p:nvPr/>
        </p:nvSpPr>
        <p:spPr>
          <a:xfrm>
            <a:off x="7291195" y="4353268"/>
            <a:ext cx="1041684" cy="707886"/>
          </a:xfrm>
          <a:prstGeom prst="rect">
            <a:avLst/>
          </a:prstGeom>
          <a:noFill/>
        </p:spPr>
        <p:txBody>
          <a:bodyPr wrap="square" rtlCol="0">
            <a:spAutoFit/>
          </a:bodyPr>
          <a:lstStyle/>
          <a:p>
            <a:pPr algn="ctr"/>
            <a:r>
              <a:rPr lang="de-CH" sz="4000" dirty="0"/>
              <a:t>=</a:t>
            </a:r>
          </a:p>
        </p:txBody>
      </p:sp>
      <p:sp>
        <p:nvSpPr>
          <p:cNvPr id="32" name="Textfeld 31">
            <a:extLst>
              <a:ext uri="{FF2B5EF4-FFF2-40B4-BE49-F238E27FC236}">
                <a16:creationId xmlns:a16="http://schemas.microsoft.com/office/drawing/2014/main" id="{4B1EB835-D294-4A23-E795-8CCB284FBBA6}"/>
              </a:ext>
            </a:extLst>
          </p:cNvPr>
          <p:cNvSpPr txBox="1"/>
          <p:nvPr/>
        </p:nvSpPr>
        <p:spPr>
          <a:xfrm>
            <a:off x="834031" y="5213592"/>
            <a:ext cx="3133619" cy="369332"/>
          </a:xfrm>
          <a:prstGeom prst="rect">
            <a:avLst/>
          </a:prstGeom>
          <a:noFill/>
        </p:spPr>
        <p:txBody>
          <a:bodyPr wrap="square" rtlCol="0">
            <a:spAutoFit/>
          </a:bodyPr>
          <a:lstStyle/>
          <a:p>
            <a:r>
              <a:rPr lang="de-CH" b="1" dirty="0">
                <a:latin typeface="Helvetica LT Pro Black" panose="020B0904030502020204" pitchFamily="34" charset="0"/>
              </a:rPr>
              <a:t>Ertragswert entwertet</a:t>
            </a:r>
          </a:p>
        </p:txBody>
      </p:sp>
    </p:spTree>
    <p:extLst>
      <p:ext uri="{BB962C8B-B14F-4D97-AF65-F5344CB8AC3E}">
        <p14:creationId xmlns:p14="http://schemas.microsoft.com/office/powerpoint/2010/main" val="3043504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5780105" cy="461665"/>
          </a:xfrm>
          <a:prstGeom prst="rect">
            <a:avLst/>
          </a:prstGeom>
          <a:noFill/>
        </p:spPr>
        <p:txBody>
          <a:bodyPr wrap="square" rtlCol="0">
            <a:spAutoFit/>
          </a:bodyPr>
          <a:lstStyle/>
          <a:p>
            <a:r>
              <a:rPr lang="de-CH" sz="2400" dirty="0">
                <a:latin typeface="Helvetica LT Pro Black" panose="020B0904030502020204" pitchFamily="34" charset="0"/>
              </a:rPr>
              <a:t>Hedonische Bewertung</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9" name="Textfeld 8">
            <a:extLst>
              <a:ext uri="{FF2B5EF4-FFF2-40B4-BE49-F238E27FC236}">
                <a16:creationId xmlns:a16="http://schemas.microsoft.com/office/drawing/2014/main" id="{42EE87AB-5143-92BB-ADC6-85C586F3D970}"/>
              </a:ext>
            </a:extLst>
          </p:cNvPr>
          <p:cNvSpPr txBox="1"/>
          <p:nvPr/>
        </p:nvSpPr>
        <p:spPr>
          <a:xfrm>
            <a:off x="589343" y="2128141"/>
            <a:ext cx="4805413" cy="3323987"/>
          </a:xfrm>
          <a:prstGeom prst="rect">
            <a:avLst/>
          </a:prstGeom>
          <a:noFill/>
        </p:spPr>
        <p:txBody>
          <a:bodyPr wrap="square">
            <a:spAutoFit/>
          </a:bodyPr>
          <a:lstStyle/>
          <a:p>
            <a:pPr algn="l"/>
            <a:r>
              <a:rPr lang="de-CH" sz="1400" dirty="0"/>
              <a:t>Die hedonische Bewertung ist ein </a:t>
            </a:r>
            <a:r>
              <a:rPr lang="de-CH" sz="1400" dirty="0" err="1"/>
              <a:t>Vergleichwert</a:t>
            </a:r>
            <a:r>
              <a:rPr lang="de-CH" sz="1400" dirty="0"/>
              <a:t>-Verfahren, welches vor über 25 Jahren von IAZI im Schweizer Immobilienmarkt eingeführt wurde. Eine Liegenschaft wird dabei mit tausenden, gehandelten Objekten verglichen und statistisch der Preis ermittelt, den vergleichbare Objekte an vergleichbarer Lage in den vergangenen Monaten erzielt haben.</a:t>
            </a:r>
          </a:p>
          <a:p>
            <a:pPr algn="l"/>
            <a:r>
              <a:rPr lang="de-CH" sz="1400" dirty="0"/>
              <a:t>Eine Vielzahl der Banken, Versicherungen und Pensionskassen bewertet heute im Rahmen der Hypothekarvergabe die Objekte mit dieser Methode. Auch viele Makler oder Projektentwickler wenden sie an, um eine schnelle, marktnahe und kostengünstige Bewertung von Einfamilienhäusern &amp;Eigentumswohnungen. Für untypische Objekte eignet sich die Bewertungsmethode nicht. </a:t>
            </a:r>
          </a:p>
        </p:txBody>
      </p:sp>
      <p:sp>
        <p:nvSpPr>
          <p:cNvPr id="11" name="Textfeld 10">
            <a:extLst>
              <a:ext uri="{FF2B5EF4-FFF2-40B4-BE49-F238E27FC236}">
                <a16:creationId xmlns:a16="http://schemas.microsoft.com/office/drawing/2014/main" id="{B6C72618-6EFD-720A-0A3F-7E35537D4943}"/>
              </a:ext>
            </a:extLst>
          </p:cNvPr>
          <p:cNvSpPr txBox="1"/>
          <p:nvPr/>
        </p:nvSpPr>
        <p:spPr>
          <a:xfrm>
            <a:off x="6453511" y="2128141"/>
            <a:ext cx="4805413" cy="2462213"/>
          </a:xfrm>
          <a:prstGeom prst="rect">
            <a:avLst/>
          </a:prstGeom>
          <a:noFill/>
        </p:spPr>
        <p:txBody>
          <a:bodyPr wrap="square">
            <a:spAutoFit/>
          </a:bodyPr>
          <a:lstStyle/>
          <a:p>
            <a:pPr algn="l"/>
            <a:r>
              <a:rPr lang="de-CH" sz="1400" dirty="0"/>
              <a:t>Um das </a:t>
            </a:r>
            <a:r>
              <a:rPr lang="de-CH" sz="1400" dirty="0" err="1"/>
              <a:t>Ergebniss</a:t>
            </a:r>
            <a:r>
              <a:rPr lang="de-CH" sz="1400" dirty="0"/>
              <a:t> der Hedonischen Bewertung abzurunden, empfiehlt es sich, die Nachfrage sowie die anderen Angebote zu kennen, da dies schlussendlich den Markpreis ergibt. </a:t>
            </a:r>
          </a:p>
          <a:p>
            <a:pPr algn="l"/>
            <a:endParaRPr lang="de-CH" sz="1400" dirty="0"/>
          </a:p>
          <a:p>
            <a:pPr algn="l"/>
            <a:r>
              <a:rPr lang="de-CH" sz="1400" dirty="0"/>
              <a:t>Die aktuelle Nachfrage sowie Zahlungsbereitschaft der Haussuchenden zu kennen, hilft dabei zu entscheiden ob man den Bewerteten Preis eher ab- oder aufrunden sollte. Zusätzlich lässt sich daraus schliessen, ob eine Vermarktung eher längere Zeit in Anspruch nehmen wird (geringe Nachfrage an Lage) oder nicht</a:t>
            </a:r>
          </a:p>
        </p:txBody>
      </p:sp>
      <p:pic>
        <p:nvPicPr>
          <p:cNvPr id="2050" name="Picture 2" descr="IAZI">
            <a:extLst>
              <a:ext uri="{FF2B5EF4-FFF2-40B4-BE49-F238E27FC236}">
                <a16:creationId xmlns:a16="http://schemas.microsoft.com/office/drawing/2014/main" id="{CC3D9545-9225-BE7D-334B-B347A97653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010" y="1460268"/>
            <a:ext cx="587525" cy="580803"/>
          </a:xfrm>
          <a:prstGeom prst="roundRect">
            <a:avLst/>
          </a:prstGeom>
          <a:noFill/>
          <a:extLst>
            <a:ext uri="{909E8E84-426E-40DD-AFC4-6F175D3DCCD1}">
              <a14:hiddenFill xmlns:a14="http://schemas.microsoft.com/office/drawing/2010/main">
                <a:solidFill>
                  <a:srgbClr val="FFFFFF"/>
                </a:solidFill>
              </a14:hiddenFill>
            </a:ext>
          </a:extLst>
        </p:spPr>
      </p:pic>
      <p:pic>
        <p:nvPicPr>
          <p:cNvPr id="2052" name="Picture 4" descr="Martin Eiter | Realmatch360">
            <a:extLst>
              <a:ext uri="{FF2B5EF4-FFF2-40B4-BE49-F238E27FC236}">
                <a16:creationId xmlns:a16="http://schemas.microsoft.com/office/drawing/2014/main" id="{5BEF21CC-75BE-49D0-CBE2-7A8016F7DC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5781" y="1460268"/>
            <a:ext cx="1569738" cy="580803"/>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5569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5780105" cy="461665"/>
          </a:xfrm>
          <a:prstGeom prst="rect">
            <a:avLst/>
          </a:prstGeom>
          <a:noFill/>
        </p:spPr>
        <p:txBody>
          <a:bodyPr wrap="square" rtlCol="0">
            <a:spAutoFit/>
          </a:bodyPr>
          <a:lstStyle/>
          <a:p>
            <a:r>
              <a:rPr lang="de-CH" sz="2400" dirty="0">
                <a:latin typeface="Helvetica LT Pro Black" panose="020B0904030502020204" pitchFamily="34" charset="0"/>
              </a:rPr>
              <a:t>Realwert Methode</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Rechteck 1">
            <a:extLst>
              <a:ext uri="{FF2B5EF4-FFF2-40B4-BE49-F238E27FC236}">
                <a16:creationId xmlns:a16="http://schemas.microsoft.com/office/drawing/2014/main" id="{12BD018D-5B1E-8F91-2B62-E4B530A4FCDE}"/>
              </a:ext>
            </a:extLst>
          </p:cNvPr>
          <p:cNvSpPr/>
          <p:nvPr/>
        </p:nvSpPr>
        <p:spPr>
          <a:xfrm>
            <a:off x="514817" y="1129777"/>
            <a:ext cx="6697038" cy="10163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3" name="Rechteck 2">
            <a:extLst>
              <a:ext uri="{FF2B5EF4-FFF2-40B4-BE49-F238E27FC236}">
                <a16:creationId xmlns:a16="http://schemas.microsoft.com/office/drawing/2014/main" id="{D3BD09EB-92FD-A630-BE23-C8848161E7ED}"/>
              </a:ext>
            </a:extLst>
          </p:cNvPr>
          <p:cNvSpPr/>
          <p:nvPr/>
        </p:nvSpPr>
        <p:spPr>
          <a:xfrm>
            <a:off x="514817" y="2528490"/>
            <a:ext cx="6697038" cy="10163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4" name="Rechteck 3">
            <a:extLst>
              <a:ext uri="{FF2B5EF4-FFF2-40B4-BE49-F238E27FC236}">
                <a16:creationId xmlns:a16="http://schemas.microsoft.com/office/drawing/2014/main" id="{BEA1206F-A859-BA1D-B059-7D001FE68B91}"/>
              </a:ext>
            </a:extLst>
          </p:cNvPr>
          <p:cNvSpPr/>
          <p:nvPr/>
        </p:nvSpPr>
        <p:spPr>
          <a:xfrm>
            <a:off x="514816" y="3927202"/>
            <a:ext cx="6661935" cy="10163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 name="Textfeld 9">
            <a:extLst>
              <a:ext uri="{FF2B5EF4-FFF2-40B4-BE49-F238E27FC236}">
                <a16:creationId xmlns:a16="http://schemas.microsoft.com/office/drawing/2014/main" id="{CB02C164-CB1B-AA7F-D77E-18B56A256C3F}"/>
              </a:ext>
            </a:extLst>
          </p:cNvPr>
          <p:cNvSpPr txBox="1"/>
          <p:nvPr/>
        </p:nvSpPr>
        <p:spPr>
          <a:xfrm>
            <a:off x="419081" y="1666308"/>
            <a:ext cx="2985787" cy="307777"/>
          </a:xfrm>
          <a:prstGeom prst="rect">
            <a:avLst/>
          </a:prstGeom>
          <a:noFill/>
        </p:spPr>
        <p:txBody>
          <a:bodyPr wrap="square" rtlCol="0">
            <a:spAutoFit/>
          </a:bodyPr>
          <a:lstStyle/>
          <a:p>
            <a:pPr algn="ctr"/>
            <a:r>
              <a:rPr lang="de-CH" sz="1400" dirty="0"/>
              <a:t>Bestehender </a:t>
            </a:r>
            <a:r>
              <a:rPr lang="de-CH" sz="1400" dirty="0" err="1"/>
              <a:t>Standart</a:t>
            </a:r>
            <a:r>
              <a:rPr lang="de-CH" sz="1400" dirty="0"/>
              <a:t> </a:t>
            </a:r>
          </a:p>
        </p:txBody>
      </p:sp>
      <p:sp>
        <p:nvSpPr>
          <p:cNvPr id="13" name="Textfeld 12">
            <a:extLst>
              <a:ext uri="{FF2B5EF4-FFF2-40B4-BE49-F238E27FC236}">
                <a16:creationId xmlns:a16="http://schemas.microsoft.com/office/drawing/2014/main" id="{CA2C5797-427D-3B0C-861F-A568C60D88BB}"/>
              </a:ext>
            </a:extLst>
          </p:cNvPr>
          <p:cNvSpPr txBox="1"/>
          <p:nvPr/>
        </p:nvSpPr>
        <p:spPr>
          <a:xfrm>
            <a:off x="903522" y="1296976"/>
            <a:ext cx="2574393" cy="369332"/>
          </a:xfrm>
          <a:prstGeom prst="rect">
            <a:avLst/>
          </a:prstGeom>
          <a:noFill/>
        </p:spPr>
        <p:txBody>
          <a:bodyPr wrap="square" rtlCol="0">
            <a:spAutoFit/>
          </a:bodyPr>
          <a:lstStyle/>
          <a:p>
            <a:r>
              <a:rPr lang="de-CH" b="1" dirty="0">
                <a:latin typeface="Helvetica LT Pro Black" panose="020B0904030502020204" pitchFamily="34" charset="0"/>
              </a:rPr>
              <a:t>Neubaukosten</a:t>
            </a:r>
          </a:p>
        </p:txBody>
      </p:sp>
      <p:sp>
        <p:nvSpPr>
          <p:cNvPr id="14" name="Textfeld 13">
            <a:extLst>
              <a:ext uri="{FF2B5EF4-FFF2-40B4-BE49-F238E27FC236}">
                <a16:creationId xmlns:a16="http://schemas.microsoft.com/office/drawing/2014/main" id="{75625488-402C-8575-3F90-C2DA634FA516}"/>
              </a:ext>
            </a:extLst>
          </p:cNvPr>
          <p:cNvSpPr txBox="1"/>
          <p:nvPr/>
        </p:nvSpPr>
        <p:spPr>
          <a:xfrm>
            <a:off x="7291195" y="1213101"/>
            <a:ext cx="1041684" cy="707886"/>
          </a:xfrm>
          <a:prstGeom prst="rect">
            <a:avLst/>
          </a:prstGeom>
          <a:noFill/>
        </p:spPr>
        <p:txBody>
          <a:bodyPr wrap="square" rtlCol="0">
            <a:spAutoFit/>
          </a:bodyPr>
          <a:lstStyle/>
          <a:p>
            <a:pPr algn="ctr"/>
            <a:r>
              <a:rPr lang="de-CH" sz="4000" dirty="0"/>
              <a:t>+</a:t>
            </a:r>
          </a:p>
        </p:txBody>
      </p:sp>
      <p:sp>
        <p:nvSpPr>
          <p:cNvPr id="15" name="Textfeld 14">
            <a:extLst>
              <a:ext uri="{FF2B5EF4-FFF2-40B4-BE49-F238E27FC236}">
                <a16:creationId xmlns:a16="http://schemas.microsoft.com/office/drawing/2014/main" id="{21D61224-AC26-F5C9-1B4C-4E7A40849A26}"/>
              </a:ext>
            </a:extLst>
          </p:cNvPr>
          <p:cNvSpPr txBox="1"/>
          <p:nvPr/>
        </p:nvSpPr>
        <p:spPr>
          <a:xfrm>
            <a:off x="834032" y="2606980"/>
            <a:ext cx="3133619" cy="369332"/>
          </a:xfrm>
          <a:prstGeom prst="rect">
            <a:avLst/>
          </a:prstGeom>
          <a:noFill/>
        </p:spPr>
        <p:txBody>
          <a:bodyPr wrap="square" rtlCol="0">
            <a:spAutoFit/>
          </a:bodyPr>
          <a:lstStyle/>
          <a:p>
            <a:r>
              <a:rPr lang="de-CH" b="1" dirty="0">
                <a:latin typeface="Helvetica LT Pro Black" panose="020B0904030502020204" pitchFamily="34" charset="0"/>
              </a:rPr>
              <a:t>Altersentwertung</a:t>
            </a:r>
          </a:p>
        </p:txBody>
      </p:sp>
      <p:sp>
        <p:nvSpPr>
          <p:cNvPr id="16" name="Textfeld 15">
            <a:extLst>
              <a:ext uri="{FF2B5EF4-FFF2-40B4-BE49-F238E27FC236}">
                <a16:creationId xmlns:a16="http://schemas.microsoft.com/office/drawing/2014/main" id="{EFC89D4B-5CD2-AB39-3E2F-7E9200A5A7C1}"/>
              </a:ext>
            </a:extLst>
          </p:cNvPr>
          <p:cNvSpPr txBox="1"/>
          <p:nvPr/>
        </p:nvSpPr>
        <p:spPr>
          <a:xfrm>
            <a:off x="903522" y="2911214"/>
            <a:ext cx="3472665" cy="523220"/>
          </a:xfrm>
          <a:prstGeom prst="rect">
            <a:avLst/>
          </a:prstGeom>
          <a:noFill/>
        </p:spPr>
        <p:txBody>
          <a:bodyPr wrap="square" rtlCol="0">
            <a:spAutoFit/>
          </a:bodyPr>
          <a:lstStyle/>
          <a:p>
            <a:r>
              <a:rPr lang="de-CH" sz="1400" dirty="0"/>
              <a:t>1% pro Jahr des Gebäudeversicherungsneuwerts</a:t>
            </a:r>
          </a:p>
        </p:txBody>
      </p:sp>
      <p:sp>
        <p:nvSpPr>
          <p:cNvPr id="17" name="Textfeld 16">
            <a:extLst>
              <a:ext uri="{FF2B5EF4-FFF2-40B4-BE49-F238E27FC236}">
                <a16:creationId xmlns:a16="http://schemas.microsoft.com/office/drawing/2014/main" id="{CD3B78E1-248A-3E73-3596-47FCAE598055}"/>
              </a:ext>
            </a:extLst>
          </p:cNvPr>
          <p:cNvSpPr txBox="1"/>
          <p:nvPr/>
        </p:nvSpPr>
        <p:spPr>
          <a:xfrm>
            <a:off x="7291195" y="2681702"/>
            <a:ext cx="1041684" cy="707886"/>
          </a:xfrm>
          <a:prstGeom prst="rect">
            <a:avLst/>
          </a:prstGeom>
          <a:noFill/>
        </p:spPr>
        <p:txBody>
          <a:bodyPr wrap="square" rtlCol="0">
            <a:spAutoFit/>
          </a:bodyPr>
          <a:lstStyle/>
          <a:p>
            <a:pPr algn="ctr"/>
            <a:r>
              <a:rPr lang="de-CH" sz="4000" dirty="0"/>
              <a:t>-</a:t>
            </a:r>
          </a:p>
        </p:txBody>
      </p:sp>
      <p:sp>
        <p:nvSpPr>
          <p:cNvPr id="18" name="Textfeld 17">
            <a:extLst>
              <a:ext uri="{FF2B5EF4-FFF2-40B4-BE49-F238E27FC236}">
                <a16:creationId xmlns:a16="http://schemas.microsoft.com/office/drawing/2014/main" id="{A88FC4EE-565E-C6D1-5907-BB14FD5D7C78}"/>
              </a:ext>
            </a:extLst>
          </p:cNvPr>
          <p:cNvSpPr txBox="1"/>
          <p:nvPr/>
        </p:nvSpPr>
        <p:spPr>
          <a:xfrm>
            <a:off x="7291195" y="4075430"/>
            <a:ext cx="1041684" cy="707886"/>
          </a:xfrm>
          <a:prstGeom prst="rect">
            <a:avLst/>
          </a:prstGeom>
          <a:noFill/>
        </p:spPr>
        <p:txBody>
          <a:bodyPr wrap="square" rtlCol="0">
            <a:spAutoFit/>
          </a:bodyPr>
          <a:lstStyle/>
          <a:p>
            <a:pPr algn="ctr"/>
            <a:r>
              <a:rPr lang="de-CH" sz="4000" dirty="0"/>
              <a:t>+</a:t>
            </a:r>
          </a:p>
        </p:txBody>
      </p:sp>
      <p:sp>
        <p:nvSpPr>
          <p:cNvPr id="19" name="Textfeld 18">
            <a:extLst>
              <a:ext uri="{FF2B5EF4-FFF2-40B4-BE49-F238E27FC236}">
                <a16:creationId xmlns:a16="http://schemas.microsoft.com/office/drawing/2014/main" id="{A911A05A-FF48-92DC-4503-93876096B33C}"/>
              </a:ext>
            </a:extLst>
          </p:cNvPr>
          <p:cNvSpPr txBox="1"/>
          <p:nvPr/>
        </p:nvSpPr>
        <p:spPr>
          <a:xfrm>
            <a:off x="798927" y="4028672"/>
            <a:ext cx="3133619" cy="369332"/>
          </a:xfrm>
          <a:prstGeom prst="rect">
            <a:avLst/>
          </a:prstGeom>
          <a:noFill/>
        </p:spPr>
        <p:txBody>
          <a:bodyPr wrap="square" rtlCol="0">
            <a:spAutoFit/>
          </a:bodyPr>
          <a:lstStyle/>
          <a:p>
            <a:r>
              <a:rPr lang="de-CH" b="1" dirty="0" err="1">
                <a:latin typeface="Helvetica LT Pro Black" panose="020B0904030502020204" pitchFamily="34" charset="0"/>
              </a:rPr>
              <a:t>Landwert</a:t>
            </a:r>
            <a:endParaRPr lang="de-CH" b="1" dirty="0">
              <a:latin typeface="Helvetica LT Pro Black" panose="020B0904030502020204" pitchFamily="34" charset="0"/>
            </a:endParaRPr>
          </a:p>
        </p:txBody>
      </p:sp>
      <p:sp>
        <p:nvSpPr>
          <p:cNvPr id="20" name="Textfeld 19">
            <a:extLst>
              <a:ext uri="{FF2B5EF4-FFF2-40B4-BE49-F238E27FC236}">
                <a16:creationId xmlns:a16="http://schemas.microsoft.com/office/drawing/2014/main" id="{7A5E2E60-82AE-83D1-B326-2ECB19E59572}"/>
              </a:ext>
            </a:extLst>
          </p:cNvPr>
          <p:cNvSpPr txBox="1"/>
          <p:nvPr/>
        </p:nvSpPr>
        <p:spPr>
          <a:xfrm>
            <a:off x="295034" y="4478596"/>
            <a:ext cx="4425821" cy="307777"/>
          </a:xfrm>
          <a:prstGeom prst="rect">
            <a:avLst/>
          </a:prstGeom>
          <a:noFill/>
        </p:spPr>
        <p:txBody>
          <a:bodyPr wrap="square" rtlCol="0">
            <a:spAutoFit/>
          </a:bodyPr>
          <a:lstStyle/>
          <a:p>
            <a:pPr algn="ctr"/>
            <a:r>
              <a:rPr lang="de-CH" sz="1400" dirty="0"/>
              <a:t>Vergleichswert oder Lageklassemethode</a:t>
            </a:r>
          </a:p>
        </p:txBody>
      </p:sp>
      <p:pic>
        <p:nvPicPr>
          <p:cNvPr id="21" name="Grafik 20">
            <a:extLst>
              <a:ext uri="{FF2B5EF4-FFF2-40B4-BE49-F238E27FC236}">
                <a16:creationId xmlns:a16="http://schemas.microsoft.com/office/drawing/2014/main" id="{2FCF31AA-1DF6-01B1-9AA2-07D6C707B39B}"/>
              </a:ext>
            </a:extLst>
          </p:cNvPr>
          <p:cNvPicPr>
            <a:picLocks noChangeAspect="1"/>
          </p:cNvPicPr>
          <p:nvPr/>
        </p:nvPicPr>
        <p:blipFill rotWithShape="1">
          <a:blip r:embed="rId4"/>
          <a:srcRect l="51786" t="17579" r="2583" b="5368"/>
          <a:stretch/>
        </p:blipFill>
        <p:spPr>
          <a:xfrm>
            <a:off x="8721583" y="2231431"/>
            <a:ext cx="2955600" cy="2372277"/>
          </a:xfrm>
          <a:prstGeom prst="rect">
            <a:avLst/>
          </a:prstGeom>
        </p:spPr>
      </p:pic>
    </p:spTree>
    <p:extLst>
      <p:ext uri="{BB962C8B-B14F-4D97-AF65-F5344CB8AC3E}">
        <p14:creationId xmlns:p14="http://schemas.microsoft.com/office/powerpoint/2010/main" val="1059196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5780105" cy="461665"/>
          </a:xfrm>
          <a:prstGeom prst="rect">
            <a:avLst/>
          </a:prstGeom>
          <a:noFill/>
        </p:spPr>
        <p:txBody>
          <a:bodyPr wrap="square" rtlCol="0">
            <a:spAutoFit/>
          </a:bodyPr>
          <a:lstStyle/>
          <a:p>
            <a:r>
              <a:rPr lang="de-CH" sz="2400" dirty="0">
                <a:latin typeface="Helvetica LT Pro Black" panose="020B0904030502020204" pitchFamily="34" charset="0"/>
              </a:rPr>
              <a:t>Zinssätze in Immobilienbranche</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9" name="Textfeld 8">
            <a:extLst>
              <a:ext uri="{FF2B5EF4-FFF2-40B4-BE49-F238E27FC236}">
                <a16:creationId xmlns:a16="http://schemas.microsoft.com/office/drawing/2014/main" id="{42EE87AB-5143-92BB-ADC6-85C586F3D970}"/>
              </a:ext>
            </a:extLst>
          </p:cNvPr>
          <p:cNvSpPr txBox="1"/>
          <p:nvPr/>
        </p:nvSpPr>
        <p:spPr>
          <a:xfrm>
            <a:off x="589343" y="1943475"/>
            <a:ext cx="4805413" cy="3323987"/>
          </a:xfrm>
          <a:prstGeom prst="rect">
            <a:avLst/>
          </a:prstGeom>
          <a:noFill/>
        </p:spPr>
        <p:txBody>
          <a:bodyPr wrap="square">
            <a:spAutoFit/>
          </a:bodyPr>
          <a:lstStyle/>
          <a:p>
            <a:pPr algn="l"/>
            <a:r>
              <a:rPr lang="de-CH" sz="1400" dirty="0"/>
              <a:t>Der Referenzzinssatz basiert auf den kurzfristigen Zinssätzen am Geldmarkt und wird von der SNB anhand einer umfassenden Analyse der wirtschaftlichen Bedingungen und der Inflation festgelegt. Er hat direkte Auswirkungen auf die Finanzierungskosten von Hypotheken und anderen Krediten.</a:t>
            </a:r>
          </a:p>
          <a:p>
            <a:pPr algn="l"/>
            <a:endParaRPr lang="de-CH" sz="1400" dirty="0"/>
          </a:p>
          <a:p>
            <a:pPr algn="l"/>
            <a:r>
              <a:rPr lang="de-CH" sz="1400" dirty="0"/>
              <a:t>Eine Senkung sowie Erhöhung des Zinssatzes kann Mietanpassungen zufolge haben, welche innert 30 Tagen dem Mieter schriftlich mitgeteilt werden muss. Eine solche Senkung oder Erhöhung der Miete kann auf den nächst möglichen Kündigungstermin festgelegt werden. Eine Bindung der Miete an den </a:t>
            </a:r>
            <a:r>
              <a:rPr lang="de-CH" sz="1400" dirty="0" err="1"/>
              <a:t>Refrenzzinssatz</a:t>
            </a:r>
            <a:r>
              <a:rPr lang="de-CH" sz="1400" dirty="0"/>
              <a:t> gemäss Mietvertrag ist jedoch eine zwingende Voraussetzung dessen. </a:t>
            </a:r>
          </a:p>
        </p:txBody>
      </p:sp>
      <p:sp>
        <p:nvSpPr>
          <p:cNvPr id="11" name="Textfeld 10">
            <a:extLst>
              <a:ext uri="{FF2B5EF4-FFF2-40B4-BE49-F238E27FC236}">
                <a16:creationId xmlns:a16="http://schemas.microsoft.com/office/drawing/2014/main" id="{B6C72618-6EFD-720A-0A3F-7E35537D4943}"/>
              </a:ext>
            </a:extLst>
          </p:cNvPr>
          <p:cNvSpPr txBox="1"/>
          <p:nvPr/>
        </p:nvSpPr>
        <p:spPr>
          <a:xfrm>
            <a:off x="6453511" y="1943475"/>
            <a:ext cx="4805413" cy="3323987"/>
          </a:xfrm>
          <a:prstGeom prst="rect">
            <a:avLst/>
          </a:prstGeom>
          <a:noFill/>
        </p:spPr>
        <p:txBody>
          <a:bodyPr wrap="square">
            <a:spAutoFit/>
          </a:bodyPr>
          <a:lstStyle/>
          <a:p>
            <a:pPr algn="l"/>
            <a:r>
              <a:rPr lang="de-CH" sz="1400" dirty="0"/>
              <a:t>Der Leitzins, auch bekannt als Hauptrefinanzierungssatz oder Repo-Satz, ist der Zinssatz, zu dem Zentralbanken wie die Schweizerische Nationalbank (SNB) Geld an Geschäftsbanken verleihen. Er ist ein wichtiges Instrument der Geldpolitik und dient dazu, die Geldmenge in der Wirtschaft zu steuern und die Preisstabilität zu gewährleisten.</a:t>
            </a:r>
          </a:p>
          <a:p>
            <a:pPr algn="l"/>
            <a:endParaRPr lang="de-CH" sz="1400" dirty="0"/>
          </a:p>
          <a:p>
            <a:pPr algn="l"/>
            <a:r>
              <a:rPr lang="de-CH" sz="1400" dirty="0"/>
              <a:t>Die SNB legt den Leitzins basierend auf verschiedenen Faktoren fest, darunter die Inflationsrate, das Wirtschaftswachstum, die Beschäftigungslage und die Finanzstabilität. </a:t>
            </a:r>
          </a:p>
          <a:p>
            <a:pPr algn="l"/>
            <a:r>
              <a:rPr lang="de-CH" sz="1400" dirty="0"/>
              <a:t>Eine Erhöhung des Leitzinses führt normalerweise zu höheren Kosten für Kredite, was die Kreditvergabe bei beispielsweise Hypotheken erschweren kann. </a:t>
            </a:r>
          </a:p>
        </p:txBody>
      </p:sp>
      <p:sp>
        <p:nvSpPr>
          <p:cNvPr id="2" name="Textfeld 1">
            <a:extLst>
              <a:ext uri="{FF2B5EF4-FFF2-40B4-BE49-F238E27FC236}">
                <a16:creationId xmlns:a16="http://schemas.microsoft.com/office/drawing/2014/main" id="{019ED377-B31F-1D72-84B3-865FC470290E}"/>
              </a:ext>
            </a:extLst>
          </p:cNvPr>
          <p:cNvSpPr txBox="1"/>
          <p:nvPr/>
        </p:nvSpPr>
        <p:spPr>
          <a:xfrm>
            <a:off x="589343" y="1275602"/>
            <a:ext cx="3007185" cy="369332"/>
          </a:xfrm>
          <a:prstGeom prst="rect">
            <a:avLst/>
          </a:prstGeom>
          <a:noFill/>
        </p:spPr>
        <p:txBody>
          <a:bodyPr wrap="square" rtlCol="0">
            <a:spAutoFit/>
          </a:bodyPr>
          <a:lstStyle/>
          <a:p>
            <a:r>
              <a:rPr lang="de-DE" b="1" dirty="0">
                <a:solidFill>
                  <a:schemeClr val="accent2"/>
                </a:solidFill>
                <a:latin typeface="+mj-lt"/>
              </a:rPr>
              <a:t>Referenzzinssatz</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F50C76A4-0635-CABA-CAB4-1D392A660BB5}"/>
              </a:ext>
            </a:extLst>
          </p:cNvPr>
          <p:cNvSpPr txBox="1"/>
          <p:nvPr/>
        </p:nvSpPr>
        <p:spPr>
          <a:xfrm>
            <a:off x="6453511" y="1292081"/>
            <a:ext cx="3007185" cy="369332"/>
          </a:xfrm>
          <a:prstGeom prst="rect">
            <a:avLst/>
          </a:prstGeom>
          <a:noFill/>
        </p:spPr>
        <p:txBody>
          <a:bodyPr wrap="square" rtlCol="0">
            <a:spAutoFit/>
          </a:bodyPr>
          <a:lstStyle/>
          <a:p>
            <a:r>
              <a:rPr lang="de-DE" b="1" dirty="0">
                <a:solidFill>
                  <a:schemeClr val="accent2"/>
                </a:solidFill>
                <a:latin typeface="+mj-lt"/>
              </a:rPr>
              <a:t>Leitzins</a:t>
            </a:r>
            <a:endParaRPr lang="de-CH" b="1" dirty="0">
              <a:solidFill>
                <a:schemeClr val="accent2"/>
              </a:solidFill>
              <a:latin typeface="+mj-lt"/>
            </a:endParaRPr>
          </a:p>
        </p:txBody>
      </p:sp>
    </p:spTree>
    <p:extLst>
      <p:ext uri="{BB962C8B-B14F-4D97-AF65-F5344CB8AC3E}">
        <p14:creationId xmlns:p14="http://schemas.microsoft.com/office/powerpoint/2010/main" val="1701511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Einflussfaktoren Immobilienpreise / Entwicklung Markt</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019ED377-B31F-1D72-84B3-865FC470290E}"/>
              </a:ext>
            </a:extLst>
          </p:cNvPr>
          <p:cNvSpPr txBox="1"/>
          <p:nvPr/>
        </p:nvSpPr>
        <p:spPr>
          <a:xfrm>
            <a:off x="589343" y="1275602"/>
            <a:ext cx="8573908" cy="4124206"/>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Angebot / Nachfrage</a:t>
            </a:r>
          </a:p>
          <a:p>
            <a:pPr marL="742950" lvl="1" indent="-285750">
              <a:buFont typeface="Arial" panose="020B0604020202020204" pitchFamily="34" charset="0"/>
              <a:buChar char="•"/>
            </a:pPr>
            <a:r>
              <a:rPr lang="de-DE" sz="1400" dirty="0">
                <a:latin typeface="+mj-lt"/>
              </a:rPr>
              <a:t>Welche Art von Immobilien wird gesucht (Schweiz = Mieterland &lt; 60%) und was ist aktuell auf dem Markt</a:t>
            </a:r>
          </a:p>
          <a:p>
            <a:pPr marL="285750" indent="-285750">
              <a:buFont typeface="Arial" panose="020B0604020202020204" pitchFamily="34" charset="0"/>
              <a:buChar char="•"/>
            </a:pPr>
            <a:r>
              <a:rPr lang="de-DE" b="1" dirty="0">
                <a:solidFill>
                  <a:schemeClr val="accent2"/>
                </a:solidFill>
                <a:latin typeface="+mj-lt"/>
              </a:rPr>
              <a:t>Zinsentwicklung</a:t>
            </a:r>
          </a:p>
          <a:p>
            <a:pPr marL="742950" lvl="1" indent="-285750">
              <a:buFont typeface="Arial" panose="020B0604020202020204" pitchFamily="34" charset="0"/>
              <a:buChar char="•"/>
            </a:pPr>
            <a:r>
              <a:rPr lang="de-DE" sz="1400" dirty="0">
                <a:latin typeface="+mj-lt"/>
              </a:rPr>
              <a:t>Entwicklung Referenzzinssatz / Leitzins </a:t>
            </a:r>
            <a:r>
              <a:rPr lang="de-DE" sz="1400" dirty="0">
                <a:latin typeface="+mj-lt"/>
                <a:sym typeface="Wingdings" panose="05000000000000000000" pitchFamily="2" charset="2"/>
              </a:rPr>
              <a:t> Beeinflusst Hypotheken </a:t>
            </a:r>
            <a:endParaRPr lang="de-DE" sz="1400" dirty="0">
              <a:latin typeface="+mj-lt"/>
            </a:endParaRPr>
          </a:p>
          <a:p>
            <a:pPr marL="285750" indent="-285750">
              <a:buFont typeface="Arial" panose="020B0604020202020204" pitchFamily="34" charset="0"/>
              <a:buChar char="•"/>
            </a:pPr>
            <a:r>
              <a:rPr lang="de-DE" b="1" dirty="0">
                <a:solidFill>
                  <a:schemeClr val="accent2"/>
                </a:solidFill>
                <a:latin typeface="+mj-lt"/>
              </a:rPr>
              <a:t>Leerstände </a:t>
            </a:r>
          </a:p>
          <a:p>
            <a:pPr marL="742950" lvl="1" indent="-285750">
              <a:buFont typeface="Arial" panose="020B0604020202020204" pitchFamily="34" charset="0"/>
              <a:buChar char="•"/>
            </a:pPr>
            <a:r>
              <a:rPr lang="de-DE" sz="1400" dirty="0">
                <a:latin typeface="+mj-lt"/>
              </a:rPr>
              <a:t>Wie hoch ist die Lehrwohnungsziffer</a:t>
            </a:r>
          </a:p>
          <a:p>
            <a:pPr marL="285750" indent="-285750">
              <a:buFont typeface="Arial" panose="020B0604020202020204" pitchFamily="34" charset="0"/>
              <a:buChar char="•"/>
            </a:pPr>
            <a:r>
              <a:rPr lang="de-DE" b="1" dirty="0">
                <a:solidFill>
                  <a:schemeClr val="accent2"/>
                </a:solidFill>
                <a:latin typeface="+mj-lt"/>
              </a:rPr>
              <a:t>Bautätigkeit</a:t>
            </a:r>
          </a:p>
          <a:p>
            <a:pPr marL="742950" lvl="1" indent="-285750">
              <a:buFont typeface="Arial" panose="020B0604020202020204" pitchFamily="34" charset="0"/>
              <a:buChar char="•"/>
            </a:pPr>
            <a:r>
              <a:rPr lang="de-DE" sz="1400" dirty="0">
                <a:latin typeface="+mj-lt"/>
              </a:rPr>
              <a:t>Wie viel wird gebaut (seit </a:t>
            </a:r>
            <a:r>
              <a:rPr lang="de-DE" sz="1400" dirty="0" err="1">
                <a:latin typeface="+mj-lt"/>
              </a:rPr>
              <a:t>jahren</a:t>
            </a:r>
            <a:r>
              <a:rPr lang="de-DE" sz="1400" dirty="0">
                <a:latin typeface="+mj-lt"/>
              </a:rPr>
              <a:t> Rückläufig) </a:t>
            </a:r>
          </a:p>
          <a:p>
            <a:pPr marL="1200150" lvl="2" indent="-285750">
              <a:buFont typeface="Arial" panose="020B0604020202020204" pitchFamily="34" charset="0"/>
              <a:buChar char="•"/>
            </a:pPr>
            <a:r>
              <a:rPr lang="de-DE" sz="1400" dirty="0">
                <a:latin typeface="+mj-lt"/>
              </a:rPr>
              <a:t>Verschärfung von Bewilligungsverfahren </a:t>
            </a:r>
          </a:p>
          <a:p>
            <a:pPr marL="1657350" lvl="3" indent="-285750">
              <a:buFont typeface="Arial" panose="020B0604020202020204" pitchFamily="34" charset="0"/>
              <a:buChar char="•"/>
            </a:pPr>
            <a:r>
              <a:rPr lang="de-DE" sz="1400" dirty="0">
                <a:latin typeface="+mj-lt"/>
              </a:rPr>
              <a:t>Keine Optimierung von Ausnutzungsziffern etc. (in die Höhe bauen)</a:t>
            </a:r>
          </a:p>
          <a:p>
            <a:pPr marL="285750" indent="-285750">
              <a:buFont typeface="Arial" panose="020B0604020202020204" pitchFamily="34" charset="0"/>
              <a:buChar char="•"/>
            </a:pPr>
            <a:r>
              <a:rPr lang="de-DE" b="1" dirty="0">
                <a:solidFill>
                  <a:schemeClr val="accent2"/>
                </a:solidFill>
                <a:latin typeface="+mj-lt"/>
              </a:rPr>
              <a:t>Lage, Lage, Lage</a:t>
            </a:r>
          </a:p>
          <a:p>
            <a:pPr marL="742950" lvl="1" indent="-285750">
              <a:buFont typeface="Arial" panose="020B0604020202020204" pitchFamily="34" charset="0"/>
              <a:buChar char="•"/>
            </a:pPr>
            <a:r>
              <a:rPr lang="de-DE" sz="1400" dirty="0">
                <a:latin typeface="+mj-lt"/>
              </a:rPr>
              <a:t>Lage und vorhandene Infrastruktur</a:t>
            </a:r>
          </a:p>
          <a:p>
            <a:pPr marL="285750" indent="-285750">
              <a:buFont typeface="Arial" panose="020B0604020202020204" pitchFamily="34" charset="0"/>
              <a:buChar char="•"/>
            </a:pPr>
            <a:r>
              <a:rPr lang="de-DE" b="1" dirty="0">
                <a:solidFill>
                  <a:schemeClr val="accent2"/>
                </a:solidFill>
                <a:latin typeface="+mj-lt"/>
              </a:rPr>
              <a:t>Bevölkerungswachstum</a:t>
            </a:r>
          </a:p>
          <a:p>
            <a:pPr marL="742950" lvl="1" indent="-285750">
              <a:buFont typeface="Arial" panose="020B0604020202020204" pitchFamily="34" charset="0"/>
              <a:buChar char="•"/>
            </a:pPr>
            <a:r>
              <a:rPr lang="de-CH" sz="1400" dirty="0">
                <a:latin typeface="+mj-lt"/>
              </a:rPr>
              <a:t>Aufgrund wirtschaftlicher Lage des Landes (mehr Leute brauchen mehr Wohnraum, welcher aufgrund geringer Bautätigkeit fehlt, da Vorschriften sowie Zinsen und </a:t>
            </a:r>
            <a:r>
              <a:rPr lang="de-CH" sz="1400" dirty="0" err="1">
                <a:latin typeface="+mj-lt"/>
              </a:rPr>
              <a:t>Ausützungspotential</a:t>
            </a:r>
            <a:r>
              <a:rPr lang="de-CH" sz="1400" dirty="0">
                <a:latin typeface="+mj-lt"/>
              </a:rPr>
              <a:t> negativ </a:t>
            </a:r>
            <a:r>
              <a:rPr lang="de-CH" sz="1400" dirty="0" err="1">
                <a:latin typeface="+mj-lt"/>
              </a:rPr>
              <a:t>verlhalten</a:t>
            </a:r>
            <a:r>
              <a:rPr lang="de-CH" sz="1400" dirty="0">
                <a:latin typeface="+mj-lt"/>
              </a:rPr>
              <a:t>)</a:t>
            </a:r>
          </a:p>
        </p:txBody>
      </p:sp>
    </p:spTree>
    <p:extLst>
      <p:ext uri="{BB962C8B-B14F-4D97-AF65-F5344CB8AC3E}">
        <p14:creationId xmlns:p14="http://schemas.microsoft.com/office/powerpoint/2010/main" val="2668856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Tragbarkeitsrechnung</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514816" y="1405218"/>
            <a:ext cx="3007185" cy="369332"/>
          </a:xfrm>
          <a:prstGeom prst="rect">
            <a:avLst/>
          </a:prstGeom>
          <a:noFill/>
        </p:spPr>
        <p:txBody>
          <a:bodyPr wrap="square" rtlCol="0">
            <a:spAutoFit/>
          </a:bodyPr>
          <a:lstStyle/>
          <a:p>
            <a:r>
              <a:rPr lang="de-DE" b="1" dirty="0">
                <a:solidFill>
                  <a:schemeClr val="accent2"/>
                </a:solidFill>
                <a:latin typeface="+mj-lt"/>
              </a:rPr>
              <a:t>1. Zins Fremdkapital</a:t>
            </a:r>
            <a:endParaRPr lang="de-CH" b="1" dirty="0">
              <a:solidFill>
                <a:schemeClr val="accent2"/>
              </a:solidFill>
              <a:latin typeface="+mj-lt"/>
            </a:endParaRPr>
          </a:p>
        </p:txBody>
      </p:sp>
      <p:sp>
        <p:nvSpPr>
          <p:cNvPr id="8" name="Textfeld 7">
            <a:extLst>
              <a:ext uri="{FF2B5EF4-FFF2-40B4-BE49-F238E27FC236}">
                <a16:creationId xmlns:a16="http://schemas.microsoft.com/office/drawing/2014/main" id="{3BD05B0F-B469-868C-31CD-BD1364F710CC}"/>
              </a:ext>
            </a:extLst>
          </p:cNvPr>
          <p:cNvSpPr txBox="1"/>
          <p:nvPr/>
        </p:nvSpPr>
        <p:spPr>
          <a:xfrm>
            <a:off x="514815" y="2320643"/>
            <a:ext cx="3007185" cy="369332"/>
          </a:xfrm>
          <a:prstGeom prst="rect">
            <a:avLst/>
          </a:prstGeom>
          <a:noFill/>
        </p:spPr>
        <p:txBody>
          <a:bodyPr wrap="square" rtlCol="0">
            <a:spAutoFit/>
          </a:bodyPr>
          <a:lstStyle/>
          <a:p>
            <a:r>
              <a:rPr lang="de-DE" b="1" dirty="0">
                <a:solidFill>
                  <a:schemeClr val="accent2"/>
                </a:solidFill>
                <a:latin typeface="+mj-lt"/>
              </a:rPr>
              <a:t>2. Amortisation</a:t>
            </a:r>
            <a:endParaRPr lang="de-CH" b="1" dirty="0">
              <a:solidFill>
                <a:schemeClr val="accent2"/>
              </a:solidFill>
              <a:latin typeface="+mj-lt"/>
            </a:endParaRPr>
          </a:p>
        </p:txBody>
      </p:sp>
      <p:sp>
        <p:nvSpPr>
          <p:cNvPr id="9" name="Textfeld 8">
            <a:extLst>
              <a:ext uri="{FF2B5EF4-FFF2-40B4-BE49-F238E27FC236}">
                <a16:creationId xmlns:a16="http://schemas.microsoft.com/office/drawing/2014/main" id="{6B8B60DD-CE81-6D46-739D-2C5A01FDF9E3}"/>
              </a:ext>
            </a:extLst>
          </p:cNvPr>
          <p:cNvSpPr txBox="1"/>
          <p:nvPr/>
        </p:nvSpPr>
        <p:spPr>
          <a:xfrm>
            <a:off x="514814" y="3236068"/>
            <a:ext cx="3007185" cy="369332"/>
          </a:xfrm>
          <a:prstGeom prst="rect">
            <a:avLst/>
          </a:prstGeom>
          <a:noFill/>
        </p:spPr>
        <p:txBody>
          <a:bodyPr wrap="square" rtlCol="0">
            <a:spAutoFit/>
          </a:bodyPr>
          <a:lstStyle/>
          <a:p>
            <a:r>
              <a:rPr lang="de-DE" b="1" dirty="0">
                <a:solidFill>
                  <a:schemeClr val="accent2"/>
                </a:solidFill>
                <a:latin typeface="+mj-lt"/>
              </a:rPr>
              <a:t>3. Nebenkosten</a:t>
            </a:r>
            <a:endParaRPr lang="de-CH" b="1" dirty="0">
              <a:solidFill>
                <a:schemeClr val="accent2"/>
              </a:solidFill>
              <a:latin typeface="+mj-lt"/>
            </a:endParaRPr>
          </a:p>
        </p:txBody>
      </p:sp>
      <p:sp>
        <p:nvSpPr>
          <p:cNvPr id="10" name="Textfeld 9">
            <a:extLst>
              <a:ext uri="{FF2B5EF4-FFF2-40B4-BE49-F238E27FC236}">
                <a16:creationId xmlns:a16="http://schemas.microsoft.com/office/drawing/2014/main" id="{09BC5C08-BB59-7F71-7C9E-1D8647D6654F}"/>
              </a:ext>
            </a:extLst>
          </p:cNvPr>
          <p:cNvSpPr txBox="1"/>
          <p:nvPr/>
        </p:nvSpPr>
        <p:spPr>
          <a:xfrm>
            <a:off x="514813" y="4144361"/>
            <a:ext cx="3007185" cy="369332"/>
          </a:xfrm>
          <a:prstGeom prst="rect">
            <a:avLst/>
          </a:prstGeom>
          <a:noFill/>
        </p:spPr>
        <p:txBody>
          <a:bodyPr wrap="square" rtlCol="0">
            <a:spAutoFit/>
          </a:bodyPr>
          <a:lstStyle/>
          <a:p>
            <a:r>
              <a:rPr lang="de-DE" b="1" dirty="0">
                <a:solidFill>
                  <a:schemeClr val="accent2"/>
                </a:solidFill>
                <a:latin typeface="+mj-lt"/>
              </a:rPr>
              <a:t>Kalk. Wohnkosten</a:t>
            </a:r>
            <a:endParaRPr lang="de-CH" b="1" dirty="0">
              <a:solidFill>
                <a:schemeClr val="accent2"/>
              </a:solidFill>
              <a:latin typeface="+mj-lt"/>
            </a:endParaRPr>
          </a:p>
        </p:txBody>
      </p:sp>
      <p:sp>
        <p:nvSpPr>
          <p:cNvPr id="11" name="Textfeld 10">
            <a:extLst>
              <a:ext uri="{FF2B5EF4-FFF2-40B4-BE49-F238E27FC236}">
                <a16:creationId xmlns:a16="http://schemas.microsoft.com/office/drawing/2014/main" id="{0E4C210E-F4F2-228E-7578-3EC828E2F055}"/>
              </a:ext>
            </a:extLst>
          </p:cNvPr>
          <p:cNvSpPr txBox="1"/>
          <p:nvPr/>
        </p:nvSpPr>
        <p:spPr>
          <a:xfrm>
            <a:off x="514812" y="5015722"/>
            <a:ext cx="3007185" cy="369332"/>
          </a:xfrm>
          <a:prstGeom prst="rect">
            <a:avLst/>
          </a:prstGeom>
          <a:noFill/>
        </p:spPr>
        <p:txBody>
          <a:bodyPr wrap="square" rtlCol="0">
            <a:spAutoFit/>
          </a:bodyPr>
          <a:lstStyle/>
          <a:p>
            <a:r>
              <a:rPr lang="de-DE" b="1" dirty="0" err="1">
                <a:solidFill>
                  <a:schemeClr val="accent2"/>
                </a:solidFill>
                <a:latin typeface="+mj-lt"/>
              </a:rPr>
              <a:t>Erf</a:t>
            </a:r>
            <a:r>
              <a:rPr lang="de-DE" b="1" dirty="0">
                <a:solidFill>
                  <a:schemeClr val="accent2"/>
                </a:solidFill>
                <a:latin typeface="+mj-lt"/>
              </a:rPr>
              <a:t>. Einkommen</a:t>
            </a:r>
            <a:endParaRPr lang="de-CH" b="1" dirty="0">
              <a:solidFill>
                <a:schemeClr val="accent2"/>
              </a:solidFill>
              <a:latin typeface="+mj-lt"/>
            </a:endParaRPr>
          </a:p>
        </p:txBody>
      </p:sp>
      <p:sp>
        <p:nvSpPr>
          <p:cNvPr id="13" name="Textfeld 12">
            <a:extLst>
              <a:ext uri="{FF2B5EF4-FFF2-40B4-BE49-F238E27FC236}">
                <a16:creationId xmlns:a16="http://schemas.microsoft.com/office/drawing/2014/main" id="{DBD4C503-476F-52BC-1269-9034DCF94746}"/>
              </a:ext>
            </a:extLst>
          </p:cNvPr>
          <p:cNvSpPr txBox="1"/>
          <p:nvPr/>
        </p:nvSpPr>
        <p:spPr>
          <a:xfrm>
            <a:off x="514812" y="1789063"/>
            <a:ext cx="3166711" cy="276999"/>
          </a:xfrm>
          <a:prstGeom prst="rect">
            <a:avLst/>
          </a:prstGeom>
          <a:noFill/>
        </p:spPr>
        <p:txBody>
          <a:bodyPr wrap="square" rtlCol="0">
            <a:spAutoFit/>
          </a:bodyPr>
          <a:lstStyle/>
          <a:p>
            <a:r>
              <a:rPr lang="de-DE" sz="1200" dirty="0"/>
              <a:t>Fremdkapital x 5%</a:t>
            </a:r>
            <a:endParaRPr lang="de-CH" sz="1200" dirty="0"/>
          </a:p>
        </p:txBody>
      </p:sp>
      <p:sp>
        <p:nvSpPr>
          <p:cNvPr id="14" name="Textfeld 13">
            <a:extLst>
              <a:ext uri="{FF2B5EF4-FFF2-40B4-BE49-F238E27FC236}">
                <a16:creationId xmlns:a16="http://schemas.microsoft.com/office/drawing/2014/main" id="{A1197CBC-FAD8-BD5A-072F-D27DC3D95257}"/>
              </a:ext>
            </a:extLst>
          </p:cNvPr>
          <p:cNvSpPr txBox="1"/>
          <p:nvPr/>
        </p:nvSpPr>
        <p:spPr>
          <a:xfrm>
            <a:off x="514811" y="2654755"/>
            <a:ext cx="3166711" cy="276999"/>
          </a:xfrm>
          <a:prstGeom prst="rect">
            <a:avLst/>
          </a:prstGeom>
          <a:noFill/>
        </p:spPr>
        <p:txBody>
          <a:bodyPr wrap="square" rtlCol="0">
            <a:spAutoFit/>
          </a:bodyPr>
          <a:lstStyle/>
          <a:p>
            <a:r>
              <a:rPr lang="de-DE" sz="1200" dirty="0"/>
              <a:t>2. Hypothek / 15 Jahre</a:t>
            </a:r>
            <a:endParaRPr lang="de-CH" sz="1200" dirty="0"/>
          </a:p>
        </p:txBody>
      </p:sp>
      <p:sp>
        <p:nvSpPr>
          <p:cNvPr id="15" name="Textfeld 14">
            <a:extLst>
              <a:ext uri="{FF2B5EF4-FFF2-40B4-BE49-F238E27FC236}">
                <a16:creationId xmlns:a16="http://schemas.microsoft.com/office/drawing/2014/main" id="{791CE560-C500-9649-40C2-5F0F1871AEC8}"/>
              </a:ext>
            </a:extLst>
          </p:cNvPr>
          <p:cNvSpPr txBox="1"/>
          <p:nvPr/>
        </p:nvSpPr>
        <p:spPr>
          <a:xfrm>
            <a:off x="514810" y="3625583"/>
            <a:ext cx="3166711" cy="276999"/>
          </a:xfrm>
          <a:prstGeom prst="rect">
            <a:avLst/>
          </a:prstGeom>
          <a:noFill/>
        </p:spPr>
        <p:txBody>
          <a:bodyPr wrap="square" rtlCol="0">
            <a:spAutoFit/>
          </a:bodyPr>
          <a:lstStyle/>
          <a:p>
            <a:r>
              <a:rPr lang="de-DE" sz="1200" dirty="0"/>
              <a:t>1% des Kaufpreises</a:t>
            </a:r>
            <a:endParaRPr lang="de-CH" sz="1200" dirty="0"/>
          </a:p>
        </p:txBody>
      </p:sp>
      <p:sp>
        <p:nvSpPr>
          <p:cNvPr id="16" name="Textfeld 15">
            <a:extLst>
              <a:ext uri="{FF2B5EF4-FFF2-40B4-BE49-F238E27FC236}">
                <a16:creationId xmlns:a16="http://schemas.microsoft.com/office/drawing/2014/main" id="{80F3E35F-FF1B-AAFC-3F22-4CA62F5CF643}"/>
              </a:ext>
            </a:extLst>
          </p:cNvPr>
          <p:cNvSpPr txBox="1"/>
          <p:nvPr/>
        </p:nvSpPr>
        <p:spPr>
          <a:xfrm>
            <a:off x="514810" y="4533871"/>
            <a:ext cx="3166711" cy="276999"/>
          </a:xfrm>
          <a:prstGeom prst="rect">
            <a:avLst/>
          </a:prstGeom>
          <a:noFill/>
        </p:spPr>
        <p:txBody>
          <a:bodyPr wrap="square" rtlCol="0">
            <a:spAutoFit/>
          </a:bodyPr>
          <a:lstStyle/>
          <a:p>
            <a:r>
              <a:rPr lang="de-DE" sz="1200" dirty="0"/>
              <a:t>Summe 1-3</a:t>
            </a:r>
            <a:endParaRPr lang="de-CH" sz="1200" dirty="0"/>
          </a:p>
        </p:txBody>
      </p:sp>
      <p:sp>
        <p:nvSpPr>
          <p:cNvPr id="17" name="Textfeld 16">
            <a:extLst>
              <a:ext uri="{FF2B5EF4-FFF2-40B4-BE49-F238E27FC236}">
                <a16:creationId xmlns:a16="http://schemas.microsoft.com/office/drawing/2014/main" id="{2AD622F3-D5BD-89EC-DC61-31A336B8E86D}"/>
              </a:ext>
            </a:extLst>
          </p:cNvPr>
          <p:cNvSpPr txBox="1"/>
          <p:nvPr/>
        </p:nvSpPr>
        <p:spPr>
          <a:xfrm>
            <a:off x="560035" y="5452782"/>
            <a:ext cx="3829085" cy="461665"/>
          </a:xfrm>
          <a:prstGeom prst="rect">
            <a:avLst/>
          </a:prstGeom>
          <a:noFill/>
        </p:spPr>
        <p:txBody>
          <a:bodyPr wrap="square" rtlCol="0">
            <a:spAutoFit/>
          </a:bodyPr>
          <a:lstStyle/>
          <a:p>
            <a:r>
              <a:rPr lang="de-DE" sz="1200" dirty="0"/>
              <a:t>Kalk. Wohnkosten x 3 / Bei </a:t>
            </a:r>
            <a:r>
              <a:rPr lang="de-DE" sz="1200" b="1" dirty="0"/>
              <a:t>Renditeobjekt</a:t>
            </a:r>
            <a:r>
              <a:rPr lang="de-DE" sz="1200" dirty="0"/>
              <a:t> dürfen </a:t>
            </a:r>
            <a:r>
              <a:rPr lang="de-DE" sz="1200" b="1" dirty="0"/>
              <a:t>Mieteinnahmen</a:t>
            </a:r>
            <a:r>
              <a:rPr lang="de-DE" sz="1200" dirty="0"/>
              <a:t> nicht geringer sein als Wohnkosten</a:t>
            </a:r>
            <a:endParaRPr lang="de-CH" sz="1200" dirty="0"/>
          </a:p>
        </p:txBody>
      </p:sp>
      <p:sp>
        <p:nvSpPr>
          <p:cNvPr id="18" name="Textfeld 17">
            <a:extLst>
              <a:ext uri="{FF2B5EF4-FFF2-40B4-BE49-F238E27FC236}">
                <a16:creationId xmlns:a16="http://schemas.microsoft.com/office/drawing/2014/main" id="{771BBA42-46BB-1014-4BE1-DAF716B74B3C}"/>
              </a:ext>
            </a:extLst>
          </p:cNvPr>
          <p:cNvSpPr txBox="1"/>
          <p:nvPr/>
        </p:nvSpPr>
        <p:spPr>
          <a:xfrm>
            <a:off x="6096000" y="2398703"/>
            <a:ext cx="4952667" cy="1169551"/>
          </a:xfrm>
          <a:prstGeom prst="rect">
            <a:avLst/>
          </a:prstGeom>
          <a:noFill/>
        </p:spPr>
        <p:txBody>
          <a:bodyPr wrap="square" rtlCol="0">
            <a:spAutoFit/>
          </a:bodyPr>
          <a:lstStyle/>
          <a:p>
            <a:pPr marL="285750" indent="-285750">
              <a:buFont typeface="Arial" panose="020B0604020202020204" pitchFamily="34" charset="0"/>
              <a:buChar char="•"/>
            </a:pPr>
            <a:r>
              <a:rPr lang="de-DE" sz="1400" dirty="0"/>
              <a:t>Eigenkapital abhängig von Einkommen &amp; Nutzung (i.d.R. 20%)</a:t>
            </a:r>
          </a:p>
          <a:p>
            <a:endParaRPr lang="de-DE" sz="1400" dirty="0"/>
          </a:p>
          <a:p>
            <a:pPr marL="285750" indent="-285750">
              <a:buFont typeface="Arial" panose="020B0604020202020204" pitchFamily="34" charset="0"/>
              <a:buChar char="•"/>
            </a:pPr>
            <a:r>
              <a:rPr lang="de-DE" sz="1400" dirty="0"/>
              <a:t>Erste Hypothek i.d.R. 66.66%, welche nicht amortisiert wird</a:t>
            </a:r>
            <a:endParaRPr lang="de-CH" sz="1400" dirty="0"/>
          </a:p>
        </p:txBody>
      </p:sp>
    </p:spTree>
    <p:extLst>
      <p:ext uri="{BB962C8B-B14F-4D97-AF65-F5344CB8AC3E}">
        <p14:creationId xmlns:p14="http://schemas.microsoft.com/office/powerpoint/2010/main" val="4251632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6107657" cy="461665"/>
          </a:xfrm>
          <a:prstGeom prst="rect">
            <a:avLst/>
          </a:prstGeom>
          <a:noFill/>
        </p:spPr>
        <p:txBody>
          <a:bodyPr wrap="square" rtlCol="0">
            <a:spAutoFit/>
          </a:bodyPr>
          <a:lstStyle/>
          <a:p>
            <a:r>
              <a:rPr lang="de-DE" sz="2400" dirty="0">
                <a:latin typeface="Helvetica LT Pro Black" panose="020B0904030502020204" pitchFamily="34" charset="0"/>
              </a:rPr>
              <a:t>Fallbeispiel Finanzierung</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3" name="Grafik 2">
            <a:extLst>
              <a:ext uri="{FF2B5EF4-FFF2-40B4-BE49-F238E27FC236}">
                <a16:creationId xmlns:a16="http://schemas.microsoft.com/office/drawing/2014/main" id="{B470ADBF-349C-948E-01A2-E9EEDFC475AB}"/>
              </a:ext>
            </a:extLst>
          </p:cNvPr>
          <p:cNvPicPr>
            <a:picLocks noChangeAspect="1"/>
          </p:cNvPicPr>
          <p:nvPr/>
        </p:nvPicPr>
        <p:blipFill>
          <a:blip r:embed="rId4"/>
          <a:stretch>
            <a:fillRect/>
          </a:stretch>
        </p:blipFill>
        <p:spPr>
          <a:xfrm>
            <a:off x="645953" y="1077116"/>
            <a:ext cx="4803502" cy="4824914"/>
          </a:xfrm>
          <a:prstGeom prst="rect">
            <a:avLst/>
          </a:prstGeom>
        </p:spPr>
      </p:pic>
      <p:pic>
        <p:nvPicPr>
          <p:cNvPr id="19" name="Grafik 18">
            <a:extLst>
              <a:ext uri="{FF2B5EF4-FFF2-40B4-BE49-F238E27FC236}">
                <a16:creationId xmlns:a16="http://schemas.microsoft.com/office/drawing/2014/main" id="{61B2E4EF-81FD-8CEF-2CBE-9C34AB8EDB10}"/>
              </a:ext>
            </a:extLst>
          </p:cNvPr>
          <p:cNvPicPr>
            <a:picLocks noChangeAspect="1"/>
          </p:cNvPicPr>
          <p:nvPr/>
        </p:nvPicPr>
        <p:blipFill>
          <a:blip r:embed="rId5"/>
          <a:stretch>
            <a:fillRect/>
          </a:stretch>
        </p:blipFill>
        <p:spPr>
          <a:xfrm>
            <a:off x="6018048" y="1298118"/>
            <a:ext cx="5906730" cy="4316159"/>
          </a:xfrm>
          <a:prstGeom prst="rect">
            <a:avLst/>
          </a:prstGeom>
        </p:spPr>
      </p:pic>
    </p:spTree>
    <p:extLst>
      <p:ext uri="{BB962C8B-B14F-4D97-AF65-F5344CB8AC3E}">
        <p14:creationId xmlns:p14="http://schemas.microsoft.com/office/powerpoint/2010/main" val="3943601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Grundbuch</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514816" y="2021235"/>
            <a:ext cx="3007185" cy="369332"/>
          </a:xfrm>
          <a:prstGeom prst="rect">
            <a:avLst/>
          </a:prstGeom>
          <a:noFill/>
        </p:spPr>
        <p:txBody>
          <a:bodyPr wrap="square" rtlCol="0">
            <a:spAutoFit/>
          </a:bodyPr>
          <a:lstStyle/>
          <a:p>
            <a:r>
              <a:rPr lang="de-DE" b="1" dirty="0">
                <a:solidFill>
                  <a:schemeClr val="accent2"/>
                </a:solidFill>
                <a:latin typeface="+mj-lt"/>
              </a:rPr>
              <a:t>Dienstbarkeiten</a:t>
            </a:r>
            <a:endParaRPr lang="de-CH" b="1" dirty="0">
              <a:solidFill>
                <a:schemeClr val="accent2"/>
              </a:solidFill>
              <a:latin typeface="+mj-lt"/>
            </a:endParaRPr>
          </a:p>
        </p:txBody>
      </p:sp>
      <p:sp>
        <p:nvSpPr>
          <p:cNvPr id="2" name="Textfeld 1">
            <a:extLst>
              <a:ext uri="{FF2B5EF4-FFF2-40B4-BE49-F238E27FC236}">
                <a16:creationId xmlns:a16="http://schemas.microsoft.com/office/drawing/2014/main" id="{832C0AA2-1971-36E2-82F0-CE71778936F2}"/>
              </a:ext>
            </a:extLst>
          </p:cNvPr>
          <p:cNvSpPr txBox="1"/>
          <p:nvPr/>
        </p:nvSpPr>
        <p:spPr>
          <a:xfrm>
            <a:off x="4409260" y="2011539"/>
            <a:ext cx="3007185" cy="369332"/>
          </a:xfrm>
          <a:prstGeom prst="rect">
            <a:avLst/>
          </a:prstGeom>
          <a:noFill/>
        </p:spPr>
        <p:txBody>
          <a:bodyPr wrap="square" rtlCol="0">
            <a:spAutoFit/>
          </a:bodyPr>
          <a:lstStyle/>
          <a:p>
            <a:r>
              <a:rPr lang="de-DE" b="1" dirty="0">
                <a:solidFill>
                  <a:schemeClr val="accent2"/>
                </a:solidFill>
                <a:latin typeface="+mj-lt"/>
              </a:rPr>
              <a:t>Vormerkungen</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832F0B66-CB89-4ED7-EA15-27B3753F5F71}"/>
              </a:ext>
            </a:extLst>
          </p:cNvPr>
          <p:cNvSpPr txBox="1"/>
          <p:nvPr/>
        </p:nvSpPr>
        <p:spPr>
          <a:xfrm>
            <a:off x="8551961" y="2011539"/>
            <a:ext cx="3007185" cy="369332"/>
          </a:xfrm>
          <a:prstGeom prst="rect">
            <a:avLst/>
          </a:prstGeom>
          <a:noFill/>
        </p:spPr>
        <p:txBody>
          <a:bodyPr wrap="square" rtlCol="0">
            <a:spAutoFit/>
          </a:bodyPr>
          <a:lstStyle/>
          <a:p>
            <a:r>
              <a:rPr lang="de-DE" b="1" dirty="0">
                <a:solidFill>
                  <a:schemeClr val="accent2"/>
                </a:solidFill>
                <a:latin typeface="+mj-lt"/>
              </a:rPr>
              <a:t>Anmerkungen</a:t>
            </a:r>
            <a:endParaRPr lang="de-CH" b="1" dirty="0">
              <a:solidFill>
                <a:schemeClr val="accent2"/>
              </a:solidFill>
              <a:latin typeface="+mj-lt"/>
            </a:endParaRPr>
          </a:p>
        </p:txBody>
      </p:sp>
      <p:sp>
        <p:nvSpPr>
          <p:cNvPr id="12" name="Textfeld 11">
            <a:extLst>
              <a:ext uri="{FF2B5EF4-FFF2-40B4-BE49-F238E27FC236}">
                <a16:creationId xmlns:a16="http://schemas.microsoft.com/office/drawing/2014/main" id="{6284CA06-C85B-C463-E269-CE1EB4384F5E}"/>
              </a:ext>
            </a:extLst>
          </p:cNvPr>
          <p:cNvSpPr txBox="1"/>
          <p:nvPr/>
        </p:nvSpPr>
        <p:spPr>
          <a:xfrm>
            <a:off x="569670" y="929637"/>
            <a:ext cx="7679181" cy="523220"/>
          </a:xfrm>
          <a:prstGeom prst="rect">
            <a:avLst/>
          </a:prstGeom>
          <a:noFill/>
        </p:spPr>
        <p:txBody>
          <a:bodyPr wrap="square" rtlCol="0">
            <a:spAutoFit/>
          </a:bodyPr>
          <a:lstStyle/>
          <a:p>
            <a:r>
              <a:rPr lang="de-CH" sz="1400" dirty="0"/>
              <a:t>Nebst den Eigentümerinformationen sowie Grösse und Lage des Grundstücks sind folgende </a:t>
            </a:r>
            <a:r>
              <a:rPr lang="de-CH" sz="1400" dirty="0" err="1"/>
              <a:t>Krierien</a:t>
            </a:r>
            <a:r>
              <a:rPr lang="de-CH" sz="1400" dirty="0"/>
              <a:t> von Bedeutung, welche Wertbeeinflussend sein können</a:t>
            </a:r>
          </a:p>
        </p:txBody>
      </p:sp>
      <p:sp>
        <p:nvSpPr>
          <p:cNvPr id="19" name="Textfeld 18">
            <a:extLst>
              <a:ext uri="{FF2B5EF4-FFF2-40B4-BE49-F238E27FC236}">
                <a16:creationId xmlns:a16="http://schemas.microsoft.com/office/drawing/2014/main" id="{77CACECE-8AA6-2BA6-F829-0B4534A91DD3}"/>
              </a:ext>
            </a:extLst>
          </p:cNvPr>
          <p:cNvSpPr txBox="1"/>
          <p:nvPr/>
        </p:nvSpPr>
        <p:spPr>
          <a:xfrm>
            <a:off x="569670" y="2714324"/>
            <a:ext cx="3097556" cy="2462213"/>
          </a:xfrm>
          <a:prstGeom prst="rect">
            <a:avLst/>
          </a:prstGeom>
          <a:noFill/>
        </p:spPr>
        <p:txBody>
          <a:bodyPr wrap="square" rtlCol="0">
            <a:spAutoFit/>
          </a:bodyPr>
          <a:lstStyle/>
          <a:p>
            <a:r>
              <a:rPr lang="de-CH" sz="1400" dirty="0"/>
              <a:t>Die Errichtung einer Dienstbarkeit ist in den meisten Fällen zu beurkunden und die Dienstbarkeit muss in das Grundbuch eingetragen werden. Mit der Eintragung im Grundbuch hat sie nicht nur Wirkung gegenüber dem heutigen, sondern auch gegenüber allen künftigen Grundeigentümern (Näherbaurecht, Fuss- Fahrwegrecht, Grenzbaurecht etc.)</a:t>
            </a:r>
          </a:p>
        </p:txBody>
      </p:sp>
      <p:sp>
        <p:nvSpPr>
          <p:cNvPr id="21" name="Textfeld 20">
            <a:extLst>
              <a:ext uri="{FF2B5EF4-FFF2-40B4-BE49-F238E27FC236}">
                <a16:creationId xmlns:a16="http://schemas.microsoft.com/office/drawing/2014/main" id="{04A604E2-371C-A140-EB16-B1CD5220C558}"/>
              </a:ext>
            </a:extLst>
          </p:cNvPr>
          <p:cNvSpPr txBox="1"/>
          <p:nvPr/>
        </p:nvSpPr>
        <p:spPr>
          <a:xfrm>
            <a:off x="4409261" y="2596559"/>
            <a:ext cx="3589334" cy="1384995"/>
          </a:xfrm>
          <a:prstGeom prst="rect">
            <a:avLst/>
          </a:prstGeom>
          <a:noFill/>
        </p:spPr>
        <p:txBody>
          <a:bodyPr wrap="square">
            <a:spAutoFit/>
          </a:bodyPr>
          <a:lstStyle/>
          <a:p>
            <a:r>
              <a:rPr lang="de-CH" sz="1400" dirty="0"/>
              <a:t>Vormerkungen schaffen zwar keine dinglichen Rechte, aber sie sichern die ihnen zugrunde liegenden Rechte gegenüber später begründeten dinglichen oder vorgemerkten Rechten (Kaufrechte, Vorkaufsrechte, Mietverträge etc.) </a:t>
            </a:r>
          </a:p>
        </p:txBody>
      </p:sp>
      <p:sp>
        <p:nvSpPr>
          <p:cNvPr id="23" name="Textfeld 22">
            <a:extLst>
              <a:ext uri="{FF2B5EF4-FFF2-40B4-BE49-F238E27FC236}">
                <a16:creationId xmlns:a16="http://schemas.microsoft.com/office/drawing/2014/main" id="{2486AEA5-50DD-744C-658F-7BACBF41CD6B}"/>
              </a:ext>
            </a:extLst>
          </p:cNvPr>
          <p:cNvSpPr txBox="1"/>
          <p:nvPr/>
        </p:nvSpPr>
        <p:spPr>
          <a:xfrm>
            <a:off x="8551961" y="2562213"/>
            <a:ext cx="3490140" cy="2677656"/>
          </a:xfrm>
          <a:prstGeom prst="rect">
            <a:avLst/>
          </a:prstGeom>
          <a:noFill/>
        </p:spPr>
        <p:txBody>
          <a:bodyPr wrap="square">
            <a:spAutoFit/>
          </a:bodyPr>
          <a:lstStyle/>
          <a:p>
            <a:r>
              <a:rPr lang="de-CH" sz="1400" dirty="0"/>
              <a:t>Anmerkungen bezwecken die </a:t>
            </a:r>
            <a:r>
              <a:rPr lang="de-CH" sz="1400" dirty="0" err="1"/>
              <a:t>Kundbarmachung</a:t>
            </a:r>
            <a:r>
              <a:rPr lang="de-CH" sz="1400" dirty="0"/>
              <a:t> von privatrechtlichen oder öffentlich-rechtlichen Rechtsverhältnissen, deren Bestand jedoch nicht vom Vorhandensein der Anmerkung abhängig ist. Angemerkte Rechtsverhältnisse würden also auch ohne Anmerkung existieren. Ebenso besteht bezüglich der Anmerkungen kein öffentlicher Glaube (Flurwegbeteiligung, Begründung Stockwerkeigentum vor Erstellung Gebäude)</a:t>
            </a:r>
          </a:p>
        </p:txBody>
      </p:sp>
      <p:sp>
        <p:nvSpPr>
          <p:cNvPr id="8" name="Textfeld 7">
            <a:extLst>
              <a:ext uri="{FF2B5EF4-FFF2-40B4-BE49-F238E27FC236}">
                <a16:creationId xmlns:a16="http://schemas.microsoft.com/office/drawing/2014/main" id="{543C8013-DC16-6E95-C08F-91994DA6B936}"/>
              </a:ext>
            </a:extLst>
          </p:cNvPr>
          <p:cNvSpPr txBox="1"/>
          <p:nvPr/>
        </p:nvSpPr>
        <p:spPr>
          <a:xfrm>
            <a:off x="569670" y="5315628"/>
            <a:ext cx="3735630" cy="261610"/>
          </a:xfrm>
          <a:prstGeom prst="rect">
            <a:avLst/>
          </a:prstGeom>
          <a:noFill/>
        </p:spPr>
        <p:txBody>
          <a:bodyPr wrap="square" rtlCol="0">
            <a:spAutoFit/>
          </a:bodyPr>
          <a:lstStyle/>
          <a:p>
            <a:r>
              <a:rPr lang="de-DE" sz="1100" b="1" dirty="0">
                <a:solidFill>
                  <a:schemeClr val="accent2"/>
                </a:solidFill>
                <a:latin typeface="+mj-lt"/>
              </a:rPr>
              <a:t>Grunddienstbarkeiten I Personaldienstbarkeiten</a:t>
            </a:r>
            <a:endParaRPr lang="de-CH" sz="1100" b="1" dirty="0">
              <a:solidFill>
                <a:schemeClr val="accent2"/>
              </a:solidFill>
              <a:latin typeface="+mj-lt"/>
            </a:endParaRPr>
          </a:p>
        </p:txBody>
      </p:sp>
    </p:spTree>
    <p:extLst>
      <p:ext uri="{BB962C8B-B14F-4D97-AF65-F5344CB8AC3E}">
        <p14:creationId xmlns:p14="http://schemas.microsoft.com/office/powerpoint/2010/main" val="2811314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Hypotheken</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373504" y="1780605"/>
            <a:ext cx="3148497" cy="369332"/>
          </a:xfrm>
          <a:prstGeom prst="rect">
            <a:avLst/>
          </a:prstGeom>
          <a:noFill/>
        </p:spPr>
        <p:txBody>
          <a:bodyPr wrap="square" rtlCol="0">
            <a:spAutoFit/>
          </a:bodyPr>
          <a:lstStyle/>
          <a:p>
            <a:r>
              <a:rPr lang="de-DE" b="1" dirty="0">
                <a:solidFill>
                  <a:schemeClr val="accent2"/>
                </a:solidFill>
                <a:latin typeface="+mj-lt"/>
              </a:rPr>
              <a:t>Festhypothek </a:t>
            </a:r>
            <a:endParaRPr lang="de-CH" b="1" dirty="0">
              <a:solidFill>
                <a:schemeClr val="accent2"/>
              </a:solidFill>
              <a:latin typeface="+mj-lt"/>
            </a:endParaRPr>
          </a:p>
        </p:txBody>
      </p:sp>
      <p:sp>
        <p:nvSpPr>
          <p:cNvPr id="2" name="Textfeld 1">
            <a:extLst>
              <a:ext uri="{FF2B5EF4-FFF2-40B4-BE49-F238E27FC236}">
                <a16:creationId xmlns:a16="http://schemas.microsoft.com/office/drawing/2014/main" id="{832C0AA2-1971-36E2-82F0-CE71778936F2}"/>
              </a:ext>
            </a:extLst>
          </p:cNvPr>
          <p:cNvSpPr txBox="1"/>
          <p:nvPr/>
        </p:nvSpPr>
        <p:spPr>
          <a:xfrm>
            <a:off x="3940692" y="1780605"/>
            <a:ext cx="3148497" cy="369332"/>
          </a:xfrm>
          <a:prstGeom prst="rect">
            <a:avLst/>
          </a:prstGeom>
          <a:noFill/>
        </p:spPr>
        <p:txBody>
          <a:bodyPr wrap="square" rtlCol="0">
            <a:spAutoFit/>
          </a:bodyPr>
          <a:lstStyle/>
          <a:p>
            <a:r>
              <a:rPr lang="de-DE" b="1" dirty="0">
                <a:solidFill>
                  <a:schemeClr val="accent2"/>
                </a:solidFill>
                <a:latin typeface="+mj-lt"/>
              </a:rPr>
              <a:t>SARON-Hypothek</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832F0B66-CB89-4ED7-EA15-27B3753F5F71}"/>
              </a:ext>
            </a:extLst>
          </p:cNvPr>
          <p:cNvSpPr txBox="1"/>
          <p:nvPr/>
        </p:nvSpPr>
        <p:spPr>
          <a:xfrm>
            <a:off x="8574280" y="1770909"/>
            <a:ext cx="3148497" cy="369332"/>
          </a:xfrm>
          <a:prstGeom prst="rect">
            <a:avLst/>
          </a:prstGeom>
          <a:noFill/>
        </p:spPr>
        <p:txBody>
          <a:bodyPr wrap="square" rtlCol="0">
            <a:spAutoFit/>
          </a:bodyPr>
          <a:lstStyle/>
          <a:p>
            <a:r>
              <a:rPr lang="de-DE" b="1" dirty="0">
                <a:solidFill>
                  <a:schemeClr val="accent2"/>
                </a:solidFill>
                <a:latin typeface="+mj-lt"/>
              </a:rPr>
              <a:t>Variable Hypothek</a:t>
            </a:r>
            <a:endParaRPr lang="de-CH" b="1" dirty="0">
              <a:solidFill>
                <a:schemeClr val="accent2"/>
              </a:solidFill>
              <a:latin typeface="+mj-lt"/>
            </a:endParaRPr>
          </a:p>
        </p:txBody>
      </p:sp>
      <p:sp>
        <p:nvSpPr>
          <p:cNvPr id="12" name="Textfeld 11">
            <a:extLst>
              <a:ext uri="{FF2B5EF4-FFF2-40B4-BE49-F238E27FC236}">
                <a16:creationId xmlns:a16="http://schemas.microsoft.com/office/drawing/2014/main" id="{6284CA06-C85B-C463-E269-CE1EB4384F5E}"/>
              </a:ext>
            </a:extLst>
          </p:cNvPr>
          <p:cNvSpPr txBox="1"/>
          <p:nvPr/>
        </p:nvSpPr>
        <p:spPr>
          <a:xfrm>
            <a:off x="569670" y="929637"/>
            <a:ext cx="7679181" cy="523220"/>
          </a:xfrm>
          <a:prstGeom prst="rect">
            <a:avLst/>
          </a:prstGeom>
          <a:noFill/>
        </p:spPr>
        <p:txBody>
          <a:bodyPr wrap="square" rtlCol="0">
            <a:spAutoFit/>
          </a:bodyPr>
          <a:lstStyle/>
          <a:p>
            <a:r>
              <a:rPr lang="de-CH" sz="1400" dirty="0"/>
              <a:t>Alle </a:t>
            </a:r>
            <a:r>
              <a:rPr lang="de-CH" sz="1400" dirty="0" err="1"/>
              <a:t>Hypothekarten</a:t>
            </a:r>
            <a:r>
              <a:rPr lang="de-CH" sz="1400" dirty="0"/>
              <a:t> können variieren und jedes Angebot ist separat zu prüfen (Laufzeit, Amortisation etc.)</a:t>
            </a:r>
          </a:p>
        </p:txBody>
      </p:sp>
      <p:sp>
        <p:nvSpPr>
          <p:cNvPr id="19" name="Textfeld 18">
            <a:extLst>
              <a:ext uri="{FF2B5EF4-FFF2-40B4-BE49-F238E27FC236}">
                <a16:creationId xmlns:a16="http://schemas.microsoft.com/office/drawing/2014/main" id="{77CACECE-8AA6-2BA6-F829-0B4534A91DD3}"/>
              </a:ext>
            </a:extLst>
          </p:cNvPr>
          <p:cNvSpPr txBox="1"/>
          <p:nvPr/>
        </p:nvSpPr>
        <p:spPr>
          <a:xfrm>
            <a:off x="424111" y="2473694"/>
            <a:ext cx="3243115" cy="3108543"/>
          </a:xfrm>
          <a:prstGeom prst="rect">
            <a:avLst/>
          </a:prstGeom>
          <a:noFill/>
        </p:spPr>
        <p:txBody>
          <a:bodyPr wrap="square" rtlCol="0">
            <a:spAutoFit/>
          </a:bodyPr>
          <a:lstStyle/>
          <a:p>
            <a:r>
              <a:rPr lang="de-CH" sz="1400" dirty="0"/>
              <a:t>Eine Festhypothek ist eine Hypothek mit einer festen Zinsbindung für eine bestimmte Laufzeit, üblicherweise zwischen 2 und 10 Jahren. Während dieser Zeit bleibt der Zinssatz konstant, unabhängig von den Marktzinsen. Dies ermöglicht es dem Kreditnehmer, die monatlichen Zahlungen besser zu planen, da sie während der Zinsbindung unverändert bleiben. Nach Ablauf der Laufzeit kann die Hypothek zu aktuellen Konditionen verlängert oder gewechselt werden.</a:t>
            </a:r>
          </a:p>
        </p:txBody>
      </p:sp>
      <p:sp>
        <p:nvSpPr>
          <p:cNvPr id="21" name="Textfeld 20">
            <a:extLst>
              <a:ext uri="{FF2B5EF4-FFF2-40B4-BE49-F238E27FC236}">
                <a16:creationId xmlns:a16="http://schemas.microsoft.com/office/drawing/2014/main" id="{04A604E2-371C-A140-EB16-B1CD5220C558}"/>
              </a:ext>
            </a:extLst>
          </p:cNvPr>
          <p:cNvSpPr txBox="1"/>
          <p:nvPr/>
        </p:nvSpPr>
        <p:spPr>
          <a:xfrm>
            <a:off x="3917482" y="2343733"/>
            <a:ext cx="4414787" cy="3539430"/>
          </a:xfrm>
          <a:prstGeom prst="rect">
            <a:avLst/>
          </a:prstGeom>
          <a:noFill/>
        </p:spPr>
        <p:txBody>
          <a:bodyPr wrap="square">
            <a:spAutoFit/>
          </a:bodyPr>
          <a:lstStyle/>
          <a:p>
            <a:r>
              <a:rPr lang="de-CH" sz="1400" dirty="0"/>
              <a:t>Die SARON-Hypothek basiert auf dem Swiss Average Rate </a:t>
            </a:r>
            <a:r>
              <a:rPr lang="de-CH" sz="1400" dirty="0" err="1"/>
              <a:t>Overnight</a:t>
            </a:r>
            <a:r>
              <a:rPr lang="de-CH" sz="1400" dirty="0"/>
              <a:t> (SARON), einem Referenzzinssatz für den Schweizer Franken. Der SARON ist ein repräsentativer Durchschnittszinssatz, zu dem sich Banken untereinander Geld leihen, basierend auf den tatsächlich abgeschlossenen Transaktionen am Geldmarkt.</a:t>
            </a:r>
          </a:p>
          <a:p>
            <a:r>
              <a:rPr lang="de-CH" sz="1400" dirty="0"/>
              <a:t>Eine SARON-Hypothek ist eine variable Hypothek, bei der der Zinssatz regelmäßig angepasst wird, normalerweise alle drei oder sechs Monate. Der Zinssatz wird dabei auf Basis des aktuellen SARON-Satzes plus einem festgelegten Aufschlag (Spread) berechnet, der von der Bank festgelegt wird. Da der SARON täglich veröffentlicht wird, spiegelt der Zinssatz der SARON-Hypothek die aktuellen Marktbedingungen wider.</a:t>
            </a:r>
          </a:p>
        </p:txBody>
      </p:sp>
      <p:sp>
        <p:nvSpPr>
          <p:cNvPr id="23" name="Textfeld 22">
            <a:extLst>
              <a:ext uri="{FF2B5EF4-FFF2-40B4-BE49-F238E27FC236}">
                <a16:creationId xmlns:a16="http://schemas.microsoft.com/office/drawing/2014/main" id="{2486AEA5-50DD-744C-658F-7BACBF41CD6B}"/>
              </a:ext>
            </a:extLst>
          </p:cNvPr>
          <p:cNvSpPr txBox="1"/>
          <p:nvPr/>
        </p:nvSpPr>
        <p:spPr>
          <a:xfrm>
            <a:off x="8590086" y="2321583"/>
            <a:ext cx="3654147" cy="1815882"/>
          </a:xfrm>
          <a:prstGeom prst="rect">
            <a:avLst/>
          </a:prstGeom>
          <a:noFill/>
        </p:spPr>
        <p:txBody>
          <a:bodyPr wrap="square">
            <a:spAutoFit/>
          </a:bodyPr>
          <a:lstStyle/>
          <a:p>
            <a:r>
              <a:rPr lang="de-CH" sz="1400" dirty="0"/>
              <a:t>Bei einer variablen Hypothek kann der Zinssatz von der Bank angepasst werden, je nach Entwicklung des allgemeinen Zinsniveaus. Die monatlichen Zahlungen können sich daher im Laufe der Zeit ändern. Variable Hypotheken werden oft mit kurzen Laufzeiten von einem Jahr oder weniger angeboten.</a:t>
            </a:r>
          </a:p>
        </p:txBody>
      </p:sp>
    </p:spTree>
    <p:extLst>
      <p:ext uri="{BB962C8B-B14F-4D97-AF65-F5344CB8AC3E}">
        <p14:creationId xmlns:p14="http://schemas.microsoft.com/office/powerpoint/2010/main" val="1167424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Steuern bei Immobilien</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373504" y="1349280"/>
            <a:ext cx="3148497" cy="369332"/>
          </a:xfrm>
          <a:prstGeom prst="rect">
            <a:avLst/>
          </a:prstGeom>
          <a:noFill/>
        </p:spPr>
        <p:txBody>
          <a:bodyPr wrap="square" rtlCol="0">
            <a:spAutoFit/>
          </a:bodyPr>
          <a:lstStyle/>
          <a:p>
            <a:r>
              <a:rPr lang="de-DE" b="1" dirty="0">
                <a:solidFill>
                  <a:schemeClr val="accent2"/>
                </a:solidFill>
                <a:latin typeface="+mj-lt"/>
              </a:rPr>
              <a:t>Kauf </a:t>
            </a:r>
            <a:endParaRPr lang="de-CH" b="1" dirty="0">
              <a:solidFill>
                <a:schemeClr val="accent2"/>
              </a:solidFill>
              <a:latin typeface="+mj-lt"/>
            </a:endParaRPr>
          </a:p>
        </p:txBody>
      </p:sp>
      <p:sp>
        <p:nvSpPr>
          <p:cNvPr id="2" name="Textfeld 1">
            <a:extLst>
              <a:ext uri="{FF2B5EF4-FFF2-40B4-BE49-F238E27FC236}">
                <a16:creationId xmlns:a16="http://schemas.microsoft.com/office/drawing/2014/main" id="{832C0AA2-1971-36E2-82F0-CE71778936F2}"/>
              </a:ext>
            </a:extLst>
          </p:cNvPr>
          <p:cNvSpPr txBox="1"/>
          <p:nvPr/>
        </p:nvSpPr>
        <p:spPr>
          <a:xfrm>
            <a:off x="3940692" y="1349280"/>
            <a:ext cx="3148497" cy="369332"/>
          </a:xfrm>
          <a:prstGeom prst="rect">
            <a:avLst/>
          </a:prstGeom>
          <a:noFill/>
        </p:spPr>
        <p:txBody>
          <a:bodyPr wrap="square" rtlCol="0">
            <a:spAutoFit/>
          </a:bodyPr>
          <a:lstStyle/>
          <a:p>
            <a:r>
              <a:rPr lang="de-DE" b="1" dirty="0">
                <a:solidFill>
                  <a:schemeClr val="accent2"/>
                </a:solidFill>
                <a:latin typeface="+mj-lt"/>
              </a:rPr>
              <a:t>Nutzung</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832F0B66-CB89-4ED7-EA15-27B3753F5F71}"/>
              </a:ext>
            </a:extLst>
          </p:cNvPr>
          <p:cNvSpPr txBox="1"/>
          <p:nvPr/>
        </p:nvSpPr>
        <p:spPr>
          <a:xfrm>
            <a:off x="8574280" y="1339584"/>
            <a:ext cx="3148497" cy="369332"/>
          </a:xfrm>
          <a:prstGeom prst="rect">
            <a:avLst/>
          </a:prstGeom>
          <a:noFill/>
        </p:spPr>
        <p:txBody>
          <a:bodyPr wrap="square" rtlCol="0">
            <a:spAutoFit/>
          </a:bodyPr>
          <a:lstStyle/>
          <a:p>
            <a:r>
              <a:rPr lang="de-DE" b="1" dirty="0">
                <a:solidFill>
                  <a:schemeClr val="accent2"/>
                </a:solidFill>
                <a:latin typeface="+mj-lt"/>
              </a:rPr>
              <a:t>Verkauf</a:t>
            </a:r>
            <a:endParaRPr lang="de-CH" b="1" dirty="0">
              <a:solidFill>
                <a:schemeClr val="accent2"/>
              </a:solidFill>
              <a:latin typeface="+mj-lt"/>
            </a:endParaRPr>
          </a:p>
        </p:txBody>
      </p:sp>
      <p:sp>
        <p:nvSpPr>
          <p:cNvPr id="19" name="Textfeld 18">
            <a:extLst>
              <a:ext uri="{FF2B5EF4-FFF2-40B4-BE49-F238E27FC236}">
                <a16:creationId xmlns:a16="http://schemas.microsoft.com/office/drawing/2014/main" id="{77CACECE-8AA6-2BA6-F829-0B4534A91DD3}"/>
              </a:ext>
            </a:extLst>
          </p:cNvPr>
          <p:cNvSpPr txBox="1"/>
          <p:nvPr/>
        </p:nvSpPr>
        <p:spPr>
          <a:xfrm>
            <a:off x="424111" y="2042369"/>
            <a:ext cx="3243115" cy="523220"/>
          </a:xfrm>
          <a:prstGeom prst="rect">
            <a:avLst/>
          </a:prstGeom>
          <a:noFill/>
        </p:spPr>
        <p:txBody>
          <a:bodyPr wrap="square" rtlCol="0">
            <a:spAutoFit/>
          </a:bodyPr>
          <a:lstStyle/>
          <a:p>
            <a:r>
              <a:rPr lang="de-CH" sz="1400" dirty="0"/>
              <a:t>Handänderungssteuer (ist kantonal geregelt und nicht überall fällig) </a:t>
            </a:r>
          </a:p>
        </p:txBody>
      </p:sp>
      <p:sp>
        <p:nvSpPr>
          <p:cNvPr id="21" name="Textfeld 20">
            <a:extLst>
              <a:ext uri="{FF2B5EF4-FFF2-40B4-BE49-F238E27FC236}">
                <a16:creationId xmlns:a16="http://schemas.microsoft.com/office/drawing/2014/main" id="{04A604E2-371C-A140-EB16-B1CD5220C558}"/>
              </a:ext>
            </a:extLst>
          </p:cNvPr>
          <p:cNvSpPr txBox="1"/>
          <p:nvPr/>
        </p:nvSpPr>
        <p:spPr>
          <a:xfrm>
            <a:off x="3917482" y="1912408"/>
            <a:ext cx="4159757" cy="2031325"/>
          </a:xfrm>
          <a:prstGeom prst="rect">
            <a:avLst/>
          </a:prstGeom>
          <a:noFill/>
        </p:spPr>
        <p:txBody>
          <a:bodyPr wrap="square">
            <a:spAutoFit/>
          </a:bodyPr>
          <a:lstStyle/>
          <a:p>
            <a:r>
              <a:rPr lang="de-CH" sz="1400" dirty="0"/>
              <a:t>Grundsteuer / Liegenschaftssteuer (hat nicht jeder Kanton) </a:t>
            </a:r>
          </a:p>
          <a:p>
            <a:endParaRPr lang="de-CH" sz="1400" dirty="0"/>
          </a:p>
          <a:p>
            <a:r>
              <a:rPr lang="de-CH" sz="1400" dirty="0"/>
              <a:t>Einkommenssteuer (entweder effektive Mieteinnahmen oder Eigenmietwert, welcher durch Steuerbehörde festgelegt wird) </a:t>
            </a:r>
          </a:p>
          <a:p>
            <a:endParaRPr lang="de-CH" sz="1400" dirty="0"/>
          </a:p>
          <a:p>
            <a:r>
              <a:rPr lang="de-CH" sz="1400" dirty="0"/>
              <a:t>Vermögenssteuer (Wert wird durch </a:t>
            </a:r>
            <a:r>
              <a:rPr lang="de-CH" sz="1400"/>
              <a:t>Steueramt berechnet) </a:t>
            </a:r>
            <a:endParaRPr lang="de-CH" sz="1400" dirty="0"/>
          </a:p>
        </p:txBody>
      </p:sp>
      <p:sp>
        <p:nvSpPr>
          <p:cNvPr id="23" name="Textfeld 22">
            <a:extLst>
              <a:ext uri="{FF2B5EF4-FFF2-40B4-BE49-F238E27FC236}">
                <a16:creationId xmlns:a16="http://schemas.microsoft.com/office/drawing/2014/main" id="{2486AEA5-50DD-744C-658F-7BACBF41CD6B}"/>
              </a:ext>
            </a:extLst>
          </p:cNvPr>
          <p:cNvSpPr txBox="1"/>
          <p:nvPr/>
        </p:nvSpPr>
        <p:spPr>
          <a:xfrm>
            <a:off x="8590086" y="1890258"/>
            <a:ext cx="3654147" cy="3323987"/>
          </a:xfrm>
          <a:prstGeom prst="rect">
            <a:avLst/>
          </a:prstGeom>
          <a:noFill/>
        </p:spPr>
        <p:txBody>
          <a:bodyPr wrap="square">
            <a:spAutoFit/>
          </a:bodyPr>
          <a:lstStyle/>
          <a:p>
            <a:r>
              <a:rPr lang="de-CH" sz="1400" dirty="0"/>
              <a:t>Handänderungssteuer (ist kantonal geregelt und nicht überall fällig) </a:t>
            </a:r>
          </a:p>
          <a:p>
            <a:endParaRPr lang="de-CH" sz="1400" dirty="0"/>
          </a:p>
          <a:p>
            <a:r>
              <a:rPr lang="de-CH" sz="1400" dirty="0"/>
              <a:t>Grundstückgewinnsteuer</a:t>
            </a:r>
          </a:p>
          <a:p>
            <a:r>
              <a:rPr lang="de-CH" sz="1400" dirty="0"/>
              <a:t>	Steueraufschub: Erbgang, 	Güterrechtliche 	Auseinandersetzung,</a:t>
            </a:r>
          </a:p>
          <a:p>
            <a:r>
              <a:rPr lang="de-CH" sz="1400" dirty="0"/>
              <a:t>	Landumteilung, 	Ersatzbeschaffung</a:t>
            </a:r>
          </a:p>
          <a:p>
            <a:endParaRPr lang="de-CH" sz="1400" dirty="0"/>
          </a:p>
          <a:p>
            <a:r>
              <a:rPr lang="de-CH" sz="1400" dirty="0"/>
              <a:t>Neues Objekt darf nicht günstiger sein als Anschaffungskosten des alten Objekts. Steuer wird nur reduziert und fällt nicht ganz weg! </a:t>
            </a:r>
          </a:p>
          <a:p>
            <a:r>
              <a:rPr lang="de-CH" sz="1400" dirty="0"/>
              <a:t> </a:t>
            </a:r>
          </a:p>
        </p:txBody>
      </p:sp>
      <p:sp>
        <p:nvSpPr>
          <p:cNvPr id="8" name="Textfeld 7">
            <a:extLst>
              <a:ext uri="{FF2B5EF4-FFF2-40B4-BE49-F238E27FC236}">
                <a16:creationId xmlns:a16="http://schemas.microsoft.com/office/drawing/2014/main" id="{0E271D74-1BBD-1C4A-1F8D-BA4DC996DF4F}"/>
              </a:ext>
            </a:extLst>
          </p:cNvPr>
          <p:cNvSpPr txBox="1"/>
          <p:nvPr/>
        </p:nvSpPr>
        <p:spPr>
          <a:xfrm>
            <a:off x="7974735" y="5214245"/>
            <a:ext cx="4159756" cy="307777"/>
          </a:xfrm>
          <a:prstGeom prst="rect">
            <a:avLst/>
          </a:prstGeom>
          <a:noFill/>
        </p:spPr>
        <p:txBody>
          <a:bodyPr wrap="square" rtlCol="0">
            <a:spAutoFit/>
          </a:bodyPr>
          <a:lstStyle/>
          <a:p>
            <a:pPr algn="ctr"/>
            <a:r>
              <a:rPr lang="de-DE" sz="1400" dirty="0">
                <a:solidFill>
                  <a:schemeClr val="accent1"/>
                </a:solidFill>
              </a:rPr>
              <a:t>Monistisches / Dualistisches System </a:t>
            </a:r>
            <a:endParaRPr lang="de-CH" sz="1400" dirty="0">
              <a:solidFill>
                <a:schemeClr val="accent1"/>
              </a:solidFill>
            </a:endParaRPr>
          </a:p>
        </p:txBody>
      </p:sp>
    </p:spTree>
    <p:extLst>
      <p:ext uri="{BB962C8B-B14F-4D97-AF65-F5344CB8AC3E}">
        <p14:creationId xmlns:p14="http://schemas.microsoft.com/office/powerpoint/2010/main" val="2770231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Grundstückgewinnsteuer</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373504" y="1349280"/>
            <a:ext cx="3148497" cy="369332"/>
          </a:xfrm>
          <a:prstGeom prst="rect">
            <a:avLst/>
          </a:prstGeom>
          <a:noFill/>
        </p:spPr>
        <p:txBody>
          <a:bodyPr wrap="square" rtlCol="0">
            <a:spAutoFit/>
          </a:bodyPr>
          <a:lstStyle/>
          <a:p>
            <a:r>
              <a:rPr lang="de-DE" b="1" dirty="0">
                <a:solidFill>
                  <a:schemeClr val="accent2"/>
                </a:solidFill>
                <a:latin typeface="+mj-lt"/>
              </a:rPr>
              <a:t>Haftung </a:t>
            </a:r>
            <a:endParaRPr lang="de-CH" b="1" dirty="0">
              <a:solidFill>
                <a:schemeClr val="accent2"/>
              </a:solidFill>
              <a:latin typeface="+mj-lt"/>
            </a:endParaRPr>
          </a:p>
        </p:txBody>
      </p:sp>
      <p:sp>
        <p:nvSpPr>
          <p:cNvPr id="19" name="Textfeld 18">
            <a:extLst>
              <a:ext uri="{FF2B5EF4-FFF2-40B4-BE49-F238E27FC236}">
                <a16:creationId xmlns:a16="http://schemas.microsoft.com/office/drawing/2014/main" id="{77CACECE-8AA6-2BA6-F829-0B4534A91DD3}"/>
              </a:ext>
            </a:extLst>
          </p:cNvPr>
          <p:cNvSpPr txBox="1"/>
          <p:nvPr/>
        </p:nvSpPr>
        <p:spPr>
          <a:xfrm>
            <a:off x="373504" y="2025037"/>
            <a:ext cx="4907306" cy="954107"/>
          </a:xfrm>
          <a:prstGeom prst="rect">
            <a:avLst/>
          </a:prstGeom>
          <a:noFill/>
        </p:spPr>
        <p:txBody>
          <a:bodyPr wrap="square" rtlCol="0">
            <a:spAutoFit/>
          </a:bodyPr>
          <a:lstStyle/>
          <a:p>
            <a:r>
              <a:rPr lang="de-CH" sz="1400" b="0" i="0" dirty="0">
                <a:solidFill>
                  <a:srgbClr val="040C28"/>
                </a:solidFill>
                <a:effectLst/>
                <a:latin typeface="Google Sans"/>
              </a:rPr>
              <a:t>Für die Grundstückgewinnsteuer haftet das Grundstück</a:t>
            </a:r>
            <a:r>
              <a:rPr lang="de-CH" sz="1400" b="0" i="0" dirty="0">
                <a:solidFill>
                  <a:srgbClr val="202124"/>
                </a:solidFill>
                <a:effectLst/>
                <a:latin typeface="Google Sans"/>
              </a:rPr>
              <a:t>. Dies bedeutet, dass bei Fehlen eines zahlungsfähigen Verkäufers letztendlich der Käufer die Steuer bezahlen muss. </a:t>
            </a:r>
          </a:p>
          <a:p>
            <a:r>
              <a:rPr lang="de-CH" sz="1400" b="0" i="0" dirty="0">
                <a:solidFill>
                  <a:srgbClr val="202124"/>
                </a:solidFill>
                <a:effectLst/>
                <a:latin typeface="Google Sans"/>
                <a:sym typeface="Wingdings" panose="05000000000000000000" pitchFamily="2" charset="2"/>
              </a:rPr>
              <a:t> Geltendmachung des Grundpfandrechts</a:t>
            </a:r>
            <a:endParaRPr lang="de-CH" sz="1400" dirty="0"/>
          </a:p>
        </p:txBody>
      </p:sp>
      <p:sp>
        <p:nvSpPr>
          <p:cNvPr id="9" name="Textfeld 8">
            <a:extLst>
              <a:ext uri="{FF2B5EF4-FFF2-40B4-BE49-F238E27FC236}">
                <a16:creationId xmlns:a16="http://schemas.microsoft.com/office/drawing/2014/main" id="{710FA005-5536-A7FF-6909-E34378CA790E}"/>
              </a:ext>
            </a:extLst>
          </p:cNvPr>
          <p:cNvSpPr txBox="1"/>
          <p:nvPr/>
        </p:nvSpPr>
        <p:spPr>
          <a:xfrm>
            <a:off x="6244779" y="1937213"/>
            <a:ext cx="4907306" cy="738664"/>
          </a:xfrm>
          <a:prstGeom prst="rect">
            <a:avLst/>
          </a:prstGeom>
          <a:noFill/>
        </p:spPr>
        <p:txBody>
          <a:bodyPr wrap="square" rtlCol="0">
            <a:spAutoFit/>
          </a:bodyPr>
          <a:lstStyle/>
          <a:p>
            <a:r>
              <a:rPr lang="de-CH" sz="1400" b="0" i="0" dirty="0">
                <a:solidFill>
                  <a:srgbClr val="040C28"/>
                </a:solidFill>
                <a:effectLst/>
                <a:latin typeface="Google Sans"/>
              </a:rPr>
              <a:t>Regelung im Kaufvertrag, dass mutmassliche </a:t>
            </a:r>
            <a:r>
              <a:rPr lang="de-CH" sz="1400" b="0" i="0" dirty="0" err="1">
                <a:solidFill>
                  <a:srgbClr val="040C28"/>
                </a:solidFill>
                <a:effectLst/>
                <a:latin typeface="Google Sans"/>
              </a:rPr>
              <a:t>GGSt</a:t>
            </a:r>
            <a:r>
              <a:rPr lang="de-CH" sz="1400" b="0" i="0" dirty="0">
                <a:solidFill>
                  <a:srgbClr val="040C28"/>
                </a:solidFill>
                <a:effectLst/>
                <a:latin typeface="Google Sans"/>
              </a:rPr>
              <a:t> als Akontozahlung an den Kanton überwiesen wird resp. Rückbehalt auf Sperrkonto (</a:t>
            </a:r>
            <a:r>
              <a:rPr lang="de-CH" sz="1400" b="0" i="0" dirty="0" err="1">
                <a:solidFill>
                  <a:srgbClr val="040C28"/>
                </a:solidFill>
                <a:effectLst/>
                <a:latin typeface="Google Sans"/>
              </a:rPr>
              <a:t>z.b.</a:t>
            </a:r>
            <a:r>
              <a:rPr lang="de-CH" sz="1400" b="0" i="0" dirty="0">
                <a:solidFill>
                  <a:srgbClr val="040C28"/>
                </a:solidFill>
                <a:effectLst/>
                <a:latin typeface="Google Sans"/>
              </a:rPr>
              <a:t> Notariatskonto) zur Bezahlung der </a:t>
            </a:r>
            <a:r>
              <a:rPr lang="de-CH" sz="1400" b="0" i="0" dirty="0" err="1">
                <a:solidFill>
                  <a:srgbClr val="040C28"/>
                </a:solidFill>
                <a:effectLst/>
                <a:latin typeface="Google Sans"/>
              </a:rPr>
              <a:t>GGSt</a:t>
            </a:r>
            <a:endParaRPr lang="de-CH" sz="1400" dirty="0"/>
          </a:p>
        </p:txBody>
      </p:sp>
      <p:sp>
        <p:nvSpPr>
          <p:cNvPr id="10" name="Textfeld 9">
            <a:extLst>
              <a:ext uri="{FF2B5EF4-FFF2-40B4-BE49-F238E27FC236}">
                <a16:creationId xmlns:a16="http://schemas.microsoft.com/office/drawing/2014/main" id="{FF170281-E470-1BB4-5A84-C33708E2A79C}"/>
              </a:ext>
            </a:extLst>
          </p:cNvPr>
          <p:cNvSpPr txBox="1"/>
          <p:nvPr/>
        </p:nvSpPr>
        <p:spPr>
          <a:xfrm>
            <a:off x="6244779" y="1403138"/>
            <a:ext cx="3148497" cy="369332"/>
          </a:xfrm>
          <a:prstGeom prst="rect">
            <a:avLst/>
          </a:prstGeom>
          <a:noFill/>
        </p:spPr>
        <p:txBody>
          <a:bodyPr wrap="square" rtlCol="0">
            <a:spAutoFit/>
          </a:bodyPr>
          <a:lstStyle/>
          <a:p>
            <a:r>
              <a:rPr lang="de-DE" b="1" dirty="0">
                <a:solidFill>
                  <a:schemeClr val="accent2"/>
                </a:solidFill>
                <a:latin typeface="+mj-lt"/>
              </a:rPr>
              <a:t>Absicherung Käufer </a:t>
            </a:r>
            <a:endParaRPr lang="de-CH" b="1" dirty="0">
              <a:solidFill>
                <a:schemeClr val="accent2"/>
              </a:solidFill>
              <a:latin typeface="+mj-lt"/>
            </a:endParaRPr>
          </a:p>
        </p:txBody>
      </p:sp>
    </p:spTree>
    <p:extLst>
      <p:ext uri="{BB962C8B-B14F-4D97-AF65-F5344CB8AC3E}">
        <p14:creationId xmlns:p14="http://schemas.microsoft.com/office/powerpoint/2010/main" val="1116786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Kaufrechte bei Immobilien </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373504" y="1935882"/>
            <a:ext cx="3148497" cy="369332"/>
          </a:xfrm>
          <a:prstGeom prst="rect">
            <a:avLst/>
          </a:prstGeom>
          <a:noFill/>
        </p:spPr>
        <p:txBody>
          <a:bodyPr wrap="square" rtlCol="0">
            <a:spAutoFit/>
          </a:bodyPr>
          <a:lstStyle/>
          <a:p>
            <a:r>
              <a:rPr lang="de-DE" b="1" dirty="0">
                <a:solidFill>
                  <a:schemeClr val="accent2"/>
                </a:solidFill>
                <a:latin typeface="+mj-lt"/>
              </a:rPr>
              <a:t>Vorkaufsrecht</a:t>
            </a:r>
            <a:endParaRPr lang="de-CH" b="1" dirty="0">
              <a:solidFill>
                <a:schemeClr val="accent2"/>
              </a:solidFill>
              <a:latin typeface="+mj-lt"/>
            </a:endParaRPr>
          </a:p>
        </p:txBody>
      </p:sp>
      <p:sp>
        <p:nvSpPr>
          <p:cNvPr id="2" name="Textfeld 1">
            <a:extLst>
              <a:ext uri="{FF2B5EF4-FFF2-40B4-BE49-F238E27FC236}">
                <a16:creationId xmlns:a16="http://schemas.microsoft.com/office/drawing/2014/main" id="{832C0AA2-1971-36E2-82F0-CE71778936F2}"/>
              </a:ext>
            </a:extLst>
          </p:cNvPr>
          <p:cNvSpPr txBox="1"/>
          <p:nvPr/>
        </p:nvSpPr>
        <p:spPr>
          <a:xfrm>
            <a:off x="3940692" y="1935882"/>
            <a:ext cx="3148497" cy="369332"/>
          </a:xfrm>
          <a:prstGeom prst="rect">
            <a:avLst/>
          </a:prstGeom>
          <a:noFill/>
        </p:spPr>
        <p:txBody>
          <a:bodyPr wrap="square" rtlCol="0">
            <a:spAutoFit/>
          </a:bodyPr>
          <a:lstStyle/>
          <a:p>
            <a:r>
              <a:rPr lang="de-DE" b="1" dirty="0">
                <a:solidFill>
                  <a:schemeClr val="accent2"/>
                </a:solidFill>
                <a:latin typeface="+mj-lt"/>
              </a:rPr>
              <a:t>Kaufrecht</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832F0B66-CB89-4ED7-EA15-27B3753F5F71}"/>
              </a:ext>
            </a:extLst>
          </p:cNvPr>
          <p:cNvSpPr txBox="1"/>
          <p:nvPr/>
        </p:nvSpPr>
        <p:spPr>
          <a:xfrm>
            <a:off x="8574280" y="1926186"/>
            <a:ext cx="3148497" cy="369332"/>
          </a:xfrm>
          <a:prstGeom prst="rect">
            <a:avLst/>
          </a:prstGeom>
          <a:noFill/>
        </p:spPr>
        <p:txBody>
          <a:bodyPr wrap="square" rtlCol="0">
            <a:spAutoFit/>
          </a:bodyPr>
          <a:lstStyle/>
          <a:p>
            <a:r>
              <a:rPr lang="de-DE" b="1" dirty="0">
                <a:solidFill>
                  <a:schemeClr val="accent2"/>
                </a:solidFill>
                <a:latin typeface="+mj-lt"/>
              </a:rPr>
              <a:t>Rückkaufrecht </a:t>
            </a:r>
            <a:endParaRPr lang="de-CH" b="1" dirty="0">
              <a:solidFill>
                <a:schemeClr val="accent2"/>
              </a:solidFill>
              <a:latin typeface="+mj-lt"/>
            </a:endParaRPr>
          </a:p>
        </p:txBody>
      </p:sp>
      <p:sp>
        <p:nvSpPr>
          <p:cNvPr id="19" name="Textfeld 18">
            <a:extLst>
              <a:ext uri="{FF2B5EF4-FFF2-40B4-BE49-F238E27FC236}">
                <a16:creationId xmlns:a16="http://schemas.microsoft.com/office/drawing/2014/main" id="{77CACECE-8AA6-2BA6-F829-0B4534A91DD3}"/>
              </a:ext>
            </a:extLst>
          </p:cNvPr>
          <p:cNvSpPr txBox="1"/>
          <p:nvPr/>
        </p:nvSpPr>
        <p:spPr>
          <a:xfrm>
            <a:off x="424111" y="2628971"/>
            <a:ext cx="3243115" cy="523220"/>
          </a:xfrm>
          <a:prstGeom prst="rect">
            <a:avLst/>
          </a:prstGeom>
          <a:noFill/>
        </p:spPr>
        <p:txBody>
          <a:bodyPr wrap="square" rtlCol="0">
            <a:spAutoFit/>
          </a:bodyPr>
          <a:lstStyle/>
          <a:p>
            <a:r>
              <a:rPr lang="de-CH" sz="1400" dirty="0"/>
              <a:t>Vorrecht auf eine Sache, wenn der Eigentümer an einen Dritten verkauft </a:t>
            </a:r>
          </a:p>
        </p:txBody>
      </p:sp>
      <p:sp>
        <p:nvSpPr>
          <p:cNvPr id="21" name="Textfeld 20">
            <a:extLst>
              <a:ext uri="{FF2B5EF4-FFF2-40B4-BE49-F238E27FC236}">
                <a16:creationId xmlns:a16="http://schemas.microsoft.com/office/drawing/2014/main" id="{04A604E2-371C-A140-EB16-B1CD5220C558}"/>
              </a:ext>
            </a:extLst>
          </p:cNvPr>
          <p:cNvSpPr txBox="1"/>
          <p:nvPr/>
        </p:nvSpPr>
        <p:spPr>
          <a:xfrm>
            <a:off x="3917482" y="2499010"/>
            <a:ext cx="4414787" cy="738664"/>
          </a:xfrm>
          <a:prstGeom prst="rect">
            <a:avLst/>
          </a:prstGeom>
          <a:noFill/>
        </p:spPr>
        <p:txBody>
          <a:bodyPr wrap="square">
            <a:spAutoFit/>
          </a:bodyPr>
          <a:lstStyle/>
          <a:p>
            <a:r>
              <a:rPr lang="de-CH" sz="1400" dirty="0"/>
              <a:t>Verpflichtung des belastenden Eigentümers, auf erstes Verlangen dem Kaufrechtsberechtigten zu verkaufen</a:t>
            </a:r>
          </a:p>
        </p:txBody>
      </p:sp>
      <p:sp>
        <p:nvSpPr>
          <p:cNvPr id="23" name="Textfeld 22">
            <a:extLst>
              <a:ext uri="{FF2B5EF4-FFF2-40B4-BE49-F238E27FC236}">
                <a16:creationId xmlns:a16="http://schemas.microsoft.com/office/drawing/2014/main" id="{2486AEA5-50DD-744C-658F-7BACBF41CD6B}"/>
              </a:ext>
            </a:extLst>
          </p:cNvPr>
          <p:cNvSpPr txBox="1"/>
          <p:nvPr/>
        </p:nvSpPr>
        <p:spPr>
          <a:xfrm>
            <a:off x="8590086" y="2476860"/>
            <a:ext cx="3654147" cy="954107"/>
          </a:xfrm>
          <a:prstGeom prst="rect">
            <a:avLst/>
          </a:prstGeom>
          <a:noFill/>
        </p:spPr>
        <p:txBody>
          <a:bodyPr wrap="square">
            <a:spAutoFit/>
          </a:bodyPr>
          <a:lstStyle/>
          <a:p>
            <a:r>
              <a:rPr lang="de-CH" sz="1400" dirty="0"/>
              <a:t>Verpflichtung des Erwerbers, auf erstes Verlangen dem früheren Eigentümer zurück zu verkaufen </a:t>
            </a:r>
          </a:p>
          <a:p>
            <a:r>
              <a:rPr lang="de-CH" sz="1400" dirty="0"/>
              <a:t> </a:t>
            </a:r>
          </a:p>
        </p:txBody>
      </p:sp>
      <p:sp>
        <p:nvSpPr>
          <p:cNvPr id="9" name="Textfeld 8">
            <a:extLst>
              <a:ext uri="{FF2B5EF4-FFF2-40B4-BE49-F238E27FC236}">
                <a16:creationId xmlns:a16="http://schemas.microsoft.com/office/drawing/2014/main" id="{376F423B-C4CE-34B8-8472-945528482285}"/>
              </a:ext>
            </a:extLst>
          </p:cNvPr>
          <p:cNvSpPr txBox="1"/>
          <p:nvPr/>
        </p:nvSpPr>
        <p:spPr>
          <a:xfrm>
            <a:off x="-637755" y="3375446"/>
            <a:ext cx="4159756" cy="307777"/>
          </a:xfrm>
          <a:prstGeom prst="rect">
            <a:avLst/>
          </a:prstGeom>
          <a:noFill/>
        </p:spPr>
        <p:txBody>
          <a:bodyPr wrap="square" rtlCol="0">
            <a:spAutoFit/>
          </a:bodyPr>
          <a:lstStyle/>
          <a:p>
            <a:pPr algn="ctr"/>
            <a:r>
              <a:rPr lang="de-DE" sz="1400" dirty="0">
                <a:solidFill>
                  <a:schemeClr val="accent1"/>
                </a:solidFill>
              </a:rPr>
              <a:t>Limitiertes / unlimitiertes</a:t>
            </a:r>
            <a:endParaRPr lang="de-CH" sz="1400" dirty="0">
              <a:solidFill>
                <a:schemeClr val="accent1"/>
              </a:solidFill>
            </a:endParaRPr>
          </a:p>
        </p:txBody>
      </p:sp>
    </p:spTree>
    <p:extLst>
      <p:ext uri="{BB962C8B-B14F-4D97-AF65-F5344CB8AC3E}">
        <p14:creationId xmlns:p14="http://schemas.microsoft.com/office/powerpoint/2010/main" val="3549962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Gewährleistung beim Immobilienkauf</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F3403A96-4782-766A-DD3F-45D24EBA7062}"/>
              </a:ext>
            </a:extLst>
          </p:cNvPr>
          <p:cNvSpPr txBox="1"/>
          <p:nvPr/>
        </p:nvSpPr>
        <p:spPr>
          <a:xfrm>
            <a:off x="373504" y="1935882"/>
            <a:ext cx="3148497" cy="369332"/>
          </a:xfrm>
          <a:prstGeom prst="rect">
            <a:avLst/>
          </a:prstGeom>
          <a:noFill/>
        </p:spPr>
        <p:txBody>
          <a:bodyPr wrap="square" rtlCol="0">
            <a:spAutoFit/>
          </a:bodyPr>
          <a:lstStyle/>
          <a:p>
            <a:r>
              <a:rPr lang="de-DE" b="1" dirty="0">
                <a:solidFill>
                  <a:schemeClr val="accent2"/>
                </a:solidFill>
                <a:latin typeface="+mj-lt"/>
              </a:rPr>
              <a:t>Rechtsmängel</a:t>
            </a:r>
            <a:endParaRPr lang="de-CH" b="1" dirty="0">
              <a:solidFill>
                <a:schemeClr val="accent2"/>
              </a:solidFill>
              <a:latin typeface="+mj-lt"/>
            </a:endParaRPr>
          </a:p>
        </p:txBody>
      </p:sp>
      <p:sp>
        <p:nvSpPr>
          <p:cNvPr id="2" name="Textfeld 1">
            <a:extLst>
              <a:ext uri="{FF2B5EF4-FFF2-40B4-BE49-F238E27FC236}">
                <a16:creationId xmlns:a16="http://schemas.microsoft.com/office/drawing/2014/main" id="{832C0AA2-1971-36E2-82F0-CE71778936F2}"/>
              </a:ext>
            </a:extLst>
          </p:cNvPr>
          <p:cNvSpPr txBox="1"/>
          <p:nvPr/>
        </p:nvSpPr>
        <p:spPr>
          <a:xfrm>
            <a:off x="3940692" y="1935882"/>
            <a:ext cx="3148497" cy="369332"/>
          </a:xfrm>
          <a:prstGeom prst="rect">
            <a:avLst/>
          </a:prstGeom>
          <a:noFill/>
        </p:spPr>
        <p:txBody>
          <a:bodyPr wrap="square" rtlCol="0">
            <a:spAutoFit/>
          </a:bodyPr>
          <a:lstStyle/>
          <a:p>
            <a:r>
              <a:rPr lang="de-DE" b="1" dirty="0">
                <a:solidFill>
                  <a:schemeClr val="accent2"/>
                </a:solidFill>
                <a:latin typeface="+mj-lt"/>
              </a:rPr>
              <a:t>Sachmängel </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832F0B66-CB89-4ED7-EA15-27B3753F5F71}"/>
              </a:ext>
            </a:extLst>
          </p:cNvPr>
          <p:cNvSpPr txBox="1"/>
          <p:nvPr/>
        </p:nvSpPr>
        <p:spPr>
          <a:xfrm>
            <a:off x="8574280" y="1926186"/>
            <a:ext cx="3148497" cy="369332"/>
          </a:xfrm>
          <a:prstGeom prst="rect">
            <a:avLst/>
          </a:prstGeom>
          <a:noFill/>
        </p:spPr>
        <p:txBody>
          <a:bodyPr wrap="square" rtlCol="0">
            <a:spAutoFit/>
          </a:bodyPr>
          <a:lstStyle/>
          <a:p>
            <a:r>
              <a:rPr lang="de-DE" b="1" dirty="0">
                <a:solidFill>
                  <a:schemeClr val="accent2"/>
                </a:solidFill>
                <a:latin typeface="+mj-lt"/>
              </a:rPr>
              <a:t>Wegbedingung</a:t>
            </a:r>
            <a:endParaRPr lang="de-CH" b="1" dirty="0">
              <a:solidFill>
                <a:schemeClr val="accent2"/>
              </a:solidFill>
              <a:latin typeface="+mj-lt"/>
            </a:endParaRPr>
          </a:p>
        </p:txBody>
      </p:sp>
      <p:sp>
        <p:nvSpPr>
          <p:cNvPr id="19" name="Textfeld 18">
            <a:extLst>
              <a:ext uri="{FF2B5EF4-FFF2-40B4-BE49-F238E27FC236}">
                <a16:creationId xmlns:a16="http://schemas.microsoft.com/office/drawing/2014/main" id="{77CACECE-8AA6-2BA6-F829-0B4534A91DD3}"/>
              </a:ext>
            </a:extLst>
          </p:cNvPr>
          <p:cNvSpPr txBox="1"/>
          <p:nvPr/>
        </p:nvSpPr>
        <p:spPr>
          <a:xfrm>
            <a:off x="424111" y="2628971"/>
            <a:ext cx="3243115" cy="1600438"/>
          </a:xfrm>
          <a:prstGeom prst="rect">
            <a:avLst/>
          </a:prstGeom>
          <a:noFill/>
        </p:spPr>
        <p:txBody>
          <a:bodyPr wrap="square" rtlCol="0">
            <a:spAutoFit/>
          </a:bodyPr>
          <a:lstStyle/>
          <a:p>
            <a:r>
              <a:rPr lang="de-CH" sz="1400" dirty="0"/>
              <a:t>Der Verkäufer hat Gewähr dafür zu leisten, dass nicht ein Dritter aus Rechtsgründen, die schon zur Zeit des Vertragsabschlusses bestanden haben, den Kaufgegenstand dem Käufer ganz oder teilweise entzieht (Art. 192 Abs. 1 OR)</a:t>
            </a:r>
          </a:p>
        </p:txBody>
      </p:sp>
      <p:sp>
        <p:nvSpPr>
          <p:cNvPr id="21" name="Textfeld 20">
            <a:extLst>
              <a:ext uri="{FF2B5EF4-FFF2-40B4-BE49-F238E27FC236}">
                <a16:creationId xmlns:a16="http://schemas.microsoft.com/office/drawing/2014/main" id="{04A604E2-371C-A140-EB16-B1CD5220C558}"/>
              </a:ext>
            </a:extLst>
          </p:cNvPr>
          <p:cNvSpPr txBox="1"/>
          <p:nvPr/>
        </p:nvSpPr>
        <p:spPr>
          <a:xfrm>
            <a:off x="3917482" y="2499010"/>
            <a:ext cx="4414787" cy="1384995"/>
          </a:xfrm>
          <a:prstGeom prst="rect">
            <a:avLst/>
          </a:prstGeom>
          <a:noFill/>
        </p:spPr>
        <p:txBody>
          <a:bodyPr wrap="square">
            <a:spAutoFit/>
          </a:bodyPr>
          <a:lstStyle/>
          <a:p>
            <a:r>
              <a:rPr lang="de-CH" sz="1400" dirty="0"/>
              <a:t>Der Verkäufer haftet dem Käufer sowohl für die zugesicherten Eigenschaften als auch dafür, dass die Sache weder körperliche noch rechtliche Mängel hat, die ihren Wert oder ihre Tauglichkeit zu dem vorausgesetzten Gebrauch aufheben oder erheblich mindern (Art. 197 Abs. 1 OR). </a:t>
            </a:r>
          </a:p>
        </p:txBody>
      </p:sp>
      <p:sp>
        <p:nvSpPr>
          <p:cNvPr id="23" name="Textfeld 22">
            <a:extLst>
              <a:ext uri="{FF2B5EF4-FFF2-40B4-BE49-F238E27FC236}">
                <a16:creationId xmlns:a16="http://schemas.microsoft.com/office/drawing/2014/main" id="{2486AEA5-50DD-744C-658F-7BACBF41CD6B}"/>
              </a:ext>
            </a:extLst>
          </p:cNvPr>
          <p:cNvSpPr txBox="1"/>
          <p:nvPr/>
        </p:nvSpPr>
        <p:spPr>
          <a:xfrm>
            <a:off x="8590086" y="2476860"/>
            <a:ext cx="3654147" cy="2462213"/>
          </a:xfrm>
          <a:prstGeom prst="rect">
            <a:avLst/>
          </a:prstGeom>
          <a:noFill/>
        </p:spPr>
        <p:txBody>
          <a:bodyPr wrap="square">
            <a:spAutoFit/>
          </a:bodyPr>
          <a:lstStyle/>
          <a:p>
            <a:r>
              <a:rPr lang="de-CH" sz="1400" dirty="0"/>
              <a:t>Wird die Gewährleistung wegbedungen, trägt der Käufer das Risiko der oben bezeichneten Rechtsund Sachmängel allein. In diesem Fall kann der Verkäufer nur noch für arglistig verschwiegene Mängel haftbar gemacht werden. Die Wegbedingung der Gewährleistung ist sehr weit verbreitet. Trotzdem hat die Urkundsperson den Käufer bei der Beurkundung auf die Risiken aufmerksam zu machen.  </a:t>
            </a:r>
          </a:p>
        </p:txBody>
      </p:sp>
      <p:sp>
        <p:nvSpPr>
          <p:cNvPr id="9" name="Textfeld 8">
            <a:extLst>
              <a:ext uri="{FF2B5EF4-FFF2-40B4-BE49-F238E27FC236}">
                <a16:creationId xmlns:a16="http://schemas.microsoft.com/office/drawing/2014/main" id="{52569F74-3CD3-31D7-5131-3FE3BA3E7263}"/>
              </a:ext>
            </a:extLst>
          </p:cNvPr>
          <p:cNvSpPr txBox="1"/>
          <p:nvPr/>
        </p:nvSpPr>
        <p:spPr>
          <a:xfrm>
            <a:off x="514816" y="984771"/>
            <a:ext cx="10478219" cy="523220"/>
          </a:xfrm>
          <a:prstGeom prst="rect">
            <a:avLst/>
          </a:prstGeom>
          <a:noFill/>
        </p:spPr>
        <p:txBody>
          <a:bodyPr wrap="square">
            <a:spAutoFit/>
          </a:bodyPr>
          <a:lstStyle/>
          <a:p>
            <a:r>
              <a:rPr lang="de-CH" sz="1400" dirty="0"/>
              <a:t>Bei der Gewährleistung geht es um die Haftung des Verkäufers für Mängel am Kaufobjekt (Grundstück). Man unterscheidet dabei zwischen Rechts- und Sachmängeln.</a:t>
            </a:r>
          </a:p>
        </p:txBody>
      </p:sp>
      <p:sp>
        <p:nvSpPr>
          <p:cNvPr id="10" name="Textfeld 9">
            <a:extLst>
              <a:ext uri="{FF2B5EF4-FFF2-40B4-BE49-F238E27FC236}">
                <a16:creationId xmlns:a16="http://schemas.microsoft.com/office/drawing/2014/main" id="{74DFC492-D272-E4ED-328D-D69BEFA0E81C}"/>
              </a:ext>
            </a:extLst>
          </p:cNvPr>
          <p:cNvSpPr txBox="1"/>
          <p:nvPr/>
        </p:nvSpPr>
        <p:spPr>
          <a:xfrm>
            <a:off x="2894927" y="4056235"/>
            <a:ext cx="4159756" cy="307777"/>
          </a:xfrm>
          <a:prstGeom prst="rect">
            <a:avLst/>
          </a:prstGeom>
          <a:noFill/>
        </p:spPr>
        <p:txBody>
          <a:bodyPr wrap="square" rtlCol="0">
            <a:spAutoFit/>
          </a:bodyPr>
          <a:lstStyle/>
          <a:p>
            <a:pPr algn="ctr"/>
            <a:r>
              <a:rPr lang="de-DE" sz="1400" dirty="0">
                <a:solidFill>
                  <a:schemeClr val="accent1"/>
                </a:solidFill>
              </a:rPr>
              <a:t>Wandelung / Minderung </a:t>
            </a:r>
            <a:endParaRPr lang="de-CH" sz="1400" dirty="0">
              <a:solidFill>
                <a:schemeClr val="accent1"/>
              </a:solidFill>
            </a:endParaRPr>
          </a:p>
        </p:txBody>
      </p:sp>
    </p:spTree>
    <p:extLst>
      <p:ext uri="{BB962C8B-B14F-4D97-AF65-F5344CB8AC3E}">
        <p14:creationId xmlns:p14="http://schemas.microsoft.com/office/powerpoint/2010/main" val="3612486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Ermittlung Neubaukosten</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3" name="Textfeld 22">
            <a:extLst>
              <a:ext uri="{FF2B5EF4-FFF2-40B4-BE49-F238E27FC236}">
                <a16:creationId xmlns:a16="http://schemas.microsoft.com/office/drawing/2014/main" id="{2486AEA5-50DD-744C-658F-7BACBF41CD6B}"/>
              </a:ext>
            </a:extLst>
          </p:cNvPr>
          <p:cNvSpPr txBox="1"/>
          <p:nvPr/>
        </p:nvSpPr>
        <p:spPr>
          <a:xfrm>
            <a:off x="6096000" y="1938506"/>
            <a:ext cx="3654147" cy="1384995"/>
          </a:xfrm>
          <a:prstGeom prst="rect">
            <a:avLst/>
          </a:prstGeom>
          <a:noFill/>
        </p:spPr>
        <p:txBody>
          <a:bodyPr wrap="square">
            <a:spAutoFit/>
          </a:bodyPr>
          <a:lstStyle/>
          <a:p>
            <a:pPr marL="285750" indent="-285750">
              <a:buFont typeface="Arial" panose="020B0604020202020204" pitchFamily="34" charset="0"/>
              <a:buChar char="•"/>
            </a:pPr>
            <a:r>
              <a:rPr lang="de-CH" sz="1400" dirty="0"/>
              <a:t>Umgebungsfläche </a:t>
            </a:r>
          </a:p>
          <a:p>
            <a:pPr marL="285750" indent="-285750">
              <a:buFont typeface="Arial" panose="020B0604020202020204" pitchFamily="34" charset="0"/>
              <a:buChar char="•"/>
            </a:pPr>
            <a:r>
              <a:rPr lang="de-CH" sz="1400" dirty="0"/>
              <a:t>Standard </a:t>
            </a:r>
          </a:p>
          <a:p>
            <a:pPr marL="285750" indent="-285750">
              <a:buFont typeface="Arial" panose="020B0604020202020204" pitchFamily="34" charset="0"/>
              <a:buChar char="•"/>
            </a:pPr>
            <a:r>
              <a:rPr lang="de-CH" sz="1400" dirty="0"/>
              <a:t>Ansätze pro m2	</a:t>
            </a:r>
          </a:p>
          <a:p>
            <a:pPr marL="742950" lvl="1" indent="-285750">
              <a:buFont typeface="Arial" panose="020B0604020202020204" pitchFamily="34" charset="0"/>
              <a:buChar char="•"/>
            </a:pPr>
            <a:r>
              <a:rPr lang="de-CH" sz="1400" dirty="0"/>
              <a:t>80.-/m2 Einfacher Standard </a:t>
            </a:r>
          </a:p>
          <a:p>
            <a:pPr marL="742950" lvl="1" indent="-285750">
              <a:buFont typeface="Arial" panose="020B0604020202020204" pitchFamily="34" charset="0"/>
              <a:buChar char="•"/>
            </a:pPr>
            <a:r>
              <a:rPr lang="de-CH" sz="1400" dirty="0"/>
              <a:t>120.-/m2 Mittlerer Standard </a:t>
            </a:r>
          </a:p>
          <a:p>
            <a:pPr marL="742950" lvl="1" indent="-285750">
              <a:buFont typeface="Arial" panose="020B0604020202020204" pitchFamily="34" charset="0"/>
              <a:buChar char="•"/>
            </a:pPr>
            <a:r>
              <a:rPr lang="de-CH" sz="1400" dirty="0"/>
              <a:t>160.-/m2 Guter Standard</a:t>
            </a:r>
          </a:p>
        </p:txBody>
      </p:sp>
      <p:sp>
        <p:nvSpPr>
          <p:cNvPr id="8" name="Rechteck 7">
            <a:extLst>
              <a:ext uri="{FF2B5EF4-FFF2-40B4-BE49-F238E27FC236}">
                <a16:creationId xmlns:a16="http://schemas.microsoft.com/office/drawing/2014/main" id="{C8EE6F83-DEA0-7FB2-17B8-25D3FB51B957}"/>
              </a:ext>
            </a:extLst>
          </p:cNvPr>
          <p:cNvSpPr/>
          <p:nvPr/>
        </p:nvSpPr>
        <p:spPr>
          <a:xfrm>
            <a:off x="667109" y="1397479"/>
            <a:ext cx="4474234" cy="40889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 name="Textfeld 10">
            <a:extLst>
              <a:ext uri="{FF2B5EF4-FFF2-40B4-BE49-F238E27FC236}">
                <a16:creationId xmlns:a16="http://schemas.microsoft.com/office/drawing/2014/main" id="{4C5CEC69-4F42-A24A-3F2F-A4025A67FE89}"/>
              </a:ext>
            </a:extLst>
          </p:cNvPr>
          <p:cNvSpPr txBox="1"/>
          <p:nvPr/>
        </p:nvSpPr>
        <p:spPr>
          <a:xfrm>
            <a:off x="801344" y="1514104"/>
            <a:ext cx="2902263" cy="307777"/>
          </a:xfrm>
          <a:prstGeom prst="rect">
            <a:avLst/>
          </a:prstGeom>
          <a:noFill/>
        </p:spPr>
        <p:txBody>
          <a:bodyPr wrap="square" rtlCol="0">
            <a:spAutoFit/>
          </a:bodyPr>
          <a:lstStyle/>
          <a:p>
            <a:r>
              <a:rPr lang="de-DE" sz="1400" b="1" dirty="0">
                <a:solidFill>
                  <a:schemeClr val="accent1"/>
                </a:solidFill>
              </a:rPr>
              <a:t>Gebäudekosten BKP 2</a:t>
            </a:r>
            <a:endParaRPr lang="de-CH" sz="1400" b="1" dirty="0">
              <a:solidFill>
                <a:schemeClr val="accent1"/>
              </a:solidFill>
            </a:endParaRPr>
          </a:p>
        </p:txBody>
      </p:sp>
      <p:sp>
        <p:nvSpPr>
          <p:cNvPr id="12" name="Textfeld 11">
            <a:extLst>
              <a:ext uri="{FF2B5EF4-FFF2-40B4-BE49-F238E27FC236}">
                <a16:creationId xmlns:a16="http://schemas.microsoft.com/office/drawing/2014/main" id="{99EC3D8E-6AD7-5F41-0A88-32E277A05C3C}"/>
              </a:ext>
            </a:extLst>
          </p:cNvPr>
          <p:cNvSpPr txBox="1"/>
          <p:nvPr/>
        </p:nvSpPr>
        <p:spPr>
          <a:xfrm>
            <a:off x="801344" y="1938506"/>
            <a:ext cx="3654147" cy="2031325"/>
          </a:xfrm>
          <a:prstGeom prst="rect">
            <a:avLst/>
          </a:prstGeom>
          <a:noFill/>
        </p:spPr>
        <p:txBody>
          <a:bodyPr wrap="square">
            <a:spAutoFit/>
          </a:bodyPr>
          <a:lstStyle/>
          <a:p>
            <a:pPr marL="285750" indent="-285750">
              <a:buFont typeface="Arial" panose="020B0604020202020204" pitchFamily="34" charset="0"/>
              <a:buChar char="•"/>
            </a:pPr>
            <a:r>
              <a:rPr lang="de-CH" sz="1400" dirty="0"/>
              <a:t>Gebäudevolumen </a:t>
            </a:r>
          </a:p>
          <a:p>
            <a:pPr marL="285750" indent="-285750">
              <a:buFont typeface="Arial" panose="020B0604020202020204" pitchFamily="34" charset="0"/>
              <a:buChar char="•"/>
            </a:pPr>
            <a:r>
              <a:rPr lang="de-CH" sz="1400" dirty="0"/>
              <a:t>Standard </a:t>
            </a:r>
          </a:p>
          <a:p>
            <a:pPr marL="285750" indent="-285750">
              <a:buFont typeface="Arial" panose="020B0604020202020204" pitchFamily="34" charset="0"/>
              <a:buChar char="•"/>
            </a:pPr>
            <a:r>
              <a:rPr lang="de-CH" sz="1400" dirty="0"/>
              <a:t>Ansätze pro m3</a:t>
            </a:r>
          </a:p>
          <a:p>
            <a:pPr marL="742950" lvl="1" indent="-285750">
              <a:buFont typeface="Arial" panose="020B0604020202020204" pitchFamily="34" charset="0"/>
              <a:buChar char="•"/>
            </a:pPr>
            <a:r>
              <a:rPr lang="de-CH" sz="1400" dirty="0"/>
              <a:t>650.-/m3 Einfacher Standard </a:t>
            </a:r>
          </a:p>
          <a:p>
            <a:pPr marL="742950" lvl="1" indent="-285750">
              <a:buFont typeface="Arial" panose="020B0604020202020204" pitchFamily="34" charset="0"/>
              <a:buChar char="•"/>
            </a:pPr>
            <a:r>
              <a:rPr lang="de-CH" sz="1400" dirty="0"/>
              <a:t>740.-/m3 Mittlerer Standard </a:t>
            </a:r>
          </a:p>
          <a:p>
            <a:pPr marL="742950" lvl="1" indent="-285750">
              <a:buFont typeface="Arial" panose="020B0604020202020204" pitchFamily="34" charset="0"/>
              <a:buChar char="•"/>
            </a:pPr>
            <a:r>
              <a:rPr lang="de-CH" sz="1400" dirty="0"/>
              <a:t>820.-/m3 Guter Standard </a:t>
            </a:r>
          </a:p>
          <a:p>
            <a:pPr marL="742950" lvl="1" indent="-285750">
              <a:buFont typeface="Arial" panose="020B0604020202020204" pitchFamily="34" charset="0"/>
              <a:buChar char="•"/>
            </a:pPr>
            <a:r>
              <a:rPr lang="de-CH" sz="1400" dirty="0"/>
              <a:t>900.-/m3 Sehr guter Standard</a:t>
            </a:r>
          </a:p>
          <a:p>
            <a:pPr marL="742950" lvl="1" indent="-285750">
              <a:buFont typeface="Arial" panose="020B0604020202020204" pitchFamily="34" charset="0"/>
              <a:buChar char="•"/>
            </a:pPr>
            <a:r>
              <a:rPr lang="de-CH" sz="1400" dirty="0"/>
              <a:t>Ab 1’000.-/m3 Luxus </a:t>
            </a:r>
            <a:r>
              <a:rPr lang="de-CH" sz="1400" dirty="0" err="1"/>
              <a:t>Standart</a:t>
            </a:r>
            <a:r>
              <a:rPr lang="de-CH" sz="1400" dirty="0"/>
              <a:t>  </a:t>
            </a:r>
          </a:p>
          <a:p>
            <a:endParaRPr lang="de-CH" sz="1400" dirty="0"/>
          </a:p>
        </p:txBody>
      </p:sp>
      <p:sp>
        <p:nvSpPr>
          <p:cNvPr id="13" name="Rechteck 12">
            <a:extLst>
              <a:ext uri="{FF2B5EF4-FFF2-40B4-BE49-F238E27FC236}">
                <a16:creationId xmlns:a16="http://schemas.microsoft.com/office/drawing/2014/main" id="{E8196DD8-3396-FCE2-A469-2F4B06BA0A03}"/>
              </a:ext>
            </a:extLst>
          </p:cNvPr>
          <p:cNvSpPr/>
          <p:nvPr/>
        </p:nvSpPr>
        <p:spPr>
          <a:xfrm>
            <a:off x="5765321" y="1397479"/>
            <a:ext cx="4474234" cy="27086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4" name="Textfeld 13">
            <a:extLst>
              <a:ext uri="{FF2B5EF4-FFF2-40B4-BE49-F238E27FC236}">
                <a16:creationId xmlns:a16="http://schemas.microsoft.com/office/drawing/2014/main" id="{06817F3B-7DD1-A835-E863-E83002630CD5}"/>
              </a:ext>
            </a:extLst>
          </p:cNvPr>
          <p:cNvSpPr txBox="1"/>
          <p:nvPr/>
        </p:nvSpPr>
        <p:spPr>
          <a:xfrm>
            <a:off x="5813291" y="1514104"/>
            <a:ext cx="2902263" cy="307777"/>
          </a:xfrm>
          <a:prstGeom prst="rect">
            <a:avLst/>
          </a:prstGeom>
          <a:noFill/>
        </p:spPr>
        <p:txBody>
          <a:bodyPr wrap="square" rtlCol="0">
            <a:spAutoFit/>
          </a:bodyPr>
          <a:lstStyle/>
          <a:p>
            <a:r>
              <a:rPr lang="de-DE" sz="1400" b="1" dirty="0">
                <a:solidFill>
                  <a:schemeClr val="accent1"/>
                </a:solidFill>
              </a:rPr>
              <a:t>Umgebungskosten BKP 4</a:t>
            </a:r>
            <a:endParaRPr lang="de-CH" sz="1400" b="1" dirty="0">
              <a:solidFill>
                <a:schemeClr val="accent1"/>
              </a:solidFill>
            </a:endParaRPr>
          </a:p>
        </p:txBody>
      </p:sp>
      <p:sp>
        <p:nvSpPr>
          <p:cNvPr id="15" name="Rechteck 14">
            <a:extLst>
              <a:ext uri="{FF2B5EF4-FFF2-40B4-BE49-F238E27FC236}">
                <a16:creationId xmlns:a16="http://schemas.microsoft.com/office/drawing/2014/main" id="{EE441EF2-B1CF-31E0-E8BC-E72498FFDD50}"/>
              </a:ext>
            </a:extLst>
          </p:cNvPr>
          <p:cNvSpPr/>
          <p:nvPr/>
        </p:nvSpPr>
        <p:spPr>
          <a:xfrm>
            <a:off x="5777972" y="4347713"/>
            <a:ext cx="4474234" cy="11343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 name="Textfeld 15">
            <a:extLst>
              <a:ext uri="{FF2B5EF4-FFF2-40B4-BE49-F238E27FC236}">
                <a16:creationId xmlns:a16="http://schemas.microsoft.com/office/drawing/2014/main" id="{97066DF2-B7BC-1EBB-25DA-92AA49C8A010}"/>
              </a:ext>
            </a:extLst>
          </p:cNvPr>
          <p:cNvSpPr txBox="1"/>
          <p:nvPr/>
        </p:nvSpPr>
        <p:spPr>
          <a:xfrm>
            <a:off x="5908182" y="4490639"/>
            <a:ext cx="2902263" cy="307777"/>
          </a:xfrm>
          <a:prstGeom prst="rect">
            <a:avLst/>
          </a:prstGeom>
          <a:noFill/>
        </p:spPr>
        <p:txBody>
          <a:bodyPr wrap="square" rtlCol="0">
            <a:spAutoFit/>
          </a:bodyPr>
          <a:lstStyle/>
          <a:p>
            <a:r>
              <a:rPr lang="de-DE" sz="1400" b="1" dirty="0">
                <a:solidFill>
                  <a:schemeClr val="accent1"/>
                </a:solidFill>
              </a:rPr>
              <a:t>Baunebenkosten BKP 5</a:t>
            </a:r>
            <a:endParaRPr lang="de-CH" sz="1400" b="1" dirty="0">
              <a:solidFill>
                <a:schemeClr val="accent1"/>
              </a:solidFill>
            </a:endParaRPr>
          </a:p>
        </p:txBody>
      </p:sp>
      <p:sp>
        <p:nvSpPr>
          <p:cNvPr id="17" name="Textfeld 16">
            <a:extLst>
              <a:ext uri="{FF2B5EF4-FFF2-40B4-BE49-F238E27FC236}">
                <a16:creationId xmlns:a16="http://schemas.microsoft.com/office/drawing/2014/main" id="{DDA0D1B6-19D8-329F-9E0F-000BE58E54FA}"/>
              </a:ext>
            </a:extLst>
          </p:cNvPr>
          <p:cNvSpPr txBox="1"/>
          <p:nvPr/>
        </p:nvSpPr>
        <p:spPr>
          <a:xfrm>
            <a:off x="6038490" y="4886066"/>
            <a:ext cx="3654147" cy="307777"/>
          </a:xfrm>
          <a:prstGeom prst="rect">
            <a:avLst/>
          </a:prstGeom>
          <a:noFill/>
        </p:spPr>
        <p:txBody>
          <a:bodyPr wrap="square">
            <a:spAutoFit/>
          </a:bodyPr>
          <a:lstStyle/>
          <a:p>
            <a:pPr marL="285750" indent="-285750">
              <a:buFont typeface="Arial" panose="020B0604020202020204" pitchFamily="34" charset="0"/>
              <a:buChar char="•"/>
            </a:pPr>
            <a:r>
              <a:rPr lang="de-CH" sz="1400" dirty="0"/>
              <a:t>10% von BKP 2</a:t>
            </a:r>
          </a:p>
        </p:txBody>
      </p:sp>
    </p:spTree>
    <p:extLst>
      <p:ext uri="{BB962C8B-B14F-4D97-AF65-F5344CB8AC3E}">
        <p14:creationId xmlns:p14="http://schemas.microsoft.com/office/powerpoint/2010/main" val="1516715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Wärmeerzeugung</a:t>
            </a:r>
            <a:endParaRPr lang="de-CH" sz="10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75DA249C-0C0E-F13C-E6DF-7A45BFE225D7}"/>
              </a:ext>
            </a:extLst>
          </p:cNvPr>
          <p:cNvSpPr txBox="1"/>
          <p:nvPr/>
        </p:nvSpPr>
        <p:spPr>
          <a:xfrm>
            <a:off x="597792" y="1470056"/>
            <a:ext cx="1771598" cy="369332"/>
          </a:xfrm>
          <a:prstGeom prst="rect">
            <a:avLst/>
          </a:prstGeom>
          <a:noFill/>
        </p:spPr>
        <p:txBody>
          <a:bodyPr wrap="square" rtlCol="0">
            <a:spAutoFit/>
          </a:bodyPr>
          <a:lstStyle/>
          <a:p>
            <a:r>
              <a:rPr lang="de-DE" b="1" dirty="0">
                <a:solidFill>
                  <a:schemeClr val="accent2"/>
                </a:solidFill>
                <a:latin typeface="+mj-lt"/>
              </a:rPr>
              <a:t>Gasheizung </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6FD2179A-E151-8AAF-7AB5-2422154E169C}"/>
              </a:ext>
            </a:extLst>
          </p:cNvPr>
          <p:cNvSpPr txBox="1"/>
          <p:nvPr/>
        </p:nvSpPr>
        <p:spPr>
          <a:xfrm>
            <a:off x="597792" y="2429828"/>
            <a:ext cx="1771598" cy="369332"/>
          </a:xfrm>
          <a:prstGeom prst="rect">
            <a:avLst/>
          </a:prstGeom>
          <a:noFill/>
        </p:spPr>
        <p:txBody>
          <a:bodyPr wrap="square" rtlCol="0">
            <a:spAutoFit/>
          </a:bodyPr>
          <a:lstStyle/>
          <a:p>
            <a:r>
              <a:rPr lang="de-DE" b="1" dirty="0">
                <a:solidFill>
                  <a:schemeClr val="accent2"/>
                </a:solidFill>
                <a:latin typeface="+mj-lt"/>
              </a:rPr>
              <a:t>Ölheizung</a:t>
            </a:r>
            <a:endParaRPr lang="de-CH" b="1" dirty="0">
              <a:solidFill>
                <a:schemeClr val="accent2"/>
              </a:solidFill>
              <a:latin typeface="+mj-lt"/>
            </a:endParaRPr>
          </a:p>
        </p:txBody>
      </p:sp>
      <p:sp>
        <p:nvSpPr>
          <p:cNvPr id="4" name="Textfeld 3">
            <a:extLst>
              <a:ext uri="{FF2B5EF4-FFF2-40B4-BE49-F238E27FC236}">
                <a16:creationId xmlns:a16="http://schemas.microsoft.com/office/drawing/2014/main" id="{25247B1C-9CE4-01C2-100E-1EA19CD208E4}"/>
              </a:ext>
            </a:extLst>
          </p:cNvPr>
          <p:cNvSpPr txBox="1"/>
          <p:nvPr/>
        </p:nvSpPr>
        <p:spPr>
          <a:xfrm>
            <a:off x="597792" y="3486438"/>
            <a:ext cx="2404200" cy="369332"/>
          </a:xfrm>
          <a:prstGeom prst="rect">
            <a:avLst/>
          </a:prstGeom>
          <a:noFill/>
        </p:spPr>
        <p:txBody>
          <a:bodyPr wrap="square" rtlCol="0">
            <a:spAutoFit/>
          </a:bodyPr>
          <a:lstStyle/>
          <a:p>
            <a:r>
              <a:rPr lang="de-DE" b="1" dirty="0">
                <a:solidFill>
                  <a:schemeClr val="accent2"/>
                </a:solidFill>
                <a:latin typeface="+mj-lt"/>
              </a:rPr>
              <a:t>Schnitzelheizung</a:t>
            </a:r>
            <a:endParaRPr lang="de-CH" b="1" dirty="0">
              <a:solidFill>
                <a:schemeClr val="accent2"/>
              </a:solidFill>
              <a:latin typeface="+mj-lt"/>
            </a:endParaRPr>
          </a:p>
        </p:txBody>
      </p:sp>
      <p:sp>
        <p:nvSpPr>
          <p:cNvPr id="9" name="Textfeld 8">
            <a:extLst>
              <a:ext uri="{FF2B5EF4-FFF2-40B4-BE49-F238E27FC236}">
                <a16:creationId xmlns:a16="http://schemas.microsoft.com/office/drawing/2014/main" id="{B245CF2B-0D86-B3C6-3C45-23097CC95FD6}"/>
              </a:ext>
            </a:extLst>
          </p:cNvPr>
          <p:cNvSpPr txBox="1"/>
          <p:nvPr/>
        </p:nvSpPr>
        <p:spPr>
          <a:xfrm>
            <a:off x="638049" y="4624175"/>
            <a:ext cx="2404200" cy="369332"/>
          </a:xfrm>
          <a:prstGeom prst="rect">
            <a:avLst/>
          </a:prstGeom>
          <a:noFill/>
        </p:spPr>
        <p:txBody>
          <a:bodyPr wrap="square" rtlCol="0">
            <a:spAutoFit/>
          </a:bodyPr>
          <a:lstStyle/>
          <a:p>
            <a:r>
              <a:rPr lang="de-DE" b="1" dirty="0">
                <a:solidFill>
                  <a:schemeClr val="accent2"/>
                </a:solidFill>
                <a:latin typeface="+mj-lt"/>
              </a:rPr>
              <a:t>Pelletheizung</a:t>
            </a:r>
            <a:endParaRPr lang="de-CH" b="1" dirty="0">
              <a:solidFill>
                <a:schemeClr val="accent2"/>
              </a:solidFill>
              <a:latin typeface="+mj-lt"/>
            </a:endParaRPr>
          </a:p>
        </p:txBody>
      </p:sp>
      <p:sp>
        <p:nvSpPr>
          <p:cNvPr id="10" name="Textfeld 9">
            <a:extLst>
              <a:ext uri="{FF2B5EF4-FFF2-40B4-BE49-F238E27FC236}">
                <a16:creationId xmlns:a16="http://schemas.microsoft.com/office/drawing/2014/main" id="{5C493E42-D63A-7D09-690A-EAFD5E553832}"/>
              </a:ext>
            </a:extLst>
          </p:cNvPr>
          <p:cNvSpPr txBox="1"/>
          <p:nvPr/>
        </p:nvSpPr>
        <p:spPr>
          <a:xfrm>
            <a:off x="3667443" y="1470056"/>
            <a:ext cx="2404200" cy="369332"/>
          </a:xfrm>
          <a:prstGeom prst="rect">
            <a:avLst/>
          </a:prstGeom>
          <a:noFill/>
        </p:spPr>
        <p:txBody>
          <a:bodyPr wrap="square" rtlCol="0">
            <a:spAutoFit/>
          </a:bodyPr>
          <a:lstStyle/>
          <a:p>
            <a:r>
              <a:rPr lang="de-DE" b="1" dirty="0">
                <a:solidFill>
                  <a:schemeClr val="accent2"/>
                </a:solidFill>
                <a:latin typeface="+mj-lt"/>
              </a:rPr>
              <a:t>Wärmepumpe Luft </a:t>
            </a:r>
            <a:endParaRPr lang="de-CH" b="1" dirty="0">
              <a:solidFill>
                <a:schemeClr val="accent2"/>
              </a:solidFill>
              <a:latin typeface="+mj-lt"/>
            </a:endParaRPr>
          </a:p>
        </p:txBody>
      </p:sp>
      <p:sp>
        <p:nvSpPr>
          <p:cNvPr id="18" name="Textfeld 17">
            <a:extLst>
              <a:ext uri="{FF2B5EF4-FFF2-40B4-BE49-F238E27FC236}">
                <a16:creationId xmlns:a16="http://schemas.microsoft.com/office/drawing/2014/main" id="{0D1B6B4E-31B3-31B5-7664-9ADB78A6F6A1}"/>
              </a:ext>
            </a:extLst>
          </p:cNvPr>
          <p:cNvSpPr txBox="1"/>
          <p:nvPr/>
        </p:nvSpPr>
        <p:spPr>
          <a:xfrm>
            <a:off x="7820613" y="1462318"/>
            <a:ext cx="2973710" cy="369332"/>
          </a:xfrm>
          <a:prstGeom prst="rect">
            <a:avLst/>
          </a:prstGeom>
          <a:noFill/>
        </p:spPr>
        <p:txBody>
          <a:bodyPr wrap="square" rtlCol="0">
            <a:spAutoFit/>
          </a:bodyPr>
          <a:lstStyle/>
          <a:p>
            <a:r>
              <a:rPr lang="de-DE" b="1" dirty="0">
                <a:solidFill>
                  <a:schemeClr val="accent2"/>
                </a:solidFill>
                <a:latin typeface="+mj-lt"/>
              </a:rPr>
              <a:t>Wärmepumpe Erdsonde </a:t>
            </a:r>
            <a:endParaRPr lang="de-CH" b="1" dirty="0">
              <a:solidFill>
                <a:schemeClr val="accent2"/>
              </a:solidFill>
              <a:latin typeface="+mj-lt"/>
            </a:endParaRPr>
          </a:p>
        </p:txBody>
      </p:sp>
      <p:sp>
        <p:nvSpPr>
          <p:cNvPr id="19" name="Textfeld 18">
            <a:extLst>
              <a:ext uri="{FF2B5EF4-FFF2-40B4-BE49-F238E27FC236}">
                <a16:creationId xmlns:a16="http://schemas.microsoft.com/office/drawing/2014/main" id="{57B352B6-FB21-FFDE-526D-CF3DDB0ADABE}"/>
              </a:ext>
            </a:extLst>
          </p:cNvPr>
          <p:cNvSpPr txBox="1"/>
          <p:nvPr/>
        </p:nvSpPr>
        <p:spPr>
          <a:xfrm>
            <a:off x="3667443" y="3506256"/>
            <a:ext cx="2979141" cy="369332"/>
          </a:xfrm>
          <a:prstGeom prst="rect">
            <a:avLst/>
          </a:prstGeom>
          <a:noFill/>
        </p:spPr>
        <p:txBody>
          <a:bodyPr wrap="square" rtlCol="0">
            <a:spAutoFit/>
          </a:bodyPr>
          <a:lstStyle/>
          <a:p>
            <a:r>
              <a:rPr lang="de-DE" b="1" dirty="0">
                <a:solidFill>
                  <a:schemeClr val="accent2"/>
                </a:solidFill>
                <a:latin typeface="+mj-lt"/>
              </a:rPr>
              <a:t>Thermische Solaranlage</a:t>
            </a:r>
            <a:endParaRPr lang="de-CH" b="1" dirty="0">
              <a:solidFill>
                <a:schemeClr val="accent2"/>
              </a:solidFill>
              <a:latin typeface="+mj-lt"/>
            </a:endParaRPr>
          </a:p>
        </p:txBody>
      </p:sp>
      <p:sp>
        <p:nvSpPr>
          <p:cNvPr id="20" name="Textfeld 19">
            <a:extLst>
              <a:ext uri="{FF2B5EF4-FFF2-40B4-BE49-F238E27FC236}">
                <a16:creationId xmlns:a16="http://schemas.microsoft.com/office/drawing/2014/main" id="{08270B32-66CC-C366-F920-123407F84D44}"/>
              </a:ext>
            </a:extLst>
          </p:cNvPr>
          <p:cNvSpPr txBox="1"/>
          <p:nvPr/>
        </p:nvSpPr>
        <p:spPr>
          <a:xfrm>
            <a:off x="7844676" y="3502857"/>
            <a:ext cx="2979141" cy="369332"/>
          </a:xfrm>
          <a:prstGeom prst="rect">
            <a:avLst/>
          </a:prstGeom>
          <a:noFill/>
        </p:spPr>
        <p:txBody>
          <a:bodyPr wrap="square" rtlCol="0">
            <a:spAutoFit/>
          </a:bodyPr>
          <a:lstStyle/>
          <a:p>
            <a:r>
              <a:rPr lang="de-DE" b="1" dirty="0">
                <a:solidFill>
                  <a:schemeClr val="accent2"/>
                </a:solidFill>
                <a:latin typeface="+mj-lt"/>
              </a:rPr>
              <a:t>Photovoltaikanlage</a:t>
            </a:r>
            <a:endParaRPr lang="de-CH" b="1" dirty="0">
              <a:solidFill>
                <a:schemeClr val="accent2"/>
              </a:solidFill>
              <a:latin typeface="+mj-lt"/>
            </a:endParaRPr>
          </a:p>
        </p:txBody>
      </p:sp>
      <p:sp>
        <p:nvSpPr>
          <p:cNvPr id="11" name="Textfeld 10">
            <a:extLst>
              <a:ext uri="{FF2B5EF4-FFF2-40B4-BE49-F238E27FC236}">
                <a16:creationId xmlns:a16="http://schemas.microsoft.com/office/drawing/2014/main" id="{E629DAC0-288E-9BED-B44F-AA58A5FFD8AB}"/>
              </a:ext>
            </a:extLst>
          </p:cNvPr>
          <p:cNvSpPr txBox="1"/>
          <p:nvPr/>
        </p:nvSpPr>
        <p:spPr>
          <a:xfrm>
            <a:off x="3667443" y="1855760"/>
            <a:ext cx="4123825" cy="1600438"/>
          </a:xfrm>
          <a:prstGeom prst="rect">
            <a:avLst/>
          </a:prstGeom>
          <a:noFill/>
        </p:spPr>
        <p:txBody>
          <a:bodyPr wrap="square">
            <a:spAutoFit/>
          </a:bodyPr>
          <a:lstStyle/>
          <a:p>
            <a:r>
              <a:rPr lang="de-CH" sz="1400" b="0" i="0" dirty="0">
                <a:solidFill>
                  <a:srgbClr val="374151"/>
                </a:solidFill>
                <a:effectLst/>
                <a:latin typeface="Söhne"/>
              </a:rPr>
              <a:t>Eine Luft-Wärmepumpe nutzt die Energie aus der Außenluft, um Gebäude zu heizen oder zu kühlen. Durch den Kreisprozess eines Kältemittels wird die Wärmeenergie aufgenommen, verdichtet und abgegeben. Luft-Wärmepumpen sind effizient, umweltfreundlich und benötigen keine fossilen Brennstoffe. </a:t>
            </a:r>
            <a:endParaRPr lang="de-CH" sz="1400" dirty="0"/>
          </a:p>
        </p:txBody>
      </p:sp>
      <p:sp>
        <p:nvSpPr>
          <p:cNvPr id="13" name="Textfeld 12">
            <a:extLst>
              <a:ext uri="{FF2B5EF4-FFF2-40B4-BE49-F238E27FC236}">
                <a16:creationId xmlns:a16="http://schemas.microsoft.com/office/drawing/2014/main" id="{02869F93-CA2A-13EE-A0A5-72DE25AAC6ED}"/>
              </a:ext>
            </a:extLst>
          </p:cNvPr>
          <p:cNvSpPr txBox="1"/>
          <p:nvPr/>
        </p:nvSpPr>
        <p:spPr>
          <a:xfrm>
            <a:off x="7844676" y="1831650"/>
            <a:ext cx="4241832" cy="1169551"/>
          </a:xfrm>
          <a:prstGeom prst="rect">
            <a:avLst/>
          </a:prstGeom>
          <a:noFill/>
        </p:spPr>
        <p:txBody>
          <a:bodyPr wrap="square">
            <a:spAutoFit/>
          </a:bodyPr>
          <a:lstStyle/>
          <a:p>
            <a:r>
              <a:rPr lang="de-CH" sz="1400" dirty="0">
                <a:solidFill>
                  <a:srgbClr val="374151"/>
                </a:solidFill>
                <a:latin typeface="Söhne"/>
              </a:rPr>
              <a:t>Eine Erdsonden-Wärmepumpe nutzt die im Boden gespeicherte Energie, um Gebäude zu heizen oder zu kühlen. Sie ist effizient und zuverlässig, erfordert jedoch eine aufwendigere Installation und ist teurer als andere Systeme.</a:t>
            </a:r>
          </a:p>
        </p:txBody>
      </p:sp>
      <p:sp>
        <p:nvSpPr>
          <p:cNvPr id="15" name="Textfeld 14">
            <a:extLst>
              <a:ext uri="{FF2B5EF4-FFF2-40B4-BE49-F238E27FC236}">
                <a16:creationId xmlns:a16="http://schemas.microsoft.com/office/drawing/2014/main" id="{0985D99E-FA8C-61AB-EBA0-6E788F1B442B}"/>
              </a:ext>
            </a:extLst>
          </p:cNvPr>
          <p:cNvSpPr txBox="1"/>
          <p:nvPr/>
        </p:nvSpPr>
        <p:spPr>
          <a:xfrm>
            <a:off x="3667443" y="3948767"/>
            <a:ext cx="4182238" cy="2031325"/>
          </a:xfrm>
          <a:prstGeom prst="rect">
            <a:avLst/>
          </a:prstGeom>
          <a:noFill/>
        </p:spPr>
        <p:txBody>
          <a:bodyPr wrap="square">
            <a:spAutoFit/>
          </a:bodyPr>
          <a:lstStyle/>
          <a:p>
            <a:r>
              <a:rPr lang="de-CH" sz="1400" dirty="0">
                <a:solidFill>
                  <a:srgbClr val="374151"/>
                </a:solidFill>
                <a:latin typeface="Söhne"/>
              </a:rPr>
              <a:t>Thermische Solaranlagen nutzen Sonnenenergie zur Wärmeerzeugung. Sie bestehen aus Kollektoren, die die Sonnenstrahlung absorbieren und in Wärme umwandeln. Diese Wärme kann für Warmwasser, Heizung oder industrielle Anwendungen genutzt werden. Thermische Solaranlagen sind umweltfreundlich, benötigen jedoch ausreichende Sonneneinstrahlung und eine geeignete Platzierung der Kollektoren.</a:t>
            </a:r>
          </a:p>
        </p:txBody>
      </p:sp>
      <p:sp>
        <p:nvSpPr>
          <p:cNvPr id="17" name="Textfeld 16">
            <a:extLst>
              <a:ext uri="{FF2B5EF4-FFF2-40B4-BE49-F238E27FC236}">
                <a16:creationId xmlns:a16="http://schemas.microsoft.com/office/drawing/2014/main" id="{17130478-48B1-C27F-290D-5EE16CE3F934}"/>
              </a:ext>
            </a:extLst>
          </p:cNvPr>
          <p:cNvSpPr txBox="1"/>
          <p:nvPr/>
        </p:nvSpPr>
        <p:spPr>
          <a:xfrm>
            <a:off x="7844676" y="3977845"/>
            <a:ext cx="3876173" cy="1600438"/>
          </a:xfrm>
          <a:prstGeom prst="rect">
            <a:avLst/>
          </a:prstGeom>
          <a:noFill/>
        </p:spPr>
        <p:txBody>
          <a:bodyPr wrap="square">
            <a:spAutoFit/>
          </a:bodyPr>
          <a:lstStyle/>
          <a:p>
            <a:r>
              <a:rPr lang="de-CH" sz="1400" dirty="0">
                <a:solidFill>
                  <a:srgbClr val="374151"/>
                </a:solidFill>
                <a:latin typeface="Söhne"/>
              </a:rPr>
              <a:t>Photovoltaikanlagen wandeln Sonnenenergie direkt in elektrische Energie um, während thermische Solaranlagen die Sonnenenergie nutzen, um Wärme zu erzeugen. Photovoltaikanlagen erzeugen Strom, während thermische Solaranlagen Warmwasser und Raumheizung bereitstellen.</a:t>
            </a:r>
          </a:p>
        </p:txBody>
      </p:sp>
    </p:spTree>
    <p:extLst>
      <p:ext uri="{BB962C8B-B14F-4D97-AF65-F5344CB8AC3E}">
        <p14:creationId xmlns:p14="http://schemas.microsoft.com/office/powerpoint/2010/main" val="73856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Bauvorschriften </a:t>
            </a:r>
            <a:r>
              <a:rPr lang="de-CH" sz="1100" dirty="0">
                <a:latin typeface="Helvetica LT Pro Black" panose="020B0904030502020204" pitchFamily="34" charset="0"/>
              </a:rPr>
              <a:t>(Materielle)</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75DA249C-0C0E-F13C-E6DF-7A45BFE225D7}"/>
              </a:ext>
            </a:extLst>
          </p:cNvPr>
          <p:cNvSpPr txBox="1"/>
          <p:nvPr/>
        </p:nvSpPr>
        <p:spPr>
          <a:xfrm>
            <a:off x="597792" y="1479307"/>
            <a:ext cx="3288408" cy="830997"/>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Nutzungsvorschriften</a:t>
            </a:r>
          </a:p>
          <a:p>
            <a:pPr marL="742950" lvl="1" indent="-285750">
              <a:buFont typeface="Arial" panose="020B0604020202020204" pitchFamily="34" charset="0"/>
              <a:buChar char="•"/>
            </a:pPr>
            <a:r>
              <a:rPr lang="de-DE" sz="1200" dirty="0">
                <a:latin typeface="+mj-lt"/>
              </a:rPr>
              <a:t>Art der Nutzung etc. </a:t>
            </a:r>
          </a:p>
          <a:p>
            <a:r>
              <a:rPr lang="de-DE" b="1" dirty="0">
                <a:solidFill>
                  <a:schemeClr val="accent2"/>
                </a:solidFill>
                <a:latin typeface="+mj-lt"/>
              </a:rPr>
              <a:t>	 </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6FD2179A-E151-8AAF-7AB5-2422154E169C}"/>
              </a:ext>
            </a:extLst>
          </p:cNvPr>
          <p:cNvSpPr txBox="1"/>
          <p:nvPr/>
        </p:nvSpPr>
        <p:spPr>
          <a:xfrm>
            <a:off x="597792" y="2485724"/>
            <a:ext cx="5069082" cy="553998"/>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Gestaltungsvorschriften</a:t>
            </a:r>
          </a:p>
          <a:p>
            <a:pPr lvl="1" indent="-285750">
              <a:buFont typeface="Arial" panose="020B0604020202020204" pitchFamily="34" charset="0"/>
              <a:buChar char="•"/>
            </a:pPr>
            <a:r>
              <a:rPr lang="de-DE" sz="1200" dirty="0">
                <a:latin typeface="+mj-lt"/>
              </a:rPr>
              <a:t>Höhe, Länge, Breite etc.)</a:t>
            </a:r>
            <a:endParaRPr lang="de-CH" sz="1200" dirty="0">
              <a:latin typeface="+mj-lt"/>
            </a:endParaRPr>
          </a:p>
        </p:txBody>
      </p:sp>
      <p:sp>
        <p:nvSpPr>
          <p:cNvPr id="4" name="Textfeld 3">
            <a:extLst>
              <a:ext uri="{FF2B5EF4-FFF2-40B4-BE49-F238E27FC236}">
                <a16:creationId xmlns:a16="http://schemas.microsoft.com/office/drawing/2014/main" id="{25247B1C-9CE4-01C2-100E-1EA19CD208E4}"/>
              </a:ext>
            </a:extLst>
          </p:cNvPr>
          <p:cNvSpPr txBox="1"/>
          <p:nvPr/>
        </p:nvSpPr>
        <p:spPr>
          <a:xfrm>
            <a:off x="597792" y="3486438"/>
            <a:ext cx="6428650" cy="553998"/>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Abstandvorschriften</a:t>
            </a:r>
          </a:p>
          <a:p>
            <a:pPr marL="742950" lvl="1" indent="-285750">
              <a:buFont typeface="Arial" panose="020B0604020202020204" pitchFamily="34" charset="0"/>
              <a:buChar char="•"/>
            </a:pPr>
            <a:r>
              <a:rPr lang="de-DE" sz="1200" dirty="0">
                <a:latin typeface="+mj-lt"/>
              </a:rPr>
              <a:t>Grenz-, Gebäude-, </a:t>
            </a:r>
            <a:r>
              <a:rPr lang="de-DE" sz="1200" dirty="0" err="1">
                <a:latin typeface="+mj-lt"/>
              </a:rPr>
              <a:t>Strassenabstände</a:t>
            </a:r>
            <a:r>
              <a:rPr lang="de-DE" sz="1200" dirty="0">
                <a:latin typeface="+mj-lt"/>
              </a:rPr>
              <a:t> etc. </a:t>
            </a:r>
            <a:endParaRPr lang="de-CH" sz="1200" dirty="0">
              <a:latin typeface="+mj-lt"/>
            </a:endParaRPr>
          </a:p>
        </p:txBody>
      </p:sp>
      <p:sp>
        <p:nvSpPr>
          <p:cNvPr id="9" name="Textfeld 8">
            <a:extLst>
              <a:ext uri="{FF2B5EF4-FFF2-40B4-BE49-F238E27FC236}">
                <a16:creationId xmlns:a16="http://schemas.microsoft.com/office/drawing/2014/main" id="{B245CF2B-0D86-B3C6-3C45-23097CC95FD6}"/>
              </a:ext>
            </a:extLst>
          </p:cNvPr>
          <p:cNvSpPr txBox="1"/>
          <p:nvPr/>
        </p:nvSpPr>
        <p:spPr>
          <a:xfrm>
            <a:off x="597792" y="4492855"/>
            <a:ext cx="4318962" cy="553998"/>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Technische Vorschriften</a:t>
            </a:r>
          </a:p>
          <a:p>
            <a:pPr marL="742950" lvl="1" indent="-285750">
              <a:buFont typeface="Arial" panose="020B0604020202020204" pitchFamily="34" charset="0"/>
              <a:buChar char="•"/>
            </a:pPr>
            <a:r>
              <a:rPr lang="de-DE" sz="1200" dirty="0">
                <a:latin typeface="+mj-lt"/>
              </a:rPr>
              <a:t>Sicherheitsvorschriften</a:t>
            </a:r>
            <a:endParaRPr lang="de-CH" sz="1200" dirty="0">
              <a:latin typeface="+mj-lt"/>
            </a:endParaRPr>
          </a:p>
        </p:txBody>
      </p:sp>
      <p:cxnSp>
        <p:nvCxnSpPr>
          <p:cNvPr id="10" name="Gerader Verbinder 9">
            <a:extLst>
              <a:ext uri="{FF2B5EF4-FFF2-40B4-BE49-F238E27FC236}">
                <a16:creationId xmlns:a16="http://schemas.microsoft.com/office/drawing/2014/main" id="{068278A3-AF57-145D-5FF7-550A3893211E}"/>
              </a:ext>
            </a:extLst>
          </p:cNvPr>
          <p:cNvCxnSpPr/>
          <p:nvPr/>
        </p:nvCxnSpPr>
        <p:spPr>
          <a:xfrm>
            <a:off x="6096000" y="1371600"/>
            <a:ext cx="0" cy="407670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BD4786E0-9B9B-C307-6918-1DB304C45902}"/>
              </a:ext>
            </a:extLst>
          </p:cNvPr>
          <p:cNvSpPr txBox="1"/>
          <p:nvPr/>
        </p:nvSpPr>
        <p:spPr>
          <a:xfrm>
            <a:off x="6922391" y="1371600"/>
            <a:ext cx="3923407" cy="830997"/>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Geschossflächenziffer</a:t>
            </a:r>
          </a:p>
          <a:p>
            <a:pPr marL="742950" lvl="1" indent="-285750">
              <a:buFont typeface="Arial" panose="020B0604020202020204" pitchFamily="34" charset="0"/>
              <a:buChar char="•"/>
            </a:pPr>
            <a:r>
              <a:rPr lang="de-CH" sz="1200" b="0" i="0" dirty="0">
                <a:solidFill>
                  <a:srgbClr val="040C28"/>
                </a:solidFill>
                <a:effectLst/>
                <a:latin typeface="Google Sans"/>
              </a:rPr>
              <a:t>Verhältnis der Summe aller Geschossflächen (GF) zur anrechenbaren Grundstücksfläche</a:t>
            </a:r>
            <a:r>
              <a:rPr lang="de-CH" sz="1200" b="0" i="0" dirty="0">
                <a:solidFill>
                  <a:srgbClr val="202124"/>
                </a:solidFill>
                <a:effectLst/>
                <a:latin typeface="Google Sans"/>
              </a:rPr>
              <a:t>.</a:t>
            </a:r>
            <a:r>
              <a:rPr lang="de-DE" b="1" dirty="0">
                <a:solidFill>
                  <a:schemeClr val="accent2"/>
                </a:solidFill>
                <a:latin typeface="+mj-lt"/>
              </a:rPr>
              <a:t>	 </a:t>
            </a:r>
            <a:endParaRPr lang="de-CH" b="1" dirty="0">
              <a:solidFill>
                <a:schemeClr val="accent2"/>
              </a:solidFill>
              <a:latin typeface="+mj-lt"/>
            </a:endParaRPr>
          </a:p>
        </p:txBody>
      </p:sp>
      <p:sp>
        <p:nvSpPr>
          <p:cNvPr id="12" name="Textfeld 11">
            <a:extLst>
              <a:ext uri="{FF2B5EF4-FFF2-40B4-BE49-F238E27FC236}">
                <a16:creationId xmlns:a16="http://schemas.microsoft.com/office/drawing/2014/main" id="{947BBD63-2382-46CB-A19B-D206D09F5D95}"/>
              </a:ext>
            </a:extLst>
          </p:cNvPr>
          <p:cNvSpPr txBox="1"/>
          <p:nvPr/>
        </p:nvSpPr>
        <p:spPr>
          <a:xfrm>
            <a:off x="6922391" y="2348202"/>
            <a:ext cx="4279901" cy="1107996"/>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Baumassenziffer</a:t>
            </a:r>
          </a:p>
          <a:p>
            <a:pPr marL="742950" lvl="1" indent="-285750">
              <a:buFont typeface="Arial" panose="020B0604020202020204" pitchFamily="34" charset="0"/>
              <a:buChar char="•"/>
            </a:pPr>
            <a:r>
              <a:rPr lang="de-CH" b="0" i="0" dirty="0">
                <a:solidFill>
                  <a:srgbClr val="202124"/>
                </a:solidFill>
                <a:effectLst/>
                <a:latin typeface="Google Sans"/>
              </a:rPr>
              <a:t> </a:t>
            </a:r>
            <a:r>
              <a:rPr lang="de-CH" sz="1200" dirty="0">
                <a:solidFill>
                  <a:srgbClr val="040C28"/>
                </a:solidFill>
                <a:latin typeface="Google Sans"/>
              </a:rPr>
              <a:t>Verhältnis des Bauvolumens über dem massgebenden Terrain (</a:t>
            </a:r>
            <a:r>
              <a:rPr lang="de-CH" sz="1200" dirty="0" err="1">
                <a:solidFill>
                  <a:srgbClr val="040C28"/>
                </a:solidFill>
                <a:latin typeface="Google Sans"/>
              </a:rPr>
              <a:t>BVm</a:t>
            </a:r>
            <a:r>
              <a:rPr lang="de-CH" sz="1200" dirty="0">
                <a:solidFill>
                  <a:srgbClr val="040C28"/>
                </a:solidFill>
                <a:latin typeface="Google Sans"/>
              </a:rPr>
              <a:t>) zur anrechenbaren Grundstücksfläche. </a:t>
            </a:r>
            <a:r>
              <a:rPr lang="de-DE" sz="1200" dirty="0">
                <a:solidFill>
                  <a:srgbClr val="040C28"/>
                </a:solidFill>
                <a:latin typeface="Google Sans"/>
              </a:rPr>
              <a:t>	</a:t>
            </a:r>
            <a:r>
              <a:rPr lang="de-DE" b="1" dirty="0">
                <a:solidFill>
                  <a:schemeClr val="accent2"/>
                </a:solidFill>
                <a:latin typeface="+mj-lt"/>
              </a:rPr>
              <a:t> </a:t>
            </a:r>
            <a:endParaRPr lang="de-CH" b="1" dirty="0">
              <a:solidFill>
                <a:schemeClr val="accent2"/>
              </a:solidFill>
              <a:latin typeface="+mj-lt"/>
            </a:endParaRPr>
          </a:p>
        </p:txBody>
      </p:sp>
      <p:sp>
        <p:nvSpPr>
          <p:cNvPr id="13" name="Textfeld 12">
            <a:extLst>
              <a:ext uri="{FF2B5EF4-FFF2-40B4-BE49-F238E27FC236}">
                <a16:creationId xmlns:a16="http://schemas.microsoft.com/office/drawing/2014/main" id="{4F848BD7-3EDF-A60B-EB5C-AA1C431C98E4}"/>
              </a:ext>
            </a:extLst>
          </p:cNvPr>
          <p:cNvSpPr txBox="1"/>
          <p:nvPr/>
        </p:nvSpPr>
        <p:spPr>
          <a:xfrm>
            <a:off x="6922391" y="3583153"/>
            <a:ext cx="3923405" cy="923330"/>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Ausnützungsziffer</a:t>
            </a:r>
          </a:p>
          <a:p>
            <a:pPr marL="742950" lvl="1" indent="-285750">
              <a:buFont typeface="Arial" panose="020B0604020202020204" pitchFamily="34" charset="0"/>
              <a:buChar char="•"/>
            </a:pPr>
            <a:r>
              <a:rPr lang="de-CH" sz="1200" dirty="0">
                <a:solidFill>
                  <a:srgbClr val="040C28"/>
                </a:solidFill>
                <a:latin typeface="Google Sans"/>
              </a:rPr>
              <a:t>Die Ausnützungsziffer beschreibt das Verhältnis zwischen Grundstücksfläche und Bruttogeschossfläche</a:t>
            </a:r>
            <a:r>
              <a:rPr lang="de-DE" sz="1200" dirty="0">
                <a:solidFill>
                  <a:srgbClr val="040C28"/>
                </a:solidFill>
                <a:latin typeface="Google Sans"/>
              </a:rPr>
              <a:t>	 </a:t>
            </a:r>
            <a:endParaRPr lang="de-CH" sz="1200" dirty="0">
              <a:solidFill>
                <a:srgbClr val="040C28"/>
              </a:solidFill>
              <a:latin typeface="Google Sans"/>
            </a:endParaRPr>
          </a:p>
        </p:txBody>
      </p:sp>
      <p:sp>
        <p:nvSpPr>
          <p:cNvPr id="14" name="Textfeld 13">
            <a:extLst>
              <a:ext uri="{FF2B5EF4-FFF2-40B4-BE49-F238E27FC236}">
                <a16:creationId xmlns:a16="http://schemas.microsoft.com/office/drawing/2014/main" id="{26AB2255-66F9-B3B3-1795-B015CA895D2D}"/>
              </a:ext>
            </a:extLst>
          </p:cNvPr>
          <p:cNvSpPr txBox="1"/>
          <p:nvPr/>
        </p:nvSpPr>
        <p:spPr>
          <a:xfrm>
            <a:off x="6997699" y="4702878"/>
            <a:ext cx="3288408" cy="646331"/>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Freihalteziffer</a:t>
            </a:r>
          </a:p>
          <a:p>
            <a:r>
              <a:rPr lang="de-DE" b="1" dirty="0">
                <a:solidFill>
                  <a:schemeClr val="accent2"/>
                </a:solidFill>
                <a:latin typeface="+mj-lt"/>
              </a:rPr>
              <a:t>	 </a:t>
            </a:r>
            <a:endParaRPr lang="de-CH" b="1" dirty="0">
              <a:solidFill>
                <a:schemeClr val="accent2"/>
              </a:solidFill>
              <a:latin typeface="+mj-lt"/>
            </a:endParaRPr>
          </a:p>
        </p:txBody>
      </p:sp>
      <p:sp>
        <p:nvSpPr>
          <p:cNvPr id="8" name="Textfeld 7">
            <a:extLst>
              <a:ext uri="{FF2B5EF4-FFF2-40B4-BE49-F238E27FC236}">
                <a16:creationId xmlns:a16="http://schemas.microsoft.com/office/drawing/2014/main" id="{C7B41AC8-C72E-544E-55CC-714CFEBACDFC}"/>
              </a:ext>
            </a:extLst>
          </p:cNvPr>
          <p:cNvSpPr txBox="1"/>
          <p:nvPr/>
        </p:nvSpPr>
        <p:spPr>
          <a:xfrm>
            <a:off x="7324437" y="5512901"/>
            <a:ext cx="4461164" cy="261610"/>
          </a:xfrm>
          <a:prstGeom prst="rect">
            <a:avLst/>
          </a:prstGeom>
          <a:noFill/>
        </p:spPr>
        <p:txBody>
          <a:bodyPr wrap="square" rtlCol="0">
            <a:spAutoFit/>
          </a:bodyPr>
          <a:lstStyle/>
          <a:p>
            <a:r>
              <a:rPr lang="de-DE" sz="1100" i="1" u="sng" dirty="0"/>
              <a:t>Kantonales Baugesetz / kommunale Bauordnung</a:t>
            </a:r>
            <a:endParaRPr lang="de-CH" sz="1100" i="1" u="sng" dirty="0"/>
          </a:p>
        </p:txBody>
      </p:sp>
    </p:spTree>
    <p:extLst>
      <p:ext uri="{BB962C8B-B14F-4D97-AF65-F5344CB8AC3E}">
        <p14:creationId xmlns:p14="http://schemas.microsoft.com/office/powerpoint/2010/main" val="786804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Sachversicherungen Immobilien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8" name="Textfeld 7">
            <a:extLst>
              <a:ext uri="{FF2B5EF4-FFF2-40B4-BE49-F238E27FC236}">
                <a16:creationId xmlns:a16="http://schemas.microsoft.com/office/drawing/2014/main" id="{D5A60F0B-CB4D-F354-C661-A6D8578232C6}"/>
              </a:ext>
            </a:extLst>
          </p:cNvPr>
          <p:cNvSpPr txBox="1"/>
          <p:nvPr/>
        </p:nvSpPr>
        <p:spPr>
          <a:xfrm>
            <a:off x="371650" y="1479306"/>
            <a:ext cx="3288408" cy="1915909"/>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Gebäudeversicherung </a:t>
            </a:r>
            <a:r>
              <a:rPr lang="de-DE" sz="1050" b="1" dirty="0">
                <a:solidFill>
                  <a:schemeClr val="accent2"/>
                </a:solidFill>
                <a:latin typeface="+mj-lt"/>
              </a:rPr>
              <a:t>(Feuer- und Elementarschäden)</a:t>
            </a:r>
          </a:p>
          <a:p>
            <a:pPr marL="742950" lvl="1" indent="-285750">
              <a:buFont typeface="Arial" panose="020B0604020202020204" pitchFamily="34" charset="0"/>
              <a:buChar char="•"/>
            </a:pPr>
            <a:r>
              <a:rPr lang="de-DE" sz="1200" dirty="0">
                <a:latin typeface="+mj-lt"/>
              </a:rPr>
              <a:t>Obligatorisch vom Kanton (gibt Ausnahmen </a:t>
            </a:r>
            <a:r>
              <a:rPr lang="de-DE" sz="1200" dirty="0">
                <a:latin typeface="+mj-lt"/>
                <a:sym typeface="Wingdings" panose="05000000000000000000" pitchFamily="2" charset="2"/>
              </a:rPr>
              <a:t> kann dann über private Vers. laufen</a:t>
            </a:r>
            <a:r>
              <a:rPr lang="de-DE" sz="1200" dirty="0">
                <a:latin typeface="+mj-lt"/>
              </a:rPr>
              <a:t>)</a:t>
            </a:r>
          </a:p>
          <a:p>
            <a:pPr marL="742950" lvl="1" indent="-285750">
              <a:buFont typeface="Arial" panose="020B0604020202020204" pitchFamily="34" charset="0"/>
              <a:buChar char="•"/>
            </a:pPr>
            <a:r>
              <a:rPr lang="de-DE" sz="1200" dirty="0">
                <a:latin typeface="+mj-lt"/>
              </a:rPr>
              <a:t>Deckung: Feuer / Brand/ Rauch / Blitz /Hochwasser / Sturm / Hagel / Schnee/ Steinschlag etc.)</a:t>
            </a:r>
          </a:p>
          <a:p>
            <a:r>
              <a:rPr lang="de-DE" b="1" dirty="0">
                <a:solidFill>
                  <a:schemeClr val="accent2"/>
                </a:solidFill>
                <a:latin typeface="+mj-lt"/>
              </a:rPr>
              <a:t>	 </a:t>
            </a:r>
            <a:endParaRPr lang="de-CH" b="1" dirty="0">
              <a:solidFill>
                <a:schemeClr val="accent2"/>
              </a:solidFill>
              <a:latin typeface="+mj-lt"/>
            </a:endParaRPr>
          </a:p>
        </p:txBody>
      </p:sp>
      <p:sp>
        <p:nvSpPr>
          <p:cNvPr id="10" name="Textfeld 9">
            <a:extLst>
              <a:ext uri="{FF2B5EF4-FFF2-40B4-BE49-F238E27FC236}">
                <a16:creationId xmlns:a16="http://schemas.microsoft.com/office/drawing/2014/main" id="{6B784D8E-D4AA-0FCD-34D3-349F1CE09885}"/>
              </a:ext>
            </a:extLst>
          </p:cNvPr>
          <p:cNvSpPr txBox="1"/>
          <p:nvPr/>
        </p:nvSpPr>
        <p:spPr>
          <a:xfrm>
            <a:off x="371650" y="3647451"/>
            <a:ext cx="3288408" cy="1731243"/>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Gebäudeversicherung </a:t>
            </a:r>
            <a:r>
              <a:rPr lang="de-DE" sz="1050" b="1" dirty="0">
                <a:solidFill>
                  <a:schemeClr val="accent2"/>
                </a:solidFill>
                <a:latin typeface="+mj-lt"/>
              </a:rPr>
              <a:t>(Wasser)</a:t>
            </a:r>
          </a:p>
          <a:p>
            <a:pPr marL="742950" lvl="1" indent="-285750">
              <a:buFont typeface="Arial" panose="020B0604020202020204" pitchFamily="34" charset="0"/>
              <a:buChar char="•"/>
            </a:pPr>
            <a:r>
              <a:rPr lang="de-DE" sz="1200" dirty="0">
                <a:latin typeface="+mj-lt"/>
              </a:rPr>
              <a:t>Wasserschäden die nicht durch Elementarschaden gedeckt sind</a:t>
            </a:r>
          </a:p>
          <a:p>
            <a:pPr marL="742950" lvl="1" indent="-285750">
              <a:buFont typeface="Arial" panose="020B0604020202020204" pitchFamily="34" charset="0"/>
              <a:buChar char="•"/>
            </a:pPr>
            <a:r>
              <a:rPr lang="de-DE" sz="1200" dirty="0">
                <a:latin typeface="+mj-lt"/>
              </a:rPr>
              <a:t>Deckung: Wasserleitungen / Schmelzwasser / Rückstau Kanalisation etc.)</a:t>
            </a:r>
          </a:p>
          <a:p>
            <a:r>
              <a:rPr lang="de-DE" b="1" dirty="0">
                <a:solidFill>
                  <a:schemeClr val="accent2"/>
                </a:solidFill>
                <a:latin typeface="+mj-lt"/>
              </a:rPr>
              <a:t>	 </a:t>
            </a:r>
            <a:endParaRPr lang="de-CH" b="1" dirty="0">
              <a:solidFill>
                <a:schemeClr val="accent2"/>
              </a:solidFill>
              <a:latin typeface="+mj-lt"/>
            </a:endParaRPr>
          </a:p>
        </p:txBody>
      </p:sp>
      <p:sp>
        <p:nvSpPr>
          <p:cNvPr id="11" name="Textfeld 10">
            <a:extLst>
              <a:ext uri="{FF2B5EF4-FFF2-40B4-BE49-F238E27FC236}">
                <a16:creationId xmlns:a16="http://schemas.microsoft.com/office/drawing/2014/main" id="{9001A040-7693-1BC2-4A05-8ED918280A9B}"/>
              </a:ext>
            </a:extLst>
          </p:cNvPr>
          <p:cNvSpPr txBox="1"/>
          <p:nvPr/>
        </p:nvSpPr>
        <p:spPr>
          <a:xfrm>
            <a:off x="4122656" y="1479306"/>
            <a:ext cx="3288408" cy="1546577"/>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Technische Anlagen </a:t>
            </a:r>
            <a:r>
              <a:rPr lang="de-DE" sz="1050" b="1" dirty="0">
                <a:solidFill>
                  <a:schemeClr val="accent2"/>
                </a:solidFill>
                <a:latin typeface="+mj-lt"/>
              </a:rPr>
              <a:t>(Zusatzversicherung)</a:t>
            </a:r>
          </a:p>
          <a:p>
            <a:pPr marL="742950" lvl="1" indent="-285750">
              <a:buFont typeface="Arial" panose="020B0604020202020204" pitchFamily="34" charset="0"/>
              <a:buChar char="•"/>
            </a:pPr>
            <a:r>
              <a:rPr lang="de-DE" sz="1200" dirty="0">
                <a:latin typeface="+mj-lt"/>
              </a:rPr>
              <a:t>Ergänzend zu Serviceverträge</a:t>
            </a:r>
          </a:p>
          <a:p>
            <a:pPr marL="742950" lvl="1" indent="-285750">
              <a:buFont typeface="Arial" panose="020B0604020202020204" pitchFamily="34" charset="0"/>
              <a:buChar char="•"/>
            </a:pPr>
            <a:r>
              <a:rPr lang="de-DE" sz="1200" dirty="0">
                <a:latin typeface="+mj-lt"/>
              </a:rPr>
              <a:t>Deckung: Haustechnischen Anlage, Heizung, Solar etc. gegen Beschädigung, Zerstörung etc.</a:t>
            </a:r>
          </a:p>
          <a:p>
            <a:r>
              <a:rPr lang="de-DE" b="1" dirty="0">
                <a:solidFill>
                  <a:schemeClr val="accent2"/>
                </a:solidFill>
                <a:latin typeface="+mj-lt"/>
              </a:rPr>
              <a:t>	 </a:t>
            </a:r>
            <a:endParaRPr lang="de-CH" b="1" dirty="0">
              <a:solidFill>
                <a:schemeClr val="accent2"/>
              </a:solidFill>
              <a:latin typeface="+mj-lt"/>
            </a:endParaRPr>
          </a:p>
        </p:txBody>
      </p:sp>
      <p:sp>
        <p:nvSpPr>
          <p:cNvPr id="12" name="Textfeld 11">
            <a:extLst>
              <a:ext uri="{FF2B5EF4-FFF2-40B4-BE49-F238E27FC236}">
                <a16:creationId xmlns:a16="http://schemas.microsoft.com/office/drawing/2014/main" id="{BF83D6DB-DADD-93D3-1CE8-0D674267DC70}"/>
              </a:ext>
            </a:extLst>
          </p:cNvPr>
          <p:cNvSpPr txBox="1"/>
          <p:nvPr/>
        </p:nvSpPr>
        <p:spPr>
          <a:xfrm>
            <a:off x="7970516" y="1366235"/>
            <a:ext cx="3288408" cy="1569660"/>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Bauwesenversicherung</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Beschädigung/Zerstörung durch Bauunfall</a:t>
            </a:r>
          </a:p>
          <a:p>
            <a:pPr marL="742950" lvl="1" indent="-285750">
              <a:buFont typeface="Arial" panose="020B0604020202020204" pitchFamily="34" charset="0"/>
              <a:buChar char="•"/>
            </a:pPr>
            <a:r>
              <a:rPr lang="de-DE" sz="1200" dirty="0">
                <a:latin typeface="+mj-lt"/>
              </a:rPr>
              <a:t>Deckung: Einsturz, Beschädigung durch </a:t>
            </a:r>
            <a:r>
              <a:rPr lang="de-DE" sz="1200" dirty="0" err="1">
                <a:latin typeface="+mj-lt"/>
              </a:rPr>
              <a:t>zb</a:t>
            </a:r>
            <a:r>
              <a:rPr lang="de-DE" sz="1200" dirty="0">
                <a:latin typeface="+mj-lt"/>
              </a:rPr>
              <a:t>. einstürzendes Gerüst, Diebstahl</a:t>
            </a:r>
          </a:p>
          <a:p>
            <a:r>
              <a:rPr lang="de-DE" b="1" dirty="0">
                <a:solidFill>
                  <a:schemeClr val="accent2"/>
                </a:solidFill>
                <a:latin typeface="+mj-lt"/>
              </a:rPr>
              <a:t>	 </a:t>
            </a:r>
            <a:endParaRPr lang="de-CH" b="1" dirty="0">
              <a:solidFill>
                <a:schemeClr val="accent2"/>
              </a:solidFill>
              <a:latin typeface="+mj-lt"/>
            </a:endParaRPr>
          </a:p>
        </p:txBody>
      </p:sp>
      <p:sp>
        <p:nvSpPr>
          <p:cNvPr id="13" name="Textfeld 12">
            <a:extLst>
              <a:ext uri="{FF2B5EF4-FFF2-40B4-BE49-F238E27FC236}">
                <a16:creationId xmlns:a16="http://schemas.microsoft.com/office/drawing/2014/main" id="{41999715-0069-7774-19A6-0108F6B7C2C5}"/>
              </a:ext>
            </a:extLst>
          </p:cNvPr>
          <p:cNvSpPr txBox="1"/>
          <p:nvPr/>
        </p:nvSpPr>
        <p:spPr>
          <a:xfrm>
            <a:off x="8063922" y="3288441"/>
            <a:ext cx="3288408" cy="1938992"/>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Bauzeitversicherung</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Durch kantonale Gebäudeversicherung (wird </a:t>
            </a:r>
            <a:r>
              <a:rPr lang="de-DE" sz="1200" dirty="0" err="1">
                <a:latin typeface="+mj-lt"/>
              </a:rPr>
              <a:t>anschliessend</a:t>
            </a:r>
            <a:r>
              <a:rPr lang="de-DE" sz="1200" dirty="0">
                <a:latin typeface="+mj-lt"/>
              </a:rPr>
              <a:t> in Gebäudeversicherung umgewandelt)</a:t>
            </a:r>
          </a:p>
          <a:p>
            <a:pPr marL="742950" lvl="1" indent="-285750">
              <a:buFont typeface="Arial" panose="020B0604020202020204" pitchFamily="34" charset="0"/>
              <a:buChar char="•"/>
            </a:pPr>
            <a:r>
              <a:rPr lang="de-DE" sz="1200" dirty="0">
                <a:latin typeface="+mj-lt"/>
              </a:rPr>
              <a:t>Deckung: Wie bei Feuer-Elementarversicherung</a:t>
            </a:r>
          </a:p>
          <a:p>
            <a:r>
              <a:rPr lang="de-DE" b="1" dirty="0">
                <a:solidFill>
                  <a:schemeClr val="accent2"/>
                </a:solidFill>
                <a:latin typeface="+mj-lt"/>
              </a:rPr>
              <a:t>	 </a:t>
            </a:r>
            <a:endParaRPr lang="de-CH" b="1" dirty="0">
              <a:solidFill>
                <a:schemeClr val="accent2"/>
              </a:solidFill>
              <a:latin typeface="+mj-lt"/>
            </a:endParaRPr>
          </a:p>
        </p:txBody>
      </p:sp>
      <p:cxnSp>
        <p:nvCxnSpPr>
          <p:cNvPr id="3" name="Gerade Verbindung mit Pfeil 2">
            <a:extLst>
              <a:ext uri="{FF2B5EF4-FFF2-40B4-BE49-F238E27FC236}">
                <a16:creationId xmlns:a16="http://schemas.microsoft.com/office/drawing/2014/main" id="{1763BA02-EC0A-1662-1B98-500AFB7DC4AF}"/>
              </a:ext>
            </a:extLst>
          </p:cNvPr>
          <p:cNvCxnSpPr/>
          <p:nvPr/>
        </p:nvCxnSpPr>
        <p:spPr>
          <a:xfrm>
            <a:off x="3991897" y="3025883"/>
            <a:ext cx="4159045" cy="110366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540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24ECBE17-DFC0-DCD2-E300-82EBABA053DD}"/>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Vermögensversicherung Immobilien</a:t>
            </a:r>
            <a:endParaRPr lang="de-CH" sz="1100" dirty="0">
              <a:latin typeface="Helvetica LT Pro Black" panose="020B0904030502020204" pitchFamily="34" charset="0"/>
            </a:endParaRPr>
          </a:p>
        </p:txBody>
      </p:sp>
      <p:sp>
        <p:nvSpPr>
          <p:cNvPr id="3" name="Textfeld 2">
            <a:extLst>
              <a:ext uri="{FF2B5EF4-FFF2-40B4-BE49-F238E27FC236}">
                <a16:creationId xmlns:a16="http://schemas.microsoft.com/office/drawing/2014/main" id="{8178E7A6-1192-2420-05B1-26DEFE555C32}"/>
              </a:ext>
            </a:extLst>
          </p:cNvPr>
          <p:cNvSpPr txBox="1"/>
          <p:nvPr/>
        </p:nvSpPr>
        <p:spPr>
          <a:xfrm>
            <a:off x="371650" y="1479306"/>
            <a:ext cx="3288408" cy="1938992"/>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Gebäudehaftpflicht</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Schadensersatzansprüche aus Personen- und Sachschäden, die gegen Haus- oder Grundeigentümer erhoben werden</a:t>
            </a:r>
          </a:p>
          <a:p>
            <a:pPr marL="742950" lvl="1" indent="-285750">
              <a:buFont typeface="Arial" panose="020B0604020202020204" pitchFamily="34" charset="0"/>
              <a:buChar char="•"/>
            </a:pPr>
            <a:r>
              <a:rPr lang="de-DE" sz="1200" dirty="0">
                <a:latin typeface="+mj-lt"/>
              </a:rPr>
              <a:t>Deckung: Ungesicherte Schächte, </a:t>
            </a:r>
            <a:r>
              <a:rPr lang="de-DE" sz="1200" dirty="0" err="1">
                <a:latin typeface="+mj-lt"/>
              </a:rPr>
              <a:t>lösgelöste</a:t>
            </a:r>
            <a:r>
              <a:rPr lang="de-DE" sz="1200" dirty="0">
                <a:latin typeface="+mj-lt"/>
              </a:rPr>
              <a:t> Dachziegel, Glatteis auf Vorplatz</a:t>
            </a:r>
          </a:p>
          <a:p>
            <a:r>
              <a:rPr lang="de-DE" b="1" dirty="0">
                <a:solidFill>
                  <a:schemeClr val="accent2"/>
                </a:solidFill>
                <a:latin typeface="+mj-lt"/>
              </a:rPr>
              <a:t>	 </a:t>
            </a:r>
            <a:endParaRPr lang="de-CH" b="1" dirty="0">
              <a:solidFill>
                <a:schemeClr val="accent2"/>
              </a:solidFill>
              <a:latin typeface="+mj-lt"/>
            </a:endParaRPr>
          </a:p>
        </p:txBody>
      </p:sp>
      <p:sp>
        <p:nvSpPr>
          <p:cNvPr id="4" name="Textfeld 3">
            <a:extLst>
              <a:ext uri="{FF2B5EF4-FFF2-40B4-BE49-F238E27FC236}">
                <a16:creationId xmlns:a16="http://schemas.microsoft.com/office/drawing/2014/main" id="{50DCE608-861A-F5B4-AB42-F1C4B6263AD3}"/>
              </a:ext>
            </a:extLst>
          </p:cNvPr>
          <p:cNvSpPr txBox="1"/>
          <p:nvPr/>
        </p:nvSpPr>
        <p:spPr>
          <a:xfrm>
            <a:off x="5941624" y="1517206"/>
            <a:ext cx="3288408" cy="2123658"/>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Bauherrenhaftpflicht</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Umbau/Neubau mit </a:t>
            </a:r>
            <a:r>
              <a:rPr lang="de-DE" sz="1200" dirty="0" err="1">
                <a:latin typeface="+mj-lt"/>
              </a:rPr>
              <a:t>grösseren</a:t>
            </a:r>
            <a:r>
              <a:rPr lang="de-DE" sz="1200" dirty="0">
                <a:latin typeface="+mj-lt"/>
              </a:rPr>
              <a:t> Erdbewegungen / Abbruchsarbeiten bei Schaden am Nachbar</a:t>
            </a:r>
          </a:p>
          <a:p>
            <a:pPr marL="742950" lvl="1" indent="-285750">
              <a:buFont typeface="Arial" panose="020B0604020202020204" pitchFamily="34" charset="0"/>
              <a:buChar char="•"/>
            </a:pPr>
            <a:r>
              <a:rPr lang="de-DE" sz="1200" dirty="0">
                <a:latin typeface="+mj-lt"/>
              </a:rPr>
              <a:t>Deckung: Personen- und Sachschäden im kausalen Zusammenhang mit Umbau/Neubau</a:t>
            </a:r>
          </a:p>
          <a:p>
            <a:r>
              <a:rPr lang="de-DE" b="1" dirty="0">
                <a:solidFill>
                  <a:schemeClr val="accent2"/>
                </a:solidFill>
                <a:latin typeface="+mj-lt"/>
              </a:rPr>
              <a:t>	 </a:t>
            </a:r>
            <a:endParaRPr lang="de-CH" b="1" dirty="0">
              <a:solidFill>
                <a:schemeClr val="accent2"/>
              </a:solidFill>
              <a:latin typeface="+mj-lt"/>
            </a:endParaRPr>
          </a:p>
        </p:txBody>
      </p:sp>
    </p:spTree>
    <p:extLst>
      <p:ext uri="{BB962C8B-B14F-4D97-AF65-F5344CB8AC3E}">
        <p14:creationId xmlns:p14="http://schemas.microsoft.com/office/powerpoint/2010/main" val="218515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Renditekennzahlen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443020D6-D898-3C7C-6C7A-9C018DBC5A09}"/>
              </a:ext>
            </a:extLst>
          </p:cNvPr>
          <p:cNvSpPr txBox="1"/>
          <p:nvPr/>
        </p:nvSpPr>
        <p:spPr>
          <a:xfrm>
            <a:off x="676450" y="1490008"/>
            <a:ext cx="3288408" cy="646331"/>
          </a:xfrm>
          <a:prstGeom prst="rect">
            <a:avLst/>
          </a:prstGeom>
          <a:noFill/>
        </p:spPr>
        <p:txBody>
          <a:bodyPr wrap="square" rtlCol="0">
            <a:spAutoFit/>
          </a:bodyPr>
          <a:lstStyle/>
          <a:p>
            <a:r>
              <a:rPr lang="de-DE" b="1" dirty="0">
                <a:solidFill>
                  <a:schemeClr val="accent2"/>
                </a:solidFill>
                <a:latin typeface="+mj-lt"/>
              </a:rPr>
              <a:t>Bruttorendite</a:t>
            </a:r>
            <a:endParaRPr lang="de-DE" sz="1050" b="1" dirty="0">
              <a:solidFill>
                <a:schemeClr val="accent2"/>
              </a:solidFill>
              <a:latin typeface="+mj-lt"/>
            </a:endParaRPr>
          </a:p>
          <a:p>
            <a:r>
              <a:rPr lang="de-DE" b="1" dirty="0">
                <a:solidFill>
                  <a:schemeClr val="accent2"/>
                </a:solidFill>
                <a:latin typeface="+mj-lt"/>
              </a:rPr>
              <a:t> 	 </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5DACEBDC-5231-03A2-603F-E3324633915D}"/>
              </a:ext>
            </a:extLst>
          </p:cNvPr>
          <p:cNvSpPr txBox="1"/>
          <p:nvPr/>
        </p:nvSpPr>
        <p:spPr>
          <a:xfrm>
            <a:off x="676450" y="4129726"/>
            <a:ext cx="3288408" cy="646331"/>
          </a:xfrm>
          <a:prstGeom prst="rect">
            <a:avLst/>
          </a:prstGeom>
          <a:noFill/>
        </p:spPr>
        <p:txBody>
          <a:bodyPr wrap="square" rtlCol="0">
            <a:spAutoFit/>
          </a:bodyPr>
          <a:lstStyle/>
          <a:p>
            <a:r>
              <a:rPr lang="de-DE" b="1" dirty="0">
                <a:solidFill>
                  <a:schemeClr val="accent2"/>
                </a:solidFill>
                <a:latin typeface="+mj-lt"/>
              </a:rPr>
              <a:t>Nettorendite</a:t>
            </a:r>
            <a:endParaRPr lang="de-DE" sz="1050" b="1" dirty="0">
              <a:solidFill>
                <a:schemeClr val="accent2"/>
              </a:solidFill>
              <a:latin typeface="+mj-lt"/>
            </a:endParaRPr>
          </a:p>
          <a:p>
            <a:r>
              <a:rPr lang="de-DE" b="1" dirty="0">
                <a:solidFill>
                  <a:schemeClr val="accent2"/>
                </a:solidFill>
                <a:latin typeface="+mj-lt"/>
              </a:rPr>
              <a:t> 	 </a:t>
            </a:r>
            <a:endParaRPr lang="de-CH" b="1" dirty="0">
              <a:solidFill>
                <a:schemeClr val="accent2"/>
              </a:solidFill>
              <a:latin typeface="+mj-lt"/>
            </a:endParaRPr>
          </a:p>
        </p:txBody>
      </p:sp>
      <p:sp>
        <p:nvSpPr>
          <p:cNvPr id="4" name="Textfeld 3">
            <a:extLst>
              <a:ext uri="{FF2B5EF4-FFF2-40B4-BE49-F238E27FC236}">
                <a16:creationId xmlns:a16="http://schemas.microsoft.com/office/drawing/2014/main" id="{01B686D7-E17A-E874-81DE-2AB0D944C9AC}"/>
              </a:ext>
            </a:extLst>
          </p:cNvPr>
          <p:cNvSpPr txBox="1"/>
          <p:nvPr/>
        </p:nvSpPr>
        <p:spPr>
          <a:xfrm>
            <a:off x="4560191" y="1488339"/>
            <a:ext cx="3288408" cy="646331"/>
          </a:xfrm>
          <a:prstGeom prst="rect">
            <a:avLst/>
          </a:prstGeom>
          <a:noFill/>
        </p:spPr>
        <p:txBody>
          <a:bodyPr wrap="square" rtlCol="0">
            <a:spAutoFit/>
          </a:bodyPr>
          <a:lstStyle/>
          <a:p>
            <a:r>
              <a:rPr lang="de-DE" b="1" dirty="0">
                <a:solidFill>
                  <a:schemeClr val="accent2"/>
                </a:solidFill>
                <a:latin typeface="+mj-lt"/>
              </a:rPr>
              <a:t>Eigenkapitalrendite</a:t>
            </a:r>
            <a:endParaRPr lang="de-DE" sz="1050" b="1" dirty="0">
              <a:solidFill>
                <a:schemeClr val="accent2"/>
              </a:solidFill>
              <a:latin typeface="+mj-lt"/>
            </a:endParaRPr>
          </a:p>
          <a:p>
            <a:r>
              <a:rPr lang="de-DE" b="1" dirty="0">
                <a:solidFill>
                  <a:schemeClr val="accent2"/>
                </a:solidFill>
                <a:latin typeface="+mj-lt"/>
              </a:rPr>
              <a:t> 	 </a:t>
            </a:r>
            <a:endParaRPr lang="de-CH" b="1" dirty="0">
              <a:solidFill>
                <a:schemeClr val="accent2"/>
              </a:solidFill>
              <a:latin typeface="+mj-lt"/>
            </a:endParaRPr>
          </a:p>
        </p:txBody>
      </p:sp>
      <p:sp>
        <p:nvSpPr>
          <p:cNvPr id="8" name="Textfeld 7">
            <a:extLst>
              <a:ext uri="{FF2B5EF4-FFF2-40B4-BE49-F238E27FC236}">
                <a16:creationId xmlns:a16="http://schemas.microsoft.com/office/drawing/2014/main" id="{F8819B1A-D2B3-D853-CD65-E0F93B9772E3}"/>
              </a:ext>
            </a:extLst>
          </p:cNvPr>
          <p:cNvSpPr txBox="1"/>
          <p:nvPr/>
        </p:nvSpPr>
        <p:spPr>
          <a:xfrm>
            <a:off x="9055507" y="4268225"/>
            <a:ext cx="3288408" cy="646331"/>
          </a:xfrm>
          <a:prstGeom prst="rect">
            <a:avLst/>
          </a:prstGeom>
          <a:noFill/>
        </p:spPr>
        <p:txBody>
          <a:bodyPr wrap="square" rtlCol="0">
            <a:spAutoFit/>
          </a:bodyPr>
          <a:lstStyle/>
          <a:p>
            <a:r>
              <a:rPr lang="de-DE" b="1" dirty="0">
                <a:solidFill>
                  <a:schemeClr val="accent2"/>
                </a:solidFill>
                <a:latin typeface="+mj-lt"/>
              </a:rPr>
              <a:t>Performance</a:t>
            </a:r>
            <a:endParaRPr lang="de-DE" sz="1050" b="1" dirty="0">
              <a:solidFill>
                <a:schemeClr val="accent2"/>
              </a:solidFill>
              <a:latin typeface="+mj-lt"/>
            </a:endParaRPr>
          </a:p>
          <a:p>
            <a:r>
              <a:rPr lang="de-DE" b="1" dirty="0">
                <a:solidFill>
                  <a:schemeClr val="accent2"/>
                </a:solidFill>
                <a:latin typeface="+mj-lt"/>
              </a:rPr>
              <a:t> 	 </a:t>
            </a:r>
            <a:endParaRPr lang="de-CH" b="1" dirty="0">
              <a:solidFill>
                <a:schemeClr val="accent2"/>
              </a:solidFill>
              <a:latin typeface="+mj-lt"/>
            </a:endParaRPr>
          </a:p>
        </p:txBody>
      </p:sp>
      <p:sp>
        <p:nvSpPr>
          <p:cNvPr id="9" name="Textfeld 8">
            <a:extLst>
              <a:ext uri="{FF2B5EF4-FFF2-40B4-BE49-F238E27FC236}">
                <a16:creationId xmlns:a16="http://schemas.microsoft.com/office/drawing/2014/main" id="{150E4A63-4E60-F2B6-3A2E-7F2BD4F6DB93}"/>
              </a:ext>
            </a:extLst>
          </p:cNvPr>
          <p:cNvSpPr txBox="1"/>
          <p:nvPr/>
        </p:nvSpPr>
        <p:spPr>
          <a:xfrm>
            <a:off x="676450" y="2135838"/>
            <a:ext cx="2064774" cy="276999"/>
          </a:xfrm>
          <a:prstGeom prst="rect">
            <a:avLst/>
          </a:prstGeom>
          <a:noFill/>
        </p:spPr>
        <p:txBody>
          <a:bodyPr wrap="square" rtlCol="0">
            <a:spAutoFit/>
          </a:bodyPr>
          <a:lstStyle/>
          <a:p>
            <a:r>
              <a:rPr lang="de-CH" sz="1200" dirty="0"/>
              <a:t>Mietertrag Brutto x 100</a:t>
            </a:r>
          </a:p>
        </p:txBody>
      </p:sp>
      <p:cxnSp>
        <p:nvCxnSpPr>
          <p:cNvPr id="11" name="Gerader Verbinder 10">
            <a:extLst>
              <a:ext uri="{FF2B5EF4-FFF2-40B4-BE49-F238E27FC236}">
                <a16:creationId xmlns:a16="http://schemas.microsoft.com/office/drawing/2014/main" id="{1E9477D6-76ED-075A-684E-17DEFF2DF258}"/>
              </a:ext>
            </a:extLst>
          </p:cNvPr>
          <p:cNvCxnSpPr/>
          <p:nvPr/>
        </p:nvCxnSpPr>
        <p:spPr>
          <a:xfrm>
            <a:off x="776748" y="2507226"/>
            <a:ext cx="1661652"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D1D200E8-598E-ED44-8299-695571AC1837}"/>
              </a:ext>
            </a:extLst>
          </p:cNvPr>
          <p:cNvSpPr txBox="1"/>
          <p:nvPr/>
        </p:nvSpPr>
        <p:spPr>
          <a:xfrm>
            <a:off x="676450" y="2604163"/>
            <a:ext cx="2774673" cy="276999"/>
          </a:xfrm>
          <a:prstGeom prst="rect">
            <a:avLst/>
          </a:prstGeom>
          <a:noFill/>
        </p:spPr>
        <p:txBody>
          <a:bodyPr wrap="square" rtlCol="0">
            <a:spAutoFit/>
          </a:bodyPr>
          <a:lstStyle/>
          <a:p>
            <a:r>
              <a:rPr lang="de-CH" sz="1200" dirty="0"/>
              <a:t>Anlagekosten oder Marktwert</a:t>
            </a:r>
          </a:p>
        </p:txBody>
      </p:sp>
      <p:sp>
        <p:nvSpPr>
          <p:cNvPr id="13" name="Textfeld 12">
            <a:extLst>
              <a:ext uri="{FF2B5EF4-FFF2-40B4-BE49-F238E27FC236}">
                <a16:creationId xmlns:a16="http://schemas.microsoft.com/office/drawing/2014/main" id="{0DFDA2E4-E902-7615-537F-9DEFAE47DAB0}"/>
              </a:ext>
            </a:extLst>
          </p:cNvPr>
          <p:cNvSpPr txBox="1"/>
          <p:nvPr/>
        </p:nvSpPr>
        <p:spPr>
          <a:xfrm>
            <a:off x="627530" y="4637557"/>
            <a:ext cx="2064774" cy="276999"/>
          </a:xfrm>
          <a:prstGeom prst="rect">
            <a:avLst/>
          </a:prstGeom>
          <a:noFill/>
        </p:spPr>
        <p:txBody>
          <a:bodyPr wrap="square" rtlCol="0">
            <a:spAutoFit/>
          </a:bodyPr>
          <a:lstStyle/>
          <a:p>
            <a:r>
              <a:rPr lang="de-CH" sz="1200" dirty="0"/>
              <a:t>Mietertrag Netto x 100</a:t>
            </a:r>
          </a:p>
        </p:txBody>
      </p:sp>
      <p:cxnSp>
        <p:nvCxnSpPr>
          <p:cNvPr id="14" name="Gerader Verbinder 13">
            <a:extLst>
              <a:ext uri="{FF2B5EF4-FFF2-40B4-BE49-F238E27FC236}">
                <a16:creationId xmlns:a16="http://schemas.microsoft.com/office/drawing/2014/main" id="{60FF8834-3B8B-44D8-79F8-089C4A7607DA}"/>
              </a:ext>
            </a:extLst>
          </p:cNvPr>
          <p:cNvCxnSpPr/>
          <p:nvPr/>
        </p:nvCxnSpPr>
        <p:spPr>
          <a:xfrm>
            <a:off x="727828" y="5008945"/>
            <a:ext cx="1661652"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F6E616D8-3949-885B-6A12-DA4272FAFF80}"/>
              </a:ext>
            </a:extLst>
          </p:cNvPr>
          <p:cNvSpPr txBox="1"/>
          <p:nvPr/>
        </p:nvSpPr>
        <p:spPr>
          <a:xfrm>
            <a:off x="627530" y="5105882"/>
            <a:ext cx="2774673" cy="276999"/>
          </a:xfrm>
          <a:prstGeom prst="rect">
            <a:avLst/>
          </a:prstGeom>
          <a:noFill/>
        </p:spPr>
        <p:txBody>
          <a:bodyPr wrap="square" rtlCol="0">
            <a:spAutoFit/>
          </a:bodyPr>
          <a:lstStyle/>
          <a:p>
            <a:r>
              <a:rPr lang="de-CH" sz="1200" dirty="0"/>
              <a:t>Anlagekosten oder Marktwert</a:t>
            </a:r>
          </a:p>
        </p:txBody>
      </p:sp>
      <p:pic>
        <p:nvPicPr>
          <p:cNvPr id="17" name="Grafik 16">
            <a:extLst>
              <a:ext uri="{FF2B5EF4-FFF2-40B4-BE49-F238E27FC236}">
                <a16:creationId xmlns:a16="http://schemas.microsoft.com/office/drawing/2014/main" id="{35500457-8704-9B3B-EB16-C381FC82A549}"/>
              </a:ext>
            </a:extLst>
          </p:cNvPr>
          <p:cNvPicPr>
            <a:picLocks noChangeAspect="1"/>
          </p:cNvPicPr>
          <p:nvPr/>
        </p:nvPicPr>
        <p:blipFill>
          <a:blip r:embed="rId4"/>
          <a:stretch>
            <a:fillRect/>
          </a:stretch>
        </p:blipFill>
        <p:spPr>
          <a:xfrm>
            <a:off x="3284547" y="4457448"/>
            <a:ext cx="2427995" cy="1267860"/>
          </a:xfrm>
          <a:prstGeom prst="rect">
            <a:avLst/>
          </a:prstGeom>
        </p:spPr>
      </p:pic>
      <p:sp>
        <p:nvSpPr>
          <p:cNvPr id="18" name="Textfeld 17">
            <a:extLst>
              <a:ext uri="{FF2B5EF4-FFF2-40B4-BE49-F238E27FC236}">
                <a16:creationId xmlns:a16="http://schemas.microsoft.com/office/drawing/2014/main" id="{5FD91481-C236-746B-C96D-908EF2C4F7EB}"/>
              </a:ext>
            </a:extLst>
          </p:cNvPr>
          <p:cNvSpPr txBox="1"/>
          <p:nvPr/>
        </p:nvSpPr>
        <p:spPr>
          <a:xfrm>
            <a:off x="4560190" y="2053622"/>
            <a:ext cx="2676351" cy="276999"/>
          </a:xfrm>
          <a:prstGeom prst="rect">
            <a:avLst/>
          </a:prstGeom>
          <a:noFill/>
        </p:spPr>
        <p:txBody>
          <a:bodyPr wrap="square" rtlCol="0">
            <a:spAutoFit/>
          </a:bodyPr>
          <a:lstStyle/>
          <a:p>
            <a:r>
              <a:rPr lang="de-CH" sz="1200" dirty="0"/>
              <a:t>(Mietertrag Netto – Zins FK) x 100</a:t>
            </a:r>
          </a:p>
        </p:txBody>
      </p:sp>
      <p:cxnSp>
        <p:nvCxnSpPr>
          <p:cNvPr id="19" name="Gerader Verbinder 18">
            <a:extLst>
              <a:ext uri="{FF2B5EF4-FFF2-40B4-BE49-F238E27FC236}">
                <a16:creationId xmlns:a16="http://schemas.microsoft.com/office/drawing/2014/main" id="{108D4AEC-0812-CDCF-98A9-82246E58E3BA}"/>
              </a:ext>
            </a:extLst>
          </p:cNvPr>
          <p:cNvCxnSpPr>
            <a:cxnSpLocks/>
          </p:cNvCxnSpPr>
          <p:nvPr/>
        </p:nvCxnSpPr>
        <p:spPr>
          <a:xfrm>
            <a:off x="4660489" y="2425010"/>
            <a:ext cx="2320414"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058E6D31-07D1-D271-1937-0DCA1709CB94}"/>
              </a:ext>
            </a:extLst>
          </p:cNvPr>
          <p:cNvSpPr txBox="1"/>
          <p:nvPr/>
        </p:nvSpPr>
        <p:spPr>
          <a:xfrm>
            <a:off x="4560191" y="2521947"/>
            <a:ext cx="2774673" cy="276999"/>
          </a:xfrm>
          <a:prstGeom prst="rect">
            <a:avLst/>
          </a:prstGeom>
          <a:noFill/>
        </p:spPr>
        <p:txBody>
          <a:bodyPr wrap="square" rtlCol="0">
            <a:spAutoFit/>
          </a:bodyPr>
          <a:lstStyle/>
          <a:p>
            <a:r>
              <a:rPr lang="de-CH" sz="1200" dirty="0"/>
              <a:t>(Anlagekosten – Fremdkapital)</a:t>
            </a:r>
          </a:p>
        </p:txBody>
      </p:sp>
      <p:sp>
        <p:nvSpPr>
          <p:cNvPr id="22" name="Textfeld 21">
            <a:extLst>
              <a:ext uri="{FF2B5EF4-FFF2-40B4-BE49-F238E27FC236}">
                <a16:creationId xmlns:a16="http://schemas.microsoft.com/office/drawing/2014/main" id="{C9BC447E-97C1-CD83-2C63-C2B980C6D7AF}"/>
              </a:ext>
            </a:extLst>
          </p:cNvPr>
          <p:cNvSpPr txBox="1"/>
          <p:nvPr/>
        </p:nvSpPr>
        <p:spPr>
          <a:xfrm>
            <a:off x="9055507" y="1488338"/>
            <a:ext cx="3288408" cy="646331"/>
          </a:xfrm>
          <a:prstGeom prst="rect">
            <a:avLst/>
          </a:prstGeom>
          <a:noFill/>
        </p:spPr>
        <p:txBody>
          <a:bodyPr wrap="square" rtlCol="0">
            <a:spAutoFit/>
          </a:bodyPr>
          <a:lstStyle/>
          <a:p>
            <a:r>
              <a:rPr lang="de-DE" b="1" dirty="0">
                <a:solidFill>
                  <a:schemeClr val="accent2"/>
                </a:solidFill>
                <a:latin typeface="+mj-lt"/>
              </a:rPr>
              <a:t>Wertzuwachs</a:t>
            </a:r>
            <a:endParaRPr lang="de-DE" sz="1050" b="1" dirty="0">
              <a:solidFill>
                <a:schemeClr val="accent2"/>
              </a:solidFill>
              <a:latin typeface="+mj-lt"/>
            </a:endParaRPr>
          </a:p>
          <a:p>
            <a:r>
              <a:rPr lang="de-DE" b="1" dirty="0">
                <a:solidFill>
                  <a:schemeClr val="accent2"/>
                </a:solidFill>
                <a:latin typeface="+mj-lt"/>
              </a:rPr>
              <a:t> 	 </a:t>
            </a:r>
            <a:endParaRPr lang="de-CH" b="1" dirty="0">
              <a:solidFill>
                <a:schemeClr val="accent2"/>
              </a:solidFill>
              <a:latin typeface="+mj-lt"/>
            </a:endParaRPr>
          </a:p>
        </p:txBody>
      </p:sp>
      <p:sp>
        <p:nvSpPr>
          <p:cNvPr id="26" name="Textfeld 25">
            <a:extLst>
              <a:ext uri="{FF2B5EF4-FFF2-40B4-BE49-F238E27FC236}">
                <a16:creationId xmlns:a16="http://schemas.microsoft.com/office/drawing/2014/main" id="{4BABA3CB-1B40-F87E-E83E-1087AE70BA37}"/>
              </a:ext>
            </a:extLst>
          </p:cNvPr>
          <p:cNvSpPr txBox="1"/>
          <p:nvPr/>
        </p:nvSpPr>
        <p:spPr>
          <a:xfrm>
            <a:off x="8839199" y="1997840"/>
            <a:ext cx="2676351" cy="276999"/>
          </a:xfrm>
          <a:prstGeom prst="rect">
            <a:avLst/>
          </a:prstGeom>
          <a:noFill/>
        </p:spPr>
        <p:txBody>
          <a:bodyPr wrap="square" rtlCol="0">
            <a:spAutoFit/>
          </a:bodyPr>
          <a:lstStyle/>
          <a:p>
            <a:r>
              <a:rPr lang="de-CH" sz="1200" dirty="0"/>
              <a:t>(Differenz Anlage/Marktwert) x 100</a:t>
            </a:r>
          </a:p>
        </p:txBody>
      </p:sp>
      <p:cxnSp>
        <p:nvCxnSpPr>
          <p:cNvPr id="27" name="Gerader Verbinder 26">
            <a:extLst>
              <a:ext uri="{FF2B5EF4-FFF2-40B4-BE49-F238E27FC236}">
                <a16:creationId xmlns:a16="http://schemas.microsoft.com/office/drawing/2014/main" id="{7D4CF059-592C-AF04-E652-FE05CB991429}"/>
              </a:ext>
            </a:extLst>
          </p:cNvPr>
          <p:cNvCxnSpPr>
            <a:cxnSpLocks/>
          </p:cNvCxnSpPr>
          <p:nvPr/>
        </p:nvCxnSpPr>
        <p:spPr>
          <a:xfrm>
            <a:off x="8938510" y="2341812"/>
            <a:ext cx="2320414"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C9F999A9-6033-F1C1-F473-9D899D6BF1BA}"/>
              </a:ext>
            </a:extLst>
          </p:cNvPr>
          <p:cNvSpPr txBox="1"/>
          <p:nvPr/>
        </p:nvSpPr>
        <p:spPr>
          <a:xfrm>
            <a:off x="9515649" y="2421877"/>
            <a:ext cx="2676351" cy="276999"/>
          </a:xfrm>
          <a:prstGeom prst="rect">
            <a:avLst/>
          </a:prstGeom>
          <a:noFill/>
        </p:spPr>
        <p:txBody>
          <a:bodyPr wrap="square" rtlCol="0">
            <a:spAutoFit/>
          </a:bodyPr>
          <a:lstStyle/>
          <a:p>
            <a:r>
              <a:rPr lang="de-CH" sz="1200" dirty="0"/>
              <a:t>Anlagekosten</a:t>
            </a:r>
          </a:p>
        </p:txBody>
      </p:sp>
      <p:sp>
        <p:nvSpPr>
          <p:cNvPr id="29" name="Textfeld 28">
            <a:extLst>
              <a:ext uri="{FF2B5EF4-FFF2-40B4-BE49-F238E27FC236}">
                <a16:creationId xmlns:a16="http://schemas.microsoft.com/office/drawing/2014/main" id="{89D8AB69-7325-65B7-A9D2-F6BA547E58A1}"/>
              </a:ext>
            </a:extLst>
          </p:cNvPr>
          <p:cNvSpPr txBox="1"/>
          <p:nvPr/>
        </p:nvSpPr>
        <p:spPr>
          <a:xfrm>
            <a:off x="9055507" y="4870445"/>
            <a:ext cx="2676351" cy="276999"/>
          </a:xfrm>
          <a:prstGeom prst="rect">
            <a:avLst/>
          </a:prstGeom>
          <a:noFill/>
        </p:spPr>
        <p:txBody>
          <a:bodyPr wrap="square" rtlCol="0">
            <a:spAutoFit/>
          </a:bodyPr>
          <a:lstStyle/>
          <a:p>
            <a:r>
              <a:rPr lang="de-CH" sz="1200" dirty="0"/>
              <a:t>Nettorendite + Wertzuwachs</a:t>
            </a:r>
          </a:p>
        </p:txBody>
      </p:sp>
      <p:sp>
        <p:nvSpPr>
          <p:cNvPr id="10" name="Textfeld 9">
            <a:extLst>
              <a:ext uri="{FF2B5EF4-FFF2-40B4-BE49-F238E27FC236}">
                <a16:creationId xmlns:a16="http://schemas.microsoft.com/office/drawing/2014/main" id="{4FCA701C-B91F-7BB8-8CD2-8D41CA778400}"/>
              </a:ext>
            </a:extLst>
          </p:cNvPr>
          <p:cNvSpPr txBox="1"/>
          <p:nvPr/>
        </p:nvSpPr>
        <p:spPr>
          <a:xfrm>
            <a:off x="5264679" y="2798946"/>
            <a:ext cx="1112034" cy="246221"/>
          </a:xfrm>
          <a:prstGeom prst="rect">
            <a:avLst/>
          </a:prstGeom>
          <a:noFill/>
        </p:spPr>
        <p:txBody>
          <a:bodyPr wrap="square" rtlCol="0">
            <a:spAutoFit/>
          </a:bodyPr>
          <a:lstStyle/>
          <a:p>
            <a:r>
              <a:rPr lang="de-CH" sz="1000" dirty="0"/>
              <a:t>Eigenkapital</a:t>
            </a:r>
          </a:p>
        </p:txBody>
      </p:sp>
    </p:spTree>
    <p:extLst>
      <p:ext uri="{BB962C8B-B14F-4D97-AF65-F5344CB8AC3E}">
        <p14:creationId xmlns:p14="http://schemas.microsoft.com/office/powerpoint/2010/main" val="541721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Mietdauer</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9F169A4E-8885-7E84-4983-4A3BDF1BB5C4}"/>
              </a:ext>
            </a:extLst>
          </p:cNvPr>
          <p:cNvSpPr txBox="1"/>
          <p:nvPr/>
        </p:nvSpPr>
        <p:spPr>
          <a:xfrm>
            <a:off x="371650" y="1479306"/>
            <a:ext cx="3288408" cy="1015663"/>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Bestimmte Dauer</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(sog. Echt befristetes Mietverhältnis)</a:t>
            </a:r>
          </a:p>
          <a:p>
            <a:r>
              <a:rPr lang="de-DE" b="1" dirty="0">
                <a:solidFill>
                  <a:schemeClr val="accent2"/>
                </a:solidFill>
                <a:latin typeface="+mj-lt"/>
              </a:rPr>
              <a:t>	 </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A3ABABF9-4039-DFE5-CEE1-D1D09F9757D3}"/>
              </a:ext>
            </a:extLst>
          </p:cNvPr>
          <p:cNvSpPr txBox="1"/>
          <p:nvPr/>
        </p:nvSpPr>
        <p:spPr>
          <a:xfrm>
            <a:off x="4207050" y="1479306"/>
            <a:ext cx="3288408" cy="1292662"/>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Unbestimmte Dauer mit Mindestdauer</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(sog. unecht befristetes Mietverhältnis)</a:t>
            </a:r>
          </a:p>
          <a:p>
            <a:r>
              <a:rPr lang="de-DE" b="1" dirty="0">
                <a:solidFill>
                  <a:schemeClr val="accent2"/>
                </a:solidFill>
                <a:latin typeface="+mj-lt"/>
              </a:rPr>
              <a:t>	 </a:t>
            </a:r>
            <a:endParaRPr lang="de-CH" b="1" dirty="0">
              <a:solidFill>
                <a:schemeClr val="accent2"/>
              </a:solidFill>
              <a:latin typeface="+mj-lt"/>
            </a:endParaRPr>
          </a:p>
        </p:txBody>
      </p:sp>
      <p:sp>
        <p:nvSpPr>
          <p:cNvPr id="4" name="Textfeld 3">
            <a:extLst>
              <a:ext uri="{FF2B5EF4-FFF2-40B4-BE49-F238E27FC236}">
                <a16:creationId xmlns:a16="http://schemas.microsoft.com/office/drawing/2014/main" id="{2FF92DC2-CFDB-2651-EB35-48E9FCB5469B}"/>
              </a:ext>
            </a:extLst>
          </p:cNvPr>
          <p:cNvSpPr txBox="1"/>
          <p:nvPr/>
        </p:nvSpPr>
        <p:spPr>
          <a:xfrm>
            <a:off x="8042450" y="1478551"/>
            <a:ext cx="3288408" cy="553998"/>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Ohne Mindestdauer</a:t>
            </a:r>
            <a:endParaRPr lang="de-DE" sz="1050" b="1" dirty="0">
              <a:solidFill>
                <a:schemeClr val="accent2"/>
              </a:solidFill>
              <a:latin typeface="+mj-lt"/>
            </a:endParaRPr>
          </a:p>
          <a:p>
            <a:pPr marL="742950" lvl="1" indent="-285750">
              <a:buFont typeface="Arial" panose="020B0604020202020204" pitchFamily="34" charset="0"/>
              <a:buChar char="•"/>
            </a:pPr>
            <a:r>
              <a:rPr lang="de-DE" sz="1200" dirty="0">
                <a:latin typeface="+mj-lt"/>
              </a:rPr>
              <a:t>(sog. Unbefristetes Mietverhältnis)</a:t>
            </a:r>
            <a:endParaRPr lang="de-CH" b="1" dirty="0">
              <a:solidFill>
                <a:schemeClr val="accent2"/>
              </a:solidFill>
              <a:latin typeface="+mj-lt"/>
            </a:endParaRPr>
          </a:p>
        </p:txBody>
      </p:sp>
    </p:spTree>
    <p:extLst>
      <p:ext uri="{BB962C8B-B14F-4D97-AF65-F5344CB8AC3E}">
        <p14:creationId xmlns:p14="http://schemas.microsoft.com/office/powerpoint/2010/main" val="132915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Tätigkeiten Bewirtschaftung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6385E87C-8D0C-3592-0CFF-B9012259F341}"/>
              </a:ext>
            </a:extLst>
          </p:cNvPr>
          <p:cNvSpPr txBox="1"/>
          <p:nvPr/>
        </p:nvSpPr>
        <p:spPr>
          <a:xfrm>
            <a:off x="66622" y="1072906"/>
            <a:ext cx="4031901" cy="4524315"/>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Administrative </a:t>
            </a:r>
            <a:r>
              <a:rPr lang="de-DE" b="1" dirty="0" err="1">
                <a:solidFill>
                  <a:schemeClr val="accent2"/>
                </a:solidFill>
                <a:latin typeface="+mj-lt"/>
              </a:rPr>
              <a:t>Bewirt</a:t>
            </a:r>
            <a:r>
              <a:rPr lang="de-DE" b="1" dirty="0">
                <a:solidFill>
                  <a:schemeClr val="accent2"/>
                </a:solidFill>
                <a:latin typeface="+mj-lt"/>
              </a:rPr>
              <a:t>.</a:t>
            </a:r>
            <a:endParaRPr lang="de-DE" sz="1050" b="1" dirty="0">
              <a:solidFill>
                <a:schemeClr val="accent2"/>
              </a:solidFill>
              <a:latin typeface="+mj-lt"/>
            </a:endParaRPr>
          </a:p>
          <a:p>
            <a:pPr marL="742950" lvl="1" indent="-285750">
              <a:buFont typeface="Arial" panose="020B0604020202020204" pitchFamily="34" charset="0"/>
              <a:buChar char="•"/>
            </a:pPr>
            <a:r>
              <a:rPr lang="de-CH" sz="1200" dirty="0"/>
              <a:t>Erledigung der Mieterangelegenheiten </a:t>
            </a:r>
          </a:p>
          <a:p>
            <a:pPr lvl="1"/>
            <a:endParaRPr lang="de-CH" sz="1200" dirty="0"/>
          </a:p>
          <a:p>
            <a:pPr marL="742950" lvl="1" indent="-285750">
              <a:buFont typeface="Arial" panose="020B0604020202020204" pitchFamily="34" charset="0"/>
              <a:buChar char="•"/>
            </a:pPr>
            <a:r>
              <a:rPr lang="de-CH" sz="1200" dirty="0"/>
              <a:t>Vermietung der Objekte mittels geeigneter Werbung</a:t>
            </a:r>
          </a:p>
          <a:p>
            <a:pPr lvl="1"/>
            <a:endParaRPr lang="de-CH" sz="1200" dirty="0"/>
          </a:p>
          <a:p>
            <a:pPr marL="742950" lvl="1" indent="-285750">
              <a:buFont typeface="Arial" panose="020B0604020202020204" pitchFamily="34" charset="0"/>
              <a:buChar char="•"/>
            </a:pPr>
            <a:r>
              <a:rPr lang="de-CH" sz="1200" dirty="0"/>
              <a:t> Einholen von Auskünften über Mietinteressenten</a:t>
            </a:r>
          </a:p>
          <a:p>
            <a:pPr lvl="1"/>
            <a:endParaRPr lang="de-CH" sz="1200" dirty="0"/>
          </a:p>
          <a:p>
            <a:pPr marL="742950" lvl="1" indent="-285750">
              <a:buFont typeface="Arial" panose="020B0604020202020204" pitchFamily="34" charset="0"/>
              <a:buChar char="•"/>
            </a:pPr>
            <a:r>
              <a:rPr lang="de-CH" sz="1200" dirty="0"/>
              <a:t> Abschluss, Erneuerung und Kündigung von Mietverträgen</a:t>
            </a:r>
          </a:p>
          <a:p>
            <a:pPr lvl="1"/>
            <a:endParaRPr lang="de-CH" sz="1200" dirty="0"/>
          </a:p>
          <a:p>
            <a:pPr marL="742950" lvl="1" indent="-285750">
              <a:buFont typeface="Arial" panose="020B0604020202020204" pitchFamily="34" charset="0"/>
              <a:buChar char="•"/>
            </a:pPr>
            <a:r>
              <a:rPr lang="de-CH" sz="1200" dirty="0"/>
              <a:t> Regelung der Sicherheitsleistungen</a:t>
            </a:r>
          </a:p>
          <a:p>
            <a:pPr lvl="1"/>
            <a:endParaRPr lang="de-CH" sz="1200" dirty="0"/>
          </a:p>
          <a:p>
            <a:pPr marL="742950" lvl="1" indent="-285750">
              <a:buFont typeface="Arial" panose="020B0604020202020204" pitchFamily="34" charset="0"/>
              <a:buChar char="•"/>
            </a:pPr>
            <a:r>
              <a:rPr lang="de-CH" sz="1200" dirty="0"/>
              <a:t> Überprüfen der Mietzinse sowie aller vertraglichen Nebenkosten und deren Anpassung nach Absprache mit dem Auftraggeber</a:t>
            </a:r>
          </a:p>
          <a:p>
            <a:pPr lvl="1"/>
            <a:endParaRPr lang="de-CH" sz="1200" dirty="0"/>
          </a:p>
          <a:p>
            <a:pPr marL="742950" lvl="1" indent="-285750">
              <a:buFont typeface="Arial" panose="020B0604020202020204" pitchFamily="34" charset="0"/>
              <a:buChar char="•"/>
            </a:pPr>
            <a:r>
              <a:rPr lang="de-CH" sz="1200" dirty="0"/>
              <a:t> Abschluss, Erneuerung und Kündigung von Versicherungs- und Serviceverträgen inkl. Überprüfung und Anpassung des Deckungs- bzw. Leistungsumfangs</a:t>
            </a:r>
            <a:r>
              <a:rPr lang="de-DE" b="1" dirty="0">
                <a:solidFill>
                  <a:schemeClr val="accent2"/>
                </a:solidFill>
                <a:latin typeface="+mj-lt"/>
              </a:rPr>
              <a:t>	 </a:t>
            </a:r>
            <a:endParaRPr lang="de-CH" b="1" dirty="0">
              <a:solidFill>
                <a:schemeClr val="accent2"/>
              </a:solidFill>
              <a:latin typeface="+mj-lt"/>
            </a:endParaRPr>
          </a:p>
        </p:txBody>
      </p:sp>
      <p:sp>
        <p:nvSpPr>
          <p:cNvPr id="3" name="Textfeld 2">
            <a:extLst>
              <a:ext uri="{FF2B5EF4-FFF2-40B4-BE49-F238E27FC236}">
                <a16:creationId xmlns:a16="http://schemas.microsoft.com/office/drawing/2014/main" id="{22DCD863-FC89-7A77-A7C4-9C6E06E1A7FE}"/>
              </a:ext>
            </a:extLst>
          </p:cNvPr>
          <p:cNvSpPr txBox="1"/>
          <p:nvPr/>
        </p:nvSpPr>
        <p:spPr>
          <a:xfrm>
            <a:off x="4006158" y="1072906"/>
            <a:ext cx="4281055" cy="4708981"/>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Technische </a:t>
            </a:r>
            <a:r>
              <a:rPr lang="de-DE" b="1" dirty="0" err="1">
                <a:solidFill>
                  <a:schemeClr val="accent2"/>
                </a:solidFill>
                <a:latin typeface="+mj-lt"/>
              </a:rPr>
              <a:t>Bewirt</a:t>
            </a:r>
            <a:r>
              <a:rPr lang="de-DE" b="1" dirty="0">
                <a:solidFill>
                  <a:schemeClr val="accent2"/>
                </a:solidFill>
                <a:latin typeface="+mj-lt"/>
              </a:rPr>
              <a:t>. </a:t>
            </a:r>
            <a:endParaRPr lang="de-DE" sz="1050" b="1" dirty="0">
              <a:solidFill>
                <a:schemeClr val="accent2"/>
              </a:solidFill>
              <a:latin typeface="+mj-lt"/>
            </a:endParaRPr>
          </a:p>
          <a:p>
            <a:pPr marL="742950" lvl="1" indent="-285750">
              <a:buFont typeface="Arial" panose="020B0604020202020204" pitchFamily="34" charset="0"/>
              <a:buChar char="•"/>
            </a:pPr>
            <a:r>
              <a:rPr lang="de-CH" sz="1200" dirty="0"/>
              <a:t>Abnahme und Übergabe von Mietobjekten bei Mieterwechsel inkl. erstellen von entsprechenden Protokollen</a:t>
            </a:r>
          </a:p>
          <a:p>
            <a:pPr lvl="1"/>
            <a:endParaRPr lang="de-CH" sz="1200" dirty="0"/>
          </a:p>
          <a:p>
            <a:pPr marL="742950" lvl="1" indent="-285750">
              <a:buFont typeface="Arial" panose="020B0604020202020204" pitchFamily="34" charset="0"/>
              <a:buChar char="•"/>
            </a:pPr>
            <a:r>
              <a:rPr lang="de-CH" sz="1200" dirty="0"/>
              <a:t>Erstellen von Abrechnungen bei Mieterwechsel</a:t>
            </a:r>
          </a:p>
          <a:p>
            <a:pPr lvl="1"/>
            <a:endParaRPr lang="de-CH" sz="1200" dirty="0"/>
          </a:p>
          <a:p>
            <a:pPr marL="742950" lvl="1" indent="-285750">
              <a:buFont typeface="Arial" panose="020B0604020202020204" pitchFamily="34" charset="0"/>
              <a:buChar char="•"/>
            </a:pPr>
            <a:r>
              <a:rPr lang="de-CH" sz="1200" dirty="0"/>
              <a:t>Erstellen und Überwachen der Hausordnung, der Waschküchenordnung und des Waschplanes</a:t>
            </a:r>
          </a:p>
          <a:p>
            <a:pPr lvl="1"/>
            <a:endParaRPr lang="de-CH" sz="1200" dirty="0"/>
          </a:p>
          <a:p>
            <a:pPr marL="742950" lvl="1" indent="-285750">
              <a:buFont typeface="Arial" panose="020B0604020202020204" pitchFamily="34" charset="0"/>
              <a:buChar char="•"/>
            </a:pPr>
            <a:r>
              <a:rPr lang="de-CH" sz="1200" dirty="0"/>
              <a:t>Abschluss, Erneuerung und Kündigung von Hauswartverträgen / Einkauf der Heizenergie</a:t>
            </a:r>
          </a:p>
          <a:p>
            <a:pPr lvl="1"/>
            <a:endParaRPr lang="de-CH" sz="1200" dirty="0"/>
          </a:p>
          <a:p>
            <a:pPr marL="742950" lvl="1" indent="-285750">
              <a:buFont typeface="Arial" panose="020B0604020202020204" pitchFamily="34" charset="0"/>
              <a:buChar char="•"/>
            </a:pPr>
            <a:r>
              <a:rPr lang="de-CH" sz="1200" dirty="0"/>
              <a:t>Regelmässige Kontrollbesuche der Liegenschaft zur Überprüfung des Gesamtzustandes inkl. Erstellung eines Zustandsberichtes</a:t>
            </a:r>
          </a:p>
          <a:p>
            <a:pPr lvl="1"/>
            <a:endParaRPr lang="de-CH" sz="1200" dirty="0"/>
          </a:p>
          <a:p>
            <a:pPr marL="742950" lvl="1" indent="-285750">
              <a:buFont typeface="Arial" panose="020B0604020202020204" pitchFamily="34" charset="0"/>
              <a:buChar char="•"/>
            </a:pPr>
            <a:r>
              <a:rPr lang="de-CH" sz="1200" dirty="0"/>
              <a:t>Auftragserteilung im Rahmen der Kompetenzsumme für Reparaturen inkl. Überwachung und Kontrolle der erteilten Aufträge</a:t>
            </a:r>
          </a:p>
          <a:p>
            <a:pPr lvl="1"/>
            <a:endParaRPr lang="de-CH" sz="1200" dirty="0"/>
          </a:p>
          <a:p>
            <a:pPr marL="742950" lvl="1" indent="-285750">
              <a:buFont typeface="Arial" panose="020B0604020202020204" pitchFamily="34" charset="0"/>
              <a:buChar char="•"/>
            </a:pPr>
            <a:r>
              <a:rPr lang="de-CH" sz="1200" dirty="0"/>
              <a:t>Aufnahme und Erledigung von Versicherungsfällen</a:t>
            </a:r>
            <a:r>
              <a:rPr lang="de-DE" b="1" dirty="0">
                <a:solidFill>
                  <a:schemeClr val="accent2"/>
                </a:solidFill>
                <a:latin typeface="+mj-lt"/>
              </a:rPr>
              <a:t>	 </a:t>
            </a:r>
            <a:endParaRPr lang="de-CH" b="1" dirty="0">
              <a:solidFill>
                <a:schemeClr val="accent2"/>
              </a:solidFill>
              <a:latin typeface="+mj-lt"/>
            </a:endParaRPr>
          </a:p>
        </p:txBody>
      </p:sp>
      <p:sp>
        <p:nvSpPr>
          <p:cNvPr id="4" name="Textfeld 3">
            <a:extLst>
              <a:ext uri="{FF2B5EF4-FFF2-40B4-BE49-F238E27FC236}">
                <a16:creationId xmlns:a16="http://schemas.microsoft.com/office/drawing/2014/main" id="{C1CCA54C-5691-A87F-21D4-DC03971BB72C}"/>
              </a:ext>
            </a:extLst>
          </p:cNvPr>
          <p:cNvSpPr txBox="1"/>
          <p:nvPr/>
        </p:nvSpPr>
        <p:spPr>
          <a:xfrm>
            <a:off x="8287213" y="1078441"/>
            <a:ext cx="3838165" cy="4154984"/>
          </a:xfrm>
          <a:prstGeom prst="rect">
            <a:avLst/>
          </a:prstGeom>
          <a:noFill/>
        </p:spPr>
        <p:txBody>
          <a:bodyPr wrap="square" rtlCol="0">
            <a:spAutoFit/>
          </a:bodyPr>
          <a:lstStyle/>
          <a:p>
            <a:pPr marL="285750" indent="-285750">
              <a:buFont typeface="Arial" panose="020B0604020202020204" pitchFamily="34" charset="0"/>
              <a:buChar char="•"/>
            </a:pPr>
            <a:r>
              <a:rPr lang="de-DE" b="1" dirty="0">
                <a:solidFill>
                  <a:schemeClr val="accent2"/>
                </a:solidFill>
                <a:latin typeface="+mj-lt"/>
              </a:rPr>
              <a:t>Buchhalterische </a:t>
            </a:r>
            <a:r>
              <a:rPr lang="de-DE" b="1" dirty="0" err="1">
                <a:solidFill>
                  <a:schemeClr val="accent2"/>
                </a:solidFill>
                <a:latin typeface="+mj-lt"/>
              </a:rPr>
              <a:t>Bewirt</a:t>
            </a:r>
            <a:r>
              <a:rPr lang="de-DE" b="1" dirty="0">
                <a:solidFill>
                  <a:schemeClr val="accent2"/>
                </a:solidFill>
                <a:latin typeface="+mj-lt"/>
              </a:rPr>
              <a:t>.</a:t>
            </a:r>
            <a:endParaRPr lang="de-DE" sz="1050" b="1" dirty="0">
              <a:solidFill>
                <a:schemeClr val="accent2"/>
              </a:solidFill>
              <a:latin typeface="+mj-lt"/>
            </a:endParaRPr>
          </a:p>
          <a:p>
            <a:pPr marL="742950" lvl="1" indent="-285750">
              <a:buFont typeface="Arial" panose="020B0604020202020204" pitchFamily="34" charset="0"/>
              <a:buChar char="•"/>
            </a:pPr>
            <a:r>
              <a:rPr lang="de-CH" sz="1200" dirty="0"/>
              <a:t>Inkasso der Mietzinse sowie Nebenkosten auf den Fälligkeitstermin und aller aus den Mietverhältnissen sich ergebenden Guthaben inkl. Mahnwesen</a:t>
            </a:r>
          </a:p>
          <a:p>
            <a:pPr lvl="1"/>
            <a:endParaRPr lang="de-CH" sz="1200" dirty="0"/>
          </a:p>
          <a:p>
            <a:pPr marL="742950" lvl="1" indent="-285750">
              <a:buFont typeface="Arial" panose="020B0604020202020204" pitchFamily="34" charset="0"/>
              <a:buChar char="•"/>
            </a:pPr>
            <a:r>
              <a:rPr lang="de-CH" sz="1200" dirty="0"/>
              <a:t>Auszahlung der Sicherheitsleistungen</a:t>
            </a:r>
          </a:p>
          <a:p>
            <a:pPr lvl="1"/>
            <a:endParaRPr lang="de-CH" sz="1200" dirty="0"/>
          </a:p>
          <a:p>
            <a:pPr marL="742950" lvl="1" indent="-285750">
              <a:buFont typeface="Arial" panose="020B0604020202020204" pitchFamily="34" charset="0"/>
              <a:buChar char="•"/>
            </a:pPr>
            <a:r>
              <a:rPr lang="de-CH" sz="1200" dirty="0"/>
              <a:t>Kontrolle und Bezahlung der Rechnungen</a:t>
            </a:r>
          </a:p>
          <a:p>
            <a:pPr lvl="1"/>
            <a:endParaRPr lang="de-CH" sz="1200" dirty="0"/>
          </a:p>
          <a:p>
            <a:pPr marL="742950" lvl="1" indent="-285750">
              <a:buFont typeface="Arial" panose="020B0604020202020204" pitchFamily="34" charset="0"/>
              <a:buChar char="•"/>
            </a:pPr>
            <a:r>
              <a:rPr lang="de-CH" sz="1200" dirty="0"/>
              <a:t>Gehaltsabrechnung des Hauswartes inkl. Abrechnung der Sozialabgaben</a:t>
            </a:r>
          </a:p>
          <a:p>
            <a:pPr lvl="1"/>
            <a:endParaRPr lang="de-CH" sz="1200" dirty="0"/>
          </a:p>
          <a:p>
            <a:pPr marL="742950" lvl="1" indent="-285750">
              <a:buFont typeface="Arial" panose="020B0604020202020204" pitchFamily="34" charset="0"/>
              <a:buChar char="•"/>
            </a:pPr>
            <a:r>
              <a:rPr lang="de-CH" sz="1200" dirty="0"/>
              <a:t>Führen der </a:t>
            </a:r>
            <a:r>
              <a:rPr lang="de-CH" sz="1200" dirty="0" err="1"/>
              <a:t>Liegenschaftenbuchhaltung</a:t>
            </a:r>
            <a:endParaRPr lang="de-CH" sz="1200" dirty="0"/>
          </a:p>
          <a:p>
            <a:pPr lvl="1"/>
            <a:endParaRPr lang="de-CH" sz="1200" dirty="0"/>
          </a:p>
          <a:p>
            <a:pPr marL="742950" lvl="1" indent="-285750">
              <a:buFont typeface="Arial" panose="020B0604020202020204" pitchFamily="34" charset="0"/>
              <a:buChar char="•"/>
            </a:pPr>
            <a:r>
              <a:rPr lang="de-CH" sz="1200" dirty="0"/>
              <a:t>Erstellen der jährlichen Verwaltungsabrechnung auf Ende der Abrechnungsperiode</a:t>
            </a:r>
          </a:p>
          <a:p>
            <a:pPr lvl="1"/>
            <a:endParaRPr lang="de-CH" sz="1200" dirty="0"/>
          </a:p>
          <a:p>
            <a:pPr marL="742950" lvl="1" indent="-285750">
              <a:buFont typeface="Arial" panose="020B0604020202020204" pitchFamily="34" charset="0"/>
              <a:buChar char="•"/>
            </a:pPr>
            <a:r>
              <a:rPr lang="de-CH" sz="1200" dirty="0"/>
              <a:t>Führen der Heiz- und Betriebskostenabrechnung</a:t>
            </a:r>
            <a:r>
              <a:rPr lang="de-DE" b="1" dirty="0">
                <a:solidFill>
                  <a:schemeClr val="accent2"/>
                </a:solidFill>
                <a:latin typeface="+mj-lt"/>
              </a:rPr>
              <a:t>	 </a:t>
            </a:r>
            <a:endParaRPr lang="de-CH" b="1" dirty="0">
              <a:solidFill>
                <a:schemeClr val="accent2"/>
              </a:solidFill>
              <a:latin typeface="+mj-lt"/>
            </a:endParaRPr>
          </a:p>
        </p:txBody>
      </p:sp>
    </p:spTree>
    <p:extLst>
      <p:ext uri="{BB962C8B-B14F-4D97-AF65-F5344CB8AC3E}">
        <p14:creationId xmlns:p14="http://schemas.microsoft.com/office/powerpoint/2010/main" val="3706257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Baurecht</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9DC8B3D9-4FD0-341C-0794-8DB8D610B5BE}"/>
              </a:ext>
            </a:extLst>
          </p:cNvPr>
          <p:cNvSpPr txBox="1"/>
          <p:nvPr/>
        </p:nvSpPr>
        <p:spPr>
          <a:xfrm>
            <a:off x="514816" y="1138446"/>
            <a:ext cx="8647658" cy="3416320"/>
          </a:xfrm>
          <a:prstGeom prst="rect">
            <a:avLst/>
          </a:prstGeom>
          <a:noFill/>
        </p:spPr>
        <p:txBody>
          <a:bodyPr wrap="square">
            <a:spAutoFit/>
          </a:bodyPr>
          <a:lstStyle/>
          <a:p>
            <a:r>
              <a:rPr lang="de-CH" b="0" i="0" dirty="0">
                <a:solidFill>
                  <a:srgbClr val="4D5156"/>
                </a:solidFill>
                <a:effectLst/>
                <a:latin typeface="arial" panose="020B0604020202020204" pitchFamily="34" charset="0"/>
              </a:rPr>
              <a:t>Baurecht bedeutet im Schweizer Privatrecht, dass ein Grundeigentümer einem Baurechtsnehmer zeitlich befristet das Recht zugesteht, auf seinem Grund und Boden zu bauen. Darum wird es auch als «Landkauf auf Zeit» bezeichnet.</a:t>
            </a:r>
          </a:p>
          <a:p>
            <a:endParaRPr lang="de-CH" dirty="0">
              <a:solidFill>
                <a:srgbClr val="4D5156"/>
              </a:solidFill>
              <a:latin typeface="arial" panose="020B0604020202020204" pitchFamily="34" charset="0"/>
            </a:endParaRPr>
          </a:p>
          <a:p>
            <a:r>
              <a:rPr lang="de-CH" dirty="0">
                <a:solidFill>
                  <a:srgbClr val="4D5156"/>
                </a:solidFill>
                <a:latin typeface="arial" panose="020B0604020202020204" pitchFamily="34" charset="0"/>
              </a:rPr>
              <a:t>- Das Recht auf einem fremden Grundstück zu bauen </a:t>
            </a:r>
            <a:r>
              <a:rPr lang="de-CH" dirty="0">
                <a:solidFill>
                  <a:srgbClr val="4D5156"/>
                </a:solidFill>
                <a:latin typeface="arial" panose="020B0604020202020204" pitchFamily="34" charset="0"/>
                <a:sym typeface="Wingdings" panose="05000000000000000000" pitchFamily="2" charset="2"/>
              </a:rPr>
              <a:t> Dienstbarkeit </a:t>
            </a:r>
          </a:p>
          <a:p>
            <a:endParaRPr lang="de-CH" dirty="0">
              <a:solidFill>
                <a:srgbClr val="4D5156"/>
              </a:solidFill>
              <a:latin typeface="arial" panose="020B0604020202020204" pitchFamily="34" charset="0"/>
              <a:sym typeface="Wingdings" panose="05000000000000000000" pitchFamily="2" charset="2"/>
            </a:endParaRPr>
          </a:p>
          <a:p>
            <a:r>
              <a:rPr lang="de-CH" dirty="0">
                <a:solidFill>
                  <a:srgbClr val="4D5156"/>
                </a:solidFill>
                <a:latin typeface="arial" panose="020B0604020202020204" pitchFamily="34" charset="0"/>
                <a:sym typeface="Wingdings" panose="05000000000000000000" pitchFamily="2" charset="2"/>
              </a:rPr>
              <a:t>-Max. 100 Jahre Baurechtsvertrag, kann anschliessend verlängert werden</a:t>
            </a:r>
          </a:p>
          <a:p>
            <a:endParaRPr lang="de-CH" dirty="0">
              <a:solidFill>
                <a:srgbClr val="4D5156"/>
              </a:solidFill>
              <a:latin typeface="arial" panose="020B0604020202020204" pitchFamily="34" charset="0"/>
              <a:sym typeface="Wingdings" panose="05000000000000000000" pitchFamily="2" charset="2"/>
            </a:endParaRPr>
          </a:p>
          <a:p>
            <a:r>
              <a:rPr lang="de-CH" dirty="0">
                <a:solidFill>
                  <a:srgbClr val="4D5156"/>
                </a:solidFill>
                <a:latin typeface="arial" panose="020B0604020202020204" pitchFamily="34" charset="0"/>
                <a:sym typeface="Wingdings" panose="05000000000000000000" pitchFamily="2" charset="2"/>
              </a:rPr>
              <a:t>- Baurechtszins an Grundeigentümer</a:t>
            </a:r>
          </a:p>
          <a:p>
            <a:endParaRPr lang="de-CH" dirty="0">
              <a:solidFill>
                <a:srgbClr val="4D5156"/>
              </a:solidFill>
              <a:latin typeface="arial" panose="020B0604020202020204" pitchFamily="34" charset="0"/>
              <a:sym typeface="Wingdings" panose="05000000000000000000" pitchFamily="2" charset="2"/>
            </a:endParaRPr>
          </a:p>
          <a:p>
            <a:r>
              <a:rPr lang="de-CH" dirty="0">
                <a:solidFill>
                  <a:srgbClr val="4D5156"/>
                </a:solidFill>
                <a:latin typeface="arial" panose="020B0604020202020204" pitchFamily="34" charset="0"/>
                <a:sym typeface="Wingdings" panose="05000000000000000000" pitchFamily="2" charset="2"/>
              </a:rPr>
              <a:t>- Heimfall  Wenn Gebäude nach Ablauf auf Grundstückeigentümer übertragen wird</a:t>
            </a:r>
            <a:endParaRPr lang="de-CH" dirty="0"/>
          </a:p>
        </p:txBody>
      </p:sp>
      <p:pic>
        <p:nvPicPr>
          <p:cNvPr id="9" name="Grafik 8">
            <a:extLst>
              <a:ext uri="{FF2B5EF4-FFF2-40B4-BE49-F238E27FC236}">
                <a16:creationId xmlns:a16="http://schemas.microsoft.com/office/drawing/2014/main" id="{DAF5AF26-6A0C-6659-DE01-3C81C84B82DD}"/>
              </a:ext>
            </a:extLst>
          </p:cNvPr>
          <p:cNvPicPr>
            <a:picLocks noChangeAspect="1"/>
          </p:cNvPicPr>
          <p:nvPr/>
        </p:nvPicPr>
        <p:blipFill>
          <a:blip r:embed="rId4"/>
          <a:stretch>
            <a:fillRect/>
          </a:stretch>
        </p:blipFill>
        <p:spPr>
          <a:xfrm>
            <a:off x="8931353" y="3429000"/>
            <a:ext cx="2870109" cy="2025960"/>
          </a:xfrm>
          <a:prstGeom prst="rect">
            <a:avLst/>
          </a:prstGeom>
        </p:spPr>
      </p:pic>
    </p:spTree>
    <p:extLst>
      <p:ext uri="{BB962C8B-B14F-4D97-AF65-F5344CB8AC3E}">
        <p14:creationId xmlns:p14="http://schemas.microsoft.com/office/powerpoint/2010/main" val="4240807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Katastereintrag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E4C481B7-E256-13C8-C16A-74E519EDA568}"/>
              </a:ext>
            </a:extLst>
          </p:cNvPr>
          <p:cNvSpPr txBox="1"/>
          <p:nvPr/>
        </p:nvSpPr>
        <p:spPr>
          <a:xfrm>
            <a:off x="514815" y="1030771"/>
            <a:ext cx="11409963" cy="646331"/>
          </a:xfrm>
          <a:prstGeom prst="rect">
            <a:avLst/>
          </a:prstGeom>
          <a:noFill/>
        </p:spPr>
        <p:txBody>
          <a:bodyPr wrap="square">
            <a:spAutoFit/>
          </a:bodyPr>
          <a:lstStyle/>
          <a:p>
            <a:r>
              <a:rPr lang="de-CH" dirty="0"/>
              <a:t>Der </a:t>
            </a:r>
            <a:r>
              <a:rPr lang="de-CH" dirty="0" err="1"/>
              <a:t>KbS</a:t>
            </a:r>
            <a:r>
              <a:rPr lang="de-CH" dirty="0"/>
              <a:t> ist öffentlich zugänglich, wird laufend nachgeführt und enthält nur noch Standorte, bei denen feststeht oder mit grosser Wahrscheinlichkeit zu erwarten ist, dass sie mit Abfällen belastet sind.</a:t>
            </a:r>
          </a:p>
        </p:txBody>
      </p:sp>
      <p:sp>
        <p:nvSpPr>
          <p:cNvPr id="9" name="Textfeld 8">
            <a:extLst>
              <a:ext uri="{FF2B5EF4-FFF2-40B4-BE49-F238E27FC236}">
                <a16:creationId xmlns:a16="http://schemas.microsoft.com/office/drawing/2014/main" id="{981BDB70-9E71-85E5-FB74-81640ED9F9BB}"/>
              </a:ext>
            </a:extLst>
          </p:cNvPr>
          <p:cNvSpPr txBox="1"/>
          <p:nvPr/>
        </p:nvSpPr>
        <p:spPr>
          <a:xfrm>
            <a:off x="514815" y="3089667"/>
            <a:ext cx="3620655" cy="461665"/>
          </a:xfrm>
          <a:prstGeom prst="rect">
            <a:avLst/>
          </a:prstGeom>
          <a:noFill/>
        </p:spPr>
        <p:txBody>
          <a:bodyPr wrap="square">
            <a:spAutoFit/>
          </a:bodyPr>
          <a:lstStyle/>
          <a:p>
            <a:r>
              <a:rPr lang="de-CH" sz="1200" dirty="0"/>
              <a:t>Belastete Standorte, von welchen schädliche oder lästige Einwirkungen zu erwarten sind</a:t>
            </a:r>
          </a:p>
        </p:txBody>
      </p:sp>
      <p:sp>
        <p:nvSpPr>
          <p:cNvPr id="11" name="Textfeld 10">
            <a:extLst>
              <a:ext uri="{FF2B5EF4-FFF2-40B4-BE49-F238E27FC236}">
                <a16:creationId xmlns:a16="http://schemas.microsoft.com/office/drawing/2014/main" id="{3D416EF0-141F-1CEE-35EE-E329F4414748}"/>
              </a:ext>
            </a:extLst>
          </p:cNvPr>
          <p:cNvSpPr txBox="1"/>
          <p:nvPr/>
        </p:nvSpPr>
        <p:spPr>
          <a:xfrm>
            <a:off x="6511636" y="3089667"/>
            <a:ext cx="3980873" cy="461665"/>
          </a:xfrm>
          <a:prstGeom prst="rect">
            <a:avLst/>
          </a:prstGeom>
          <a:noFill/>
        </p:spPr>
        <p:txBody>
          <a:bodyPr wrap="square">
            <a:spAutoFit/>
          </a:bodyPr>
          <a:lstStyle/>
          <a:p>
            <a:r>
              <a:rPr lang="de-CH" sz="1200" dirty="0"/>
              <a:t>Belastete Standorte, von denen aber </a:t>
            </a:r>
            <a:r>
              <a:rPr lang="de-CH" sz="1200" b="1" i="1" u="sng" dirty="0"/>
              <a:t>keine</a:t>
            </a:r>
            <a:r>
              <a:rPr lang="de-CH" sz="1200" dirty="0"/>
              <a:t> schädlichen oder lästigen Einwirkungen zu erwarten sind </a:t>
            </a:r>
          </a:p>
        </p:txBody>
      </p:sp>
      <p:sp>
        <p:nvSpPr>
          <p:cNvPr id="13" name="Textfeld 12">
            <a:extLst>
              <a:ext uri="{FF2B5EF4-FFF2-40B4-BE49-F238E27FC236}">
                <a16:creationId xmlns:a16="http://schemas.microsoft.com/office/drawing/2014/main" id="{2756F407-4B9F-F7D9-36C9-052015DFC102}"/>
              </a:ext>
            </a:extLst>
          </p:cNvPr>
          <p:cNvSpPr txBox="1"/>
          <p:nvPr/>
        </p:nvSpPr>
        <p:spPr>
          <a:xfrm>
            <a:off x="6511636" y="3883916"/>
            <a:ext cx="4387273" cy="1569660"/>
          </a:xfrm>
          <a:prstGeom prst="rect">
            <a:avLst/>
          </a:prstGeom>
          <a:noFill/>
        </p:spPr>
        <p:txBody>
          <a:bodyPr wrap="square">
            <a:spAutoFit/>
          </a:bodyPr>
          <a:lstStyle/>
          <a:p>
            <a:r>
              <a:rPr lang="de-CH" sz="1200" dirty="0"/>
              <a:t>Art. 3 </a:t>
            </a:r>
            <a:r>
              <a:rPr lang="de-CH" sz="1200" dirty="0" err="1"/>
              <a:t>AltlV</a:t>
            </a:r>
            <a:r>
              <a:rPr lang="de-CH" sz="1200" dirty="0"/>
              <a:t>: Erstellung und Änderung von Bauten und Anlagen Belastete Standorte dürfen durch die Erstellung oder Änderung von Bauten und Anlagen nur verändert werden, wenn: sie nicht sanierungsbedürftig sind und durch das Vorhaben nicht sanierungsbedürftig werden; oder ihre spätere Sanierung durch das Vorhaben nicht wesentlich erschwert wird oder sie, soweit sie durch das Vorhaben verändert werden, gleichzeitig saniert werden.</a:t>
            </a:r>
          </a:p>
        </p:txBody>
      </p:sp>
      <p:sp>
        <p:nvSpPr>
          <p:cNvPr id="15" name="Textfeld 14">
            <a:extLst>
              <a:ext uri="{FF2B5EF4-FFF2-40B4-BE49-F238E27FC236}">
                <a16:creationId xmlns:a16="http://schemas.microsoft.com/office/drawing/2014/main" id="{7EC1421D-9082-595B-96A6-7C1CA9DD9674}"/>
              </a:ext>
            </a:extLst>
          </p:cNvPr>
          <p:cNvSpPr txBox="1"/>
          <p:nvPr/>
        </p:nvSpPr>
        <p:spPr>
          <a:xfrm>
            <a:off x="415636" y="3770895"/>
            <a:ext cx="3980873" cy="830997"/>
          </a:xfrm>
          <a:prstGeom prst="rect">
            <a:avLst/>
          </a:prstGeom>
          <a:noFill/>
        </p:spPr>
        <p:txBody>
          <a:bodyPr wrap="square">
            <a:spAutoFit/>
          </a:bodyPr>
          <a:lstStyle/>
          <a:p>
            <a:r>
              <a:rPr lang="de-CH" sz="1200" dirty="0"/>
              <a:t>Art 20 </a:t>
            </a:r>
            <a:r>
              <a:rPr lang="de-CH" sz="1200" dirty="0" err="1"/>
              <a:t>AltlV</a:t>
            </a:r>
            <a:r>
              <a:rPr lang="de-CH" sz="1200" dirty="0"/>
              <a:t>: Die Untersuchungs-, Überwachungs- und Sanierungsmassnahmen sind vom Inhaber oder von der Inhaberin eines belasteten Standortes durchzuführen. </a:t>
            </a:r>
          </a:p>
        </p:txBody>
      </p:sp>
      <p:sp>
        <p:nvSpPr>
          <p:cNvPr id="17" name="Textfeld 16">
            <a:extLst>
              <a:ext uri="{FF2B5EF4-FFF2-40B4-BE49-F238E27FC236}">
                <a16:creationId xmlns:a16="http://schemas.microsoft.com/office/drawing/2014/main" id="{BFDDEB0D-9BE1-0608-1C72-75CED05579BD}"/>
              </a:ext>
            </a:extLst>
          </p:cNvPr>
          <p:cNvSpPr txBox="1"/>
          <p:nvPr/>
        </p:nvSpPr>
        <p:spPr>
          <a:xfrm>
            <a:off x="514814" y="1896665"/>
            <a:ext cx="10615003" cy="646331"/>
          </a:xfrm>
          <a:prstGeom prst="rect">
            <a:avLst/>
          </a:prstGeom>
          <a:noFill/>
        </p:spPr>
        <p:txBody>
          <a:bodyPr wrap="square">
            <a:spAutoFit/>
          </a:bodyPr>
          <a:lstStyle/>
          <a:p>
            <a:r>
              <a:rPr lang="de-CH" dirty="0"/>
              <a:t>Der Verkauf des Grundstücks, das im Altlastenkataster kontaminiert zu sein und im Altlastenkataster aufgeführt ist, bedarf einer speziellen Bewilligung der Umweltschutzbehörde (Art. 32 d USG).</a:t>
            </a:r>
          </a:p>
        </p:txBody>
      </p:sp>
    </p:spTree>
    <p:extLst>
      <p:ext uri="{BB962C8B-B14F-4D97-AF65-F5344CB8AC3E}">
        <p14:creationId xmlns:p14="http://schemas.microsoft.com/office/powerpoint/2010/main" val="414830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Erschliessung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C906D563-FD7B-6419-AC8D-C5031CD64473}"/>
              </a:ext>
            </a:extLst>
          </p:cNvPr>
          <p:cNvSpPr txBox="1"/>
          <p:nvPr/>
        </p:nvSpPr>
        <p:spPr>
          <a:xfrm>
            <a:off x="6830291" y="1743332"/>
            <a:ext cx="4789054" cy="2031325"/>
          </a:xfrm>
          <a:prstGeom prst="rect">
            <a:avLst/>
          </a:prstGeom>
          <a:noFill/>
        </p:spPr>
        <p:txBody>
          <a:bodyPr wrap="square" rtlCol="0">
            <a:spAutoFit/>
          </a:bodyPr>
          <a:lstStyle/>
          <a:p>
            <a:r>
              <a:rPr lang="de-CH" dirty="0"/>
              <a:t>Art. 19 RPG: Erschliessung 1 Land ist erschlossen, wenn die für die betreffende Nutzung hinreichende Zufahrt besteht und die erforderlichen Wasser-, Energie- sowie Abwasserleitungen so nahe heranführen, dass ein Anschluss ohne erheblichen Aufwand möglich ist</a:t>
            </a:r>
          </a:p>
        </p:txBody>
      </p:sp>
      <p:sp>
        <p:nvSpPr>
          <p:cNvPr id="8" name="Textfeld 7">
            <a:extLst>
              <a:ext uri="{FF2B5EF4-FFF2-40B4-BE49-F238E27FC236}">
                <a16:creationId xmlns:a16="http://schemas.microsoft.com/office/drawing/2014/main" id="{3C3AFD3A-C396-E821-0293-EEDB44647A46}"/>
              </a:ext>
            </a:extLst>
          </p:cNvPr>
          <p:cNvSpPr txBox="1"/>
          <p:nvPr/>
        </p:nvSpPr>
        <p:spPr>
          <a:xfrm>
            <a:off x="406400" y="1731325"/>
            <a:ext cx="6096000" cy="1200329"/>
          </a:xfrm>
          <a:prstGeom prst="rect">
            <a:avLst/>
          </a:prstGeom>
          <a:noFill/>
        </p:spPr>
        <p:txBody>
          <a:bodyPr wrap="square">
            <a:spAutoFit/>
          </a:bodyPr>
          <a:lstStyle/>
          <a:p>
            <a:r>
              <a:rPr lang="de-CH" dirty="0"/>
              <a:t>Art. 22 RPG: Baubewilligung 2 Voraussetzung einer Bewilligung ist, dass a. die Bauten und Anlagen dem Zweck der Nutzungszone entsprechen und b. das Land erschlossen ist.</a:t>
            </a:r>
          </a:p>
        </p:txBody>
      </p:sp>
    </p:spTree>
    <p:extLst>
      <p:ext uri="{BB962C8B-B14F-4D97-AF65-F5344CB8AC3E}">
        <p14:creationId xmlns:p14="http://schemas.microsoft.com/office/powerpoint/2010/main" val="1017698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Enteignung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9286E301-6D1F-92E3-E15B-A8C64F8BC7D9}"/>
              </a:ext>
            </a:extLst>
          </p:cNvPr>
          <p:cNvSpPr txBox="1"/>
          <p:nvPr/>
        </p:nvSpPr>
        <p:spPr>
          <a:xfrm>
            <a:off x="1209963" y="1422400"/>
            <a:ext cx="3703782" cy="369332"/>
          </a:xfrm>
          <a:prstGeom prst="rect">
            <a:avLst/>
          </a:prstGeom>
          <a:noFill/>
        </p:spPr>
        <p:txBody>
          <a:bodyPr wrap="square" rtlCol="0">
            <a:spAutoFit/>
          </a:bodyPr>
          <a:lstStyle/>
          <a:p>
            <a:r>
              <a:rPr lang="de-DE" dirty="0"/>
              <a:t>Formelle Enteignung</a:t>
            </a:r>
            <a:endParaRPr lang="de-CH" dirty="0"/>
          </a:p>
        </p:txBody>
      </p:sp>
      <p:sp>
        <p:nvSpPr>
          <p:cNvPr id="4" name="Textfeld 3">
            <a:extLst>
              <a:ext uri="{FF2B5EF4-FFF2-40B4-BE49-F238E27FC236}">
                <a16:creationId xmlns:a16="http://schemas.microsoft.com/office/drawing/2014/main" id="{C9DA2864-79CD-539A-F817-7368DE6CA35A}"/>
              </a:ext>
            </a:extLst>
          </p:cNvPr>
          <p:cNvSpPr txBox="1"/>
          <p:nvPr/>
        </p:nvSpPr>
        <p:spPr>
          <a:xfrm>
            <a:off x="6889289" y="1486932"/>
            <a:ext cx="3703782" cy="369332"/>
          </a:xfrm>
          <a:prstGeom prst="rect">
            <a:avLst/>
          </a:prstGeom>
          <a:noFill/>
        </p:spPr>
        <p:txBody>
          <a:bodyPr wrap="square" rtlCol="0">
            <a:spAutoFit/>
          </a:bodyPr>
          <a:lstStyle/>
          <a:p>
            <a:r>
              <a:rPr lang="de-DE" dirty="0"/>
              <a:t>Materielle Enteignung</a:t>
            </a:r>
            <a:endParaRPr lang="de-CH" dirty="0"/>
          </a:p>
        </p:txBody>
      </p:sp>
      <p:sp>
        <p:nvSpPr>
          <p:cNvPr id="9" name="Textfeld 8">
            <a:extLst>
              <a:ext uri="{FF2B5EF4-FFF2-40B4-BE49-F238E27FC236}">
                <a16:creationId xmlns:a16="http://schemas.microsoft.com/office/drawing/2014/main" id="{AF49852E-2354-39CD-7658-2A7752E22573}"/>
              </a:ext>
            </a:extLst>
          </p:cNvPr>
          <p:cNvSpPr txBox="1"/>
          <p:nvPr/>
        </p:nvSpPr>
        <p:spPr>
          <a:xfrm>
            <a:off x="6566651" y="3339504"/>
            <a:ext cx="5264728" cy="1200329"/>
          </a:xfrm>
          <a:prstGeom prst="rect">
            <a:avLst/>
          </a:prstGeom>
          <a:noFill/>
        </p:spPr>
        <p:txBody>
          <a:bodyPr wrap="square">
            <a:spAutoFit/>
          </a:bodyPr>
          <a:lstStyle/>
          <a:p>
            <a:r>
              <a:rPr lang="de-CH" sz="1200" dirty="0"/>
              <a:t>Wenn ein Grundstück durch eine Planungsmassnahme stark an Wert verliert, weil es von der Bauzone in die Landwirtschaftszone </a:t>
            </a:r>
            <a:r>
              <a:rPr lang="de-CH" sz="1200" dirty="0" err="1"/>
              <a:t>zurückgezont</a:t>
            </a:r>
            <a:r>
              <a:rPr lang="de-CH" sz="1200" dirty="0"/>
              <a:t> wird oder seine Ausnützung reduziert wird (</a:t>
            </a:r>
            <a:r>
              <a:rPr lang="de-CH" sz="1200" dirty="0" err="1"/>
              <a:t>Abzonung</a:t>
            </a:r>
            <a:r>
              <a:rPr lang="de-CH" sz="1200" dirty="0"/>
              <a:t>), spricht man von einer «materiellen Enteignung». Solche Enteignungen muss die Gemeinde dem Eigentümer entschädigen – jedoch nur unter bestimmten Voraussetzungen.</a:t>
            </a:r>
          </a:p>
        </p:txBody>
      </p:sp>
      <p:sp>
        <p:nvSpPr>
          <p:cNvPr id="13" name="Textfeld 12">
            <a:extLst>
              <a:ext uri="{FF2B5EF4-FFF2-40B4-BE49-F238E27FC236}">
                <a16:creationId xmlns:a16="http://schemas.microsoft.com/office/drawing/2014/main" id="{736FE885-2728-1D1F-63F1-4EC597945602}"/>
              </a:ext>
            </a:extLst>
          </p:cNvPr>
          <p:cNvSpPr txBox="1"/>
          <p:nvPr/>
        </p:nvSpPr>
        <p:spPr>
          <a:xfrm>
            <a:off x="514816" y="3104349"/>
            <a:ext cx="5498057" cy="2308324"/>
          </a:xfrm>
          <a:prstGeom prst="rect">
            <a:avLst/>
          </a:prstGeom>
          <a:noFill/>
        </p:spPr>
        <p:txBody>
          <a:bodyPr wrap="square">
            <a:spAutoFit/>
          </a:bodyPr>
          <a:lstStyle/>
          <a:p>
            <a:r>
              <a:rPr lang="de-CH" sz="1200" dirty="0"/>
              <a:t>• Gemeinwesen od. Infrastrukturbetreiber entzieht förmlich und zwangsweise ein unter der Eigentumsgarantie stehendes Recht (Grundbuch) − Eigentum − beschränkte dingliche Rechte (z.B. Dienstbarkeit) − gewisse vertragliche Rechte</a:t>
            </a:r>
          </a:p>
          <a:p>
            <a:endParaRPr lang="de-CH" sz="1200" dirty="0"/>
          </a:p>
          <a:p>
            <a:r>
              <a:rPr lang="de-CH" sz="1200" dirty="0"/>
              <a:t>• die Rechte gehen stattdessen an Gemeinwesen / Betreiber über oder sie gehen unter</a:t>
            </a:r>
          </a:p>
          <a:p>
            <a:endParaRPr lang="de-CH" sz="1200" dirty="0"/>
          </a:p>
          <a:p>
            <a:r>
              <a:rPr lang="de-CH" sz="1200" dirty="0"/>
              <a:t>• Gemeinwesen / Betreiber braucht die Rechte für ein öffentliches Werk</a:t>
            </a:r>
          </a:p>
          <a:p>
            <a:endParaRPr lang="de-CH" sz="1200" dirty="0"/>
          </a:p>
          <a:p>
            <a:r>
              <a:rPr lang="de-CH" sz="1200" dirty="0"/>
              <a:t>• Über Zulässigkeit, Umfang &amp; Entschädigung wird vorgängig und von Amtes wegen entschieden</a:t>
            </a:r>
          </a:p>
        </p:txBody>
      </p:sp>
      <p:sp>
        <p:nvSpPr>
          <p:cNvPr id="15" name="Textfeld 14">
            <a:extLst>
              <a:ext uri="{FF2B5EF4-FFF2-40B4-BE49-F238E27FC236}">
                <a16:creationId xmlns:a16="http://schemas.microsoft.com/office/drawing/2014/main" id="{83377A1A-C8E1-6A89-D9E7-9DBDEB7A4CD3}"/>
              </a:ext>
            </a:extLst>
          </p:cNvPr>
          <p:cNvSpPr txBox="1"/>
          <p:nvPr/>
        </p:nvSpPr>
        <p:spPr>
          <a:xfrm>
            <a:off x="6566651" y="1982621"/>
            <a:ext cx="5358127" cy="1200329"/>
          </a:xfrm>
          <a:prstGeom prst="rect">
            <a:avLst/>
          </a:prstGeom>
          <a:noFill/>
        </p:spPr>
        <p:txBody>
          <a:bodyPr wrap="square">
            <a:spAutoFit/>
          </a:bodyPr>
          <a:lstStyle/>
          <a:p>
            <a:r>
              <a:rPr lang="de-CH" sz="1200" dirty="0"/>
              <a:t>Bei dieser Art verbleibt das Eigentum im Besitz der ursprünglichen Eigentümerin, wird jedoch verändert (z. B. durch eine </a:t>
            </a:r>
            <a:r>
              <a:rPr lang="de-CH" sz="1200" dirty="0" err="1"/>
              <a:t>Abzonung</a:t>
            </a:r>
            <a:r>
              <a:rPr lang="de-CH" sz="1200" dirty="0"/>
              <a:t> oder eine </a:t>
            </a:r>
            <a:r>
              <a:rPr lang="de-CH" sz="1200" dirty="0" err="1"/>
              <a:t>Zurückzonung</a:t>
            </a:r>
            <a:r>
              <a:rPr lang="de-CH" sz="1200" dirty="0"/>
              <a:t>). Die </a:t>
            </a:r>
            <a:r>
              <a:rPr lang="de-CH" sz="1200" dirty="0">
                <a:hlinkClick r:id="rId4">
                  <a:extLst>
                    <a:ext uri="{A12FA001-AC4F-418D-AE19-62706E023703}">
                      <ahyp:hlinkClr xmlns:ahyp="http://schemas.microsoft.com/office/drawing/2018/hyperlinkcolor" val="tx"/>
                    </a:ext>
                  </a:extLst>
                </a:hlinkClick>
              </a:rPr>
              <a:t>Nutzung</a:t>
            </a:r>
            <a:r>
              <a:rPr lang="de-CH" sz="1200" dirty="0"/>
              <a:t> wird dadurch meist stark eingeschränkt, was oft eine Wertminderung zur Folge hat oder das Grundstück für den Besitzer sogar nutzlos macht. Ein gutes Beispiel hierfür ist, wenn ein Gebäude unter Denkmalschutz gestellt wird.</a:t>
            </a:r>
          </a:p>
        </p:txBody>
      </p:sp>
      <p:sp>
        <p:nvSpPr>
          <p:cNvPr id="17" name="Textfeld 16">
            <a:extLst>
              <a:ext uri="{FF2B5EF4-FFF2-40B4-BE49-F238E27FC236}">
                <a16:creationId xmlns:a16="http://schemas.microsoft.com/office/drawing/2014/main" id="{A50D33AF-51D8-5623-E2A0-7FEFECC23214}"/>
              </a:ext>
            </a:extLst>
          </p:cNvPr>
          <p:cNvSpPr txBox="1"/>
          <p:nvPr/>
        </p:nvSpPr>
        <p:spPr>
          <a:xfrm>
            <a:off x="514816" y="1982621"/>
            <a:ext cx="5682784" cy="646331"/>
          </a:xfrm>
          <a:prstGeom prst="rect">
            <a:avLst/>
          </a:prstGeom>
          <a:noFill/>
        </p:spPr>
        <p:txBody>
          <a:bodyPr wrap="square">
            <a:spAutoFit/>
          </a:bodyPr>
          <a:lstStyle/>
          <a:p>
            <a:r>
              <a:rPr lang="de-CH" sz="1200" dirty="0"/>
              <a:t>Hierbei wird das gesamte oder ein Teil des Eigentums, des Grunds oder eine Immobilie dem Eigentümer entzogen. Das Eigentum geht dann an eine andere Partei über, meist den Staat</a:t>
            </a:r>
          </a:p>
        </p:txBody>
      </p:sp>
    </p:spTree>
    <p:extLst>
      <p:ext uri="{BB962C8B-B14F-4D97-AF65-F5344CB8AC3E}">
        <p14:creationId xmlns:p14="http://schemas.microsoft.com/office/powerpoint/2010/main" val="3911676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Flächen gemäss SIA 416</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2" name="Grafik 1">
            <a:extLst>
              <a:ext uri="{FF2B5EF4-FFF2-40B4-BE49-F238E27FC236}">
                <a16:creationId xmlns:a16="http://schemas.microsoft.com/office/drawing/2014/main" id="{9B82E975-4214-F8CF-2D9B-EBF72A5F9586}"/>
              </a:ext>
            </a:extLst>
          </p:cNvPr>
          <p:cNvPicPr>
            <a:picLocks noChangeAspect="1"/>
          </p:cNvPicPr>
          <p:nvPr/>
        </p:nvPicPr>
        <p:blipFill rotWithShape="1">
          <a:blip r:embed="rId4"/>
          <a:srcRect l="2286" t="14613" b="7042"/>
          <a:stretch/>
        </p:blipFill>
        <p:spPr>
          <a:xfrm>
            <a:off x="514816" y="1046859"/>
            <a:ext cx="5652068" cy="2186424"/>
          </a:xfrm>
          <a:prstGeom prst="rect">
            <a:avLst/>
          </a:prstGeom>
        </p:spPr>
      </p:pic>
      <p:pic>
        <p:nvPicPr>
          <p:cNvPr id="3" name="Grafik 2">
            <a:extLst>
              <a:ext uri="{FF2B5EF4-FFF2-40B4-BE49-F238E27FC236}">
                <a16:creationId xmlns:a16="http://schemas.microsoft.com/office/drawing/2014/main" id="{20A0D248-F22D-A17F-960A-A11FE1330EBD}"/>
              </a:ext>
            </a:extLst>
          </p:cNvPr>
          <p:cNvPicPr>
            <a:picLocks noChangeAspect="1"/>
          </p:cNvPicPr>
          <p:nvPr/>
        </p:nvPicPr>
        <p:blipFill rotWithShape="1">
          <a:blip r:embed="rId5"/>
          <a:srcRect t="11600" b="4399"/>
          <a:stretch/>
        </p:blipFill>
        <p:spPr>
          <a:xfrm>
            <a:off x="5408374" y="2740951"/>
            <a:ext cx="6679153" cy="2947468"/>
          </a:xfrm>
          <a:prstGeom prst="rect">
            <a:avLst/>
          </a:prstGeom>
        </p:spPr>
      </p:pic>
    </p:spTree>
    <p:extLst>
      <p:ext uri="{BB962C8B-B14F-4D97-AF65-F5344CB8AC3E}">
        <p14:creationId xmlns:p14="http://schemas.microsoft.com/office/powerpoint/2010/main" val="4149683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5378799" cy="461665"/>
          </a:xfrm>
          <a:prstGeom prst="rect">
            <a:avLst/>
          </a:prstGeom>
          <a:noFill/>
        </p:spPr>
        <p:txBody>
          <a:bodyPr wrap="square" rtlCol="0">
            <a:spAutoFit/>
          </a:bodyPr>
          <a:lstStyle/>
          <a:p>
            <a:r>
              <a:rPr lang="de-CH" sz="2400" dirty="0">
                <a:latin typeface="Helvetica LT Pro Black" panose="020B0904030502020204" pitchFamily="34" charset="0"/>
              </a:rPr>
              <a:t>Planarten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3" name="Grafik 2">
            <a:extLst>
              <a:ext uri="{FF2B5EF4-FFF2-40B4-BE49-F238E27FC236}">
                <a16:creationId xmlns:a16="http://schemas.microsoft.com/office/drawing/2014/main" id="{EAC4F5FD-77A3-1446-C904-92E75F038094}"/>
              </a:ext>
            </a:extLst>
          </p:cNvPr>
          <p:cNvPicPr>
            <a:picLocks noChangeAspect="1"/>
          </p:cNvPicPr>
          <p:nvPr/>
        </p:nvPicPr>
        <p:blipFill rotWithShape="1">
          <a:blip r:embed="rId4"/>
          <a:srcRect r="28501"/>
          <a:stretch/>
        </p:blipFill>
        <p:spPr>
          <a:xfrm>
            <a:off x="3384958" y="1337659"/>
            <a:ext cx="2508657" cy="1957725"/>
          </a:xfrm>
          <a:prstGeom prst="rect">
            <a:avLst/>
          </a:prstGeom>
        </p:spPr>
      </p:pic>
      <p:pic>
        <p:nvPicPr>
          <p:cNvPr id="8" name="Grafik 7">
            <a:extLst>
              <a:ext uri="{FF2B5EF4-FFF2-40B4-BE49-F238E27FC236}">
                <a16:creationId xmlns:a16="http://schemas.microsoft.com/office/drawing/2014/main" id="{A594C717-9E8A-EE48-E681-396151CE8548}"/>
              </a:ext>
            </a:extLst>
          </p:cNvPr>
          <p:cNvPicPr>
            <a:picLocks noChangeAspect="1"/>
          </p:cNvPicPr>
          <p:nvPr/>
        </p:nvPicPr>
        <p:blipFill>
          <a:blip r:embed="rId5"/>
          <a:stretch>
            <a:fillRect/>
          </a:stretch>
        </p:blipFill>
        <p:spPr>
          <a:xfrm>
            <a:off x="3384958" y="3689173"/>
            <a:ext cx="2911947" cy="1976843"/>
          </a:xfrm>
          <a:prstGeom prst="rect">
            <a:avLst/>
          </a:prstGeom>
        </p:spPr>
      </p:pic>
      <p:pic>
        <p:nvPicPr>
          <p:cNvPr id="10" name="Grafik 9">
            <a:extLst>
              <a:ext uri="{FF2B5EF4-FFF2-40B4-BE49-F238E27FC236}">
                <a16:creationId xmlns:a16="http://schemas.microsoft.com/office/drawing/2014/main" id="{D89AC6C5-EB6C-0B99-8F95-30090A9541E1}"/>
              </a:ext>
            </a:extLst>
          </p:cNvPr>
          <p:cNvPicPr>
            <a:picLocks noChangeAspect="1"/>
          </p:cNvPicPr>
          <p:nvPr/>
        </p:nvPicPr>
        <p:blipFill>
          <a:blip r:embed="rId6"/>
          <a:stretch>
            <a:fillRect/>
          </a:stretch>
        </p:blipFill>
        <p:spPr>
          <a:xfrm>
            <a:off x="9405737" y="1468984"/>
            <a:ext cx="2786263" cy="2055960"/>
          </a:xfrm>
          <a:prstGeom prst="rect">
            <a:avLst/>
          </a:prstGeom>
        </p:spPr>
      </p:pic>
      <p:pic>
        <p:nvPicPr>
          <p:cNvPr id="12" name="Grafik 11">
            <a:extLst>
              <a:ext uri="{FF2B5EF4-FFF2-40B4-BE49-F238E27FC236}">
                <a16:creationId xmlns:a16="http://schemas.microsoft.com/office/drawing/2014/main" id="{658CD4A5-E6BC-DE06-A878-DCD1B9F50858}"/>
              </a:ext>
            </a:extLst>
          </p:cNvPr>
          <p:cNvPicPr>
            <a:picLocks noChangeAspect="1"/>
          </p:cNvPicPr>
          <p:nvPr/>
        </p:nvPicPr>
        <p:blipFill>
          <a:blip r:embed="rId7"/>
          <a:stretch>
            <a:fillRect/>
          </a:stretch>
        </p:blipFill>
        <p:spPr>
          <a:xfrm>
            <a:off x="9372604" y="4134803"/>
            <a:ext cx="2797204" cy="1455302"/>
          </a:xfrm>
          <a:prstGeom prst="rect">
            <a:avLst/>
          </a:prstGeom>
        </p:spPr>
      </p:pic>
      <p:sp>
        <p:nvSpPr>
          <p:cNvPr id="2" name="Textfeld 1">
            <a:extLst>
              <a:ext uri="{FF2B5EF4-FFF2-40B4-BE49-F238E27FC236}">
                <a16:creationId xmlns:a16="http://schemas.microsoft.com/office/drawing/2014/main" id="{F28A7494-7F16-3A87-24C6-402095337099}"/>
              </a:ext>
            </a:extLst>
          </p:cNvPr>
          <p:cNvSpPr txBox="1"/>
          <p:nvPr/>
        </p:nvSpPr>
        <p:spPr>
          <a:xfrm>
            <a:off x="310000" y="2317244"/>
            <a:ext cx="3074958" cy="523220"/>
          </a:xfrm>
          <a:prstGeom prst="rect">
            <a:avLst/>
          </a:prstGeom>
          <a:noFill/>
        </p:spPr>
        <p:txBody>
          <a:bodyPr wrap="square" rtlCol="0">
            <a:spAutoFit/>
          </a:bodyPr>
          <a:lstStyle/>
          <a:p>
            <a:r>
              <a:rPr lang="de-DE" sz="1400" dirty="0"/>
              <a:t>Parzellengenaue Zuordnung der Nutzungsart</a:t>
            </a:r>
            <a:endParaRPr lang="de-CH" sz="1400" dirty="0"/>
          </a:p>
        </p:txBody>
      </p:sp>
      <p:sp>
        <p:nvSpPr>
          <p:cNvPr id="4" name="Textfeld 3">
            <a:extLst>
              <a:ext uri="{FF2B5EF4-FFF2-40B4-BE49-F238E27FC236}">
                <a16:creationId xmlns:a16="http://schemas.microsoft.com/office/drawing/2014/main" id="{9DE3A492-1813-9299-7B0B-429995F1829C}"/>
              </a:ext>
            </a:extLst>
          </p:cNvPr>
          <p:cNvSpPr txBox="1"/>
          <p:nvPr/>
        </p:nvSpPr>
        <p:spPr>
          <a:xfrm>
            <a:off x="217852" y="4527498"/>
            <a:ext cx="3074958" cy="523220"/>
          </a:xfrm>
          <a:prstGeom prst="rect">
            <a:avLst/>
          </a:prstGeom>
          <a:noFill/>
        </p:spPr>
        <p:txBody>
          <a:bodyPr wrap="square" rtlCol="0">
            <a:spAutoFit/>
          </a:bodyPr>
          <a:lstStyle/>
          <a:p>
            <a:r>
              <a:rPr lang="de-DE" sz="1400" dirty="0"/>
              <a:t>Parzellengenaue Zuordnung der Grundstücke</a:t>
            </a:r>
            <a:endParaRPr lang="de-CH" sz="1400" dirty="0"/>
          </a:p>
        </p:txBody>
      </p:sp>
      <p:sp>
        <p:nvSpPr>
          <p:cNvPr id="9" name="Textfeld 8">
            <a:extLst>
              <a:ext uri="{FF2B5EF4-FFF2-40B4-BE49-F238E27FC236}">
                <a16:creationId xmlns:a16="http://schemas.microsoft.com/office/drawing/2014/main" id="{4773B5A6-EFF5-2733-4D33-B1B84CCAD1B4}"/>
              </a:ext>
            </a:extLst>
          </p:cNvPr>
          <p:cNvSpPr txBox="1"/>
          <p:nvPr/>
        </p:nvSpPr>
        <p:spPr>
          <a:xfrm>
            <a:off x="6852034" y="2411805"/>
            <a:ext cx="2660028" cy="523220"/>
          </a:xfrm>
          <a:prstGeom prst="rect">
            <a:avLst/>
          </a:prstGeom>
          <a:noFill/>
        </p:spPr>
        <p:txBody>
          <a:bodyPr wrap="square" rtlCol="0">
            <a:spAutoFit/>
          </a:bodyPr>
          <a:lstStyle/>
          <a:p>
            <a:r>
              <a:rPr lang="de-DE" sz="1400" dirty="0"/>
              <a:t>Zeigt stelle der projektierten Baute</a:t>
            </a:r>
            <a:endParaRPr lang="de-CH" sz="1400" dirty="0"/>
          </a:p>
        </p:txBody>
      </p:sp>
      <p:sp>
        <p:nvSpPr>
          <p:cNvPr id="11" name="Textfeld 10">
            <a:extLst>
              <a:ext uri="{FF2B5EF4-FFF2-40B4-BE49-F238E27FC236}">
                <a16:creationId xmlns:a16="http://schemas.microsoft.com/office/drawing/2014/main" id="{E160ED3B-6F0C-99D1-FD8F-3853BAC0AB1C}"/>
              </a:ext>
            </a:extLst>
          </p:cNvPr>
          <p:cNvSpPr txBox="1"/>
          <p:nvPr/>
        </p:nvSpPr>
        <p:spPr>
          <a:xfrm>
            <a:off x="6958360" y="4538267"/>
            <a:ext cx="2447377" cy="738664"/>
          </a:xfrm>
          <a:prstGeom prst="rect">
            <a:avLst/>
          </a:prstGeom>
          <a:noFill/>
        </p:spPr>
        <p:txBody>
          <a:bodyPr wrap="square" rtlCol="0">
            <a:spAutoFit/>
          </a:bodyPr>
          <a:lstStyle/>
          <a:p>
            <a:r>
              <a:rPr lang="de-DE" sz="1400" dirty="0"/>
              <a:t>Zeigt detaillierte und vermasst das Bauprojekt auf</a:t>
            </a:r>
            <a:endParaRPr lang="de-CH" sz="1400" dirty="0"/>
          </a:p>
        </p:txBody>
      </p:sp>
      <p:sp>
        <p:nvSpPr>
          <p:cNvPr id="13" name="Textfeld 12">
            <a:extLst>
              <a:ext uri="{FF2B5EF4-FFF2-40B4-BE49-F238E27FC236}">
                <a16:creationId xmlns:a16="http://schemas.microsoft.com/office/drawing/2014/main" id="{A7F24D6F-5AF8-D4DA-F3E3-7D772ABE16AE}"/>
              </a:ext>
            </a:extLst>
          </p:cNvPr>
          <p:cNvSpPr txBox="1"/>
          <p:nvPr/>
        </p:nvSpPr>
        <p:spPr>
          <a:xfrm>
            <a:off x="310000" y="1769566"/>
            <a:ext cx="3074958" cy="307777"/>
          </a:xfrm>
          <a:prstGeom prst="rect">
            <a:avLst/>
          </a:prstGeom>
          <a:noFill/>
        </p:spPr>
        <p:txBody>
          <a:bodyPr wrap="square" rtlCol="0">
            <a:spAutoFit/>
          </a:bodyPr>
          <a:lstStyle/>
          <a:p>
            <a:r>
              <a:rPr lang="de-DE" sz="1400" dirty="0">
                <a:latin typeface="Helvetica LT Pro Black" panose="020B0904030502020204" pitchFamily="34" charset="0"/>
              </a:rPr>
              <a:t>Zonenplan</a:t>
            </a:r>
            <a:endParaRPr lang="de-CH" sz="1400" dirty="0">
              <a:latin typeface="Helvetica LT Pro Black" panose="020B0904030502020204" pitchFamily="34" charset="0"/>
            </a:endParaRPr>
          </a:p>
        </p:txBody>
      </p:sp>
      <p:sp>
        <p:nvSpPr>
          <p:cNvPr id="14" name="Textfeld 13">
            <a:extLst>
              <a:ext uri="{FF2B5EF4-FFF2-40B4-BE49-F238E27FC236}">
                <a16:creationId xmlns:a16="http://schemas.microsoft.com/office/drawing/2014/main" id="{99871EE2-3639-AB99-ABAD-DA6B0C44F54E}"/>
              </a:ext>
            </a:extLst>
          </p:cNvPr>
          <p:cNvSpPr txBox="1"/>
          <p:nvPr/>
        </p:nvSpPr>
        <p:spPr>
          <a:xfrm>
            <a:off x="279806" y="4071932"/>
            <a:ext cx="3074958" cy="307777"/>
          </a:xfrm>
          <a:prstGeom prst="rect">
            <a:avLst/>
          </a:prstGeom>
          <a:noFill/>
        </p:spPr>
        <p:txBody>
          <a:bodyPr wrap="square" rtlCol="0">
            <a:spAutoFit/>
          </a:bodyPr>
          <a:lstStyle/>
          <a:p>
            <a:r>
              <a:rPr lang="de-DE" sz="1400" dirty="0">
                <a:latin typeface="Helvetica LT Pro Black" panose="020B0904030502020204" pitchFamily="34" charset="0"/>
              </a:rPr>
              <a:t>Katasterplan</a:t>
            </a:r>
            <a:endParaRPr lang="de-CH" sz="1400" dirty="0">
              <a:latin typeface="Helvetica LT Pro Black" panose="020B0904030502020204" pitchFamily="34" charset="0"/>
            </a:endParaRPr>
          </a:p>
        </p:txBody>
      </p:sp>
      <p:sp>
        <p:nvSpPr>
          <p:cNvPr id="15" name="Textfeld 14">
            <a:extLst>
              <a:ext uri="{FF2B5EF4-FFF2-40B4-BE49-F238E27FC236}">
                <a16:creationId xmlns:a16="http://schemas.microsoft.com/office/drawing/2014/main" id="{B45CCAF8-D7F7-2E37-F9F7-5F2B2DD36EFA}"/>
              </a:ext>
            </a:extLst>
          </p:cNvPr>
          <p:cNvSpPr txBox="1"/>
          <p:nvPr/>
        </p:nvSpPr>
        <p:spPr>
          <a:xfrm>
            <a:off x="6852034" y="1790854"/>
            <a:ext cx="3074958" cy="307777"/>
          </a:xfrm>
          <a:prstGeom prst="rect">
            <a:avLst/>
          </a:prstGeom>
          <a:noFill/>
        </p:spPr>
        <p:txBody>
          <a:bodyPr wrap="square" rtlCol="0">
            <a:spAutoFit/>
          </a:bodyPr>
          <a:lstStyle/>
          <a:p>
            <a:r>
              <a:rPr lang="de-DE" sz="1400" dirty="0">
                <a:latin typeface="Helvetica LT Pro Black" panose="020B0904030502020204" pitchFamily="34" charset="0"/>
              </a:rPr>
              <a:t>Situationsplan</a:t>
            </a:r>
            <a:endParaRPr lang="de-CH" sz="1400" dirty="0">
              <a:latin typeface="Helvetica LT Pro Black" panose="020B0904030502020204" pitchFamily="34" charset="0"/>
            </a:endParaRPr>
          </a:p>
        </p:txBody>
      </p:sp>
      <p:sp>
        <p:nvSpPr>
          <p:cNvPr id="16" name="Textfeld 15">
            <a:extLst>
              <a:ext uri="{FF2B5EF4-FFF2-40B4-BE49-F238E27FC236}">
                <a16:creationId xmlns:a16="http://schemas.microsoft.com/office/drawing/2014/main" id="{689E36DE-8973-5973-ADA9-D1CBB646750A}"/>
              </a:ext>
            </a:extLst>
          </p:cNvPr>
          <p:cNvSpPr txBox="1"/>
          <p:nvPr/>
        </p:nvSpPr>
        <p:spPr>
          <a:xfrm>
            <a:off x="6958360" y="3973967"/>
            <a:ext cx="3074958" cy="307777"/>
          </a:xfrm>
          <a:prstGeom prst="rect">
            <a:avLst/>
          </a:prstGeom>
          <a:noFill/>
        </p:spPr>
        <p:txBody>
          <a:bodyPr wrap="square" rtlCol="0">
            <a:spAutoFit/>
          </a:bodyPr>
          <a:lstStyle/>
          <a:p>
            <a:r>
              <a:rPr lang="de-DE" sz="1400" dirty="0">
                <a:latin typeface="Helvetica LT Pro Black" panose="020B0904030502020204" pitchFamily="34" charset="0"/>
              </a:rPr>
              <a:t>Ausführungsplan</a:t>
            </a:r>
            <a:endParaRPr lang="de-CH" sz="1400" dirty="0">
              <a:latin typeface="Helvetica LT Pro Black" panose="020B0904030502020204" pitchFamily="34" charset="0"/>
            </a:endParaRPr>
          </a:p>
        </p:txBody>
      </p:sp>
    </p:spTree>
    <p:extLst>
      <p:ext uri="{BB962C8B-B14F-4D97-AF65-F5344CB8AC3E}">
        <p14:creationId xmlns:p14="http://schemas.microsoft.com/office/powerpoint/2010/main" val="1983855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Zulässige Nettorendite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4B79FE17-3E8A-53BA-FE15-682D1DF0E1FD}"/>
              </a:ext>
            </a:extLst>
          </p:cNvPr>
          <p:cNvSpPr txBox="1"/>
          <p:nvPr/>
        </p:nvSpPr>
        <p:spPr>
          <a:xfrm>
            <a:off x="514815" y="2051293"/>
            <a:ext cx="7483875" cy="369332"/>
          </a:xfrm>
          <a:prstGeom prst="rect">
            <a:avLst/>
          </a:prstGeom>
          <a:noFill/>
        </p:spPr>
        <p:txBody>
          <a:bodyPr wrap="square">
            <a:spAutoFit/>
          </a:bodyPr>
          <a:lstStyle/>
          <a:p>
            <a:r>
              <a:rPr lang="de-CH" dirty="0"/>
              <a:t>Beweisen muss die Rendite, wer daraus ein Recht ableitet.</a:t>
            </a:r>
          </a:p>
        </p:txBody>
      </p:sp>
      <p:sp>
        <p:nvSpPr>
          <p:cNvPr id="9" name="Textfeld 8">
            <a:extLst>
              <a:ext uri="{FF2B5EF4-FFF2-40B4-BE49-F238E27FC236}">
                <a16:creationId xmlns:a16="http://schemas.microsoft.com/office/drawing/2014/main" id="{2A53A056-2B25-5E40-5F9C-7B349B363D58}"/>
              </a:ext>
            </a:extLst>
          </p:cNvPr>
          <p:cNvSpPr txBox="1"/>
          <p:nvPr/>
        </p:nvSpPr>
        <p:spPr>
          <a:xfrm>
            <a:off x="514815" y="2912343"/>
            <a:ext cx="8072582" cy="2677656"/>
          </a:xfrm>
          <a:prstGeom prst="rect">
            <a:avLst/>
          </a:prstGeom>
          <a:noFill/>
        </p:spPr>
        <p:txBody>
          <a:bodyPr wrap="square">
            <a:spAutoFit/>
          </a:bodyPr>
          <a:lstStyle/>
          <a:p>
            <a:r>
              <a:rPr lang="de-CH" sz="1400" dirty="0"/>
              <a:t>Die Nettorendite im Sinne von Art. 269 OR orientiert nach der Rechtsprechung des Bundesgerichts grundsätzlich am aktuellen Referenzzinssatz (d.h. dem </a:t>
            </a:r>
            <a:r>
              <a:rPr lang="de-CH" sz="1400" dirty="0" err="1"/>
              <a:t>geglätten</a:t>
            </a:r>
            <a:r>
              <a:rPr lang="de-CH" sz="1400" dirty="0"/>
              <a:t> Zinssatz für Hypotheken). Lange Zeit wurde zum Referenzzins ein Zuschlag von 0.5% als zulässig erachtet (s. BGE 123 III 171 E. 6a). Im gegenwärtigen tiefen Zinsumfeld führt dieser Satz aber zu verzerrten Resultaten. In einem Urteil vom 26. Oktober 2020 hat das Bundesgericht daher bestimmt, dass die Nettorendite bei einem </a:t>
            </a:r>
            <a:r>
              <a:rPr lang="de-CH" sz="1400" b="1" dirty="0">
                <a:latin typeface="+mj-lt"/>
              </a:rPr>
              <a:t>Referenzzins von 2 oder weniger Prozent um max. 2% über diesem Referenzzins liegen darf</a:t>
            </a:r>
            <a:r>
              <a:rPr lang="de-CH" sz="1400" b="1" dirty="0"/>
              <a:t> </a:t>
            </a:r>
            <a:r>
              <a:rPr lang="de-CH" sz="1400" dirty="0"/>
              <a:t>(BGE 4A_554/2019 E. 8.4). Bei einem Referenzzins von 1.25% beträgt die maximal zulässige Nettorendite daher 3.25%. Abgestellt wird dabei seit 1. Januar 2008 auf einen in der ganzen Schweiz einheitlichen Referenzzinssatz, welcher vom Eidgenössischen Volkswirtschaftsdepartement vierteljährlich erhoben wird (Art. 12a VMWG). </a:t>
            </a:r>
          </a:p>
          <a:p>
            <a:endParaRPr lang="de-CH" sz="1400" dirty="0"/>
          </a:p>
          <a:p>
            <a:r>
              <a:rPr lang="de-CH" sz="1400" dirty="0"/>
              <a:t>Aktuell beträgt der massgebliche Satz 1.25%, die maximal zulässige Nettorendite damit 3.25 %. </a:t>
            </a:r>
          </a:p>
        </p:txBody>
      </p:sp>
      <p:sp>
        <p:nvSpPr>
          <p:cNvPr id="11" name="Textfeld 10">
            <a:extLst>
              <a:ext uri="{FF2B5EF4-FFF2-40B4-BE49-F238E27FC236}">
                <a16:creationId xmlns:a16="http://schemas.microsoft.com/office/drawing/2014/main" id="{E7BFC3CB-B07D-3ADE-D300-F71AE2C75A1D}"/>
              </a:ext>
            </a:extLst>
          </p:cNvPr>
          <p:cNvSpPr txBox="1"/>
          <p:nvPr/>
        </p:nvSpPr>
        <p:spPr>
          <a:xfrm>
            <a:off x="514814" y="1038545"/>
            <a:ext cx="9851593" cy="646331"/>
          </a:xfrm>
          <a:prstGeom prst="rect">
            <a:avLst/>
          </a:prstGeom>
          <a:noFill/>
        </p:spPr>
        <p:txBody>
          <a:bodyPr wrap="square">
            <a:spAutoFit/>
          </a:bodyPr>
          <a:lstStyle/>
          <a:p>
            <a:r>
              <a:rPr lang="de-CH" dirty="0"/>
              <a:t>Mietzinse sind missbräuchlich, wenn damit ein übersetzter Ertrag aus der Mietsache erzielt wird oder wenn sie auf einem offensichtlich übersetzten Kaufpreis beruhen (Art. 269 (OR).</a:t>
            </a:r>
          </a:p>
        </p:txBody>
      </p:sp>
    </p:spTree>
    <p:extLst>
      <p:ext uri="{BB962C8B-B14F-4D97-AF65-F5344CB8AC3E}">
        <p14:creationId xmlns:p14="http://schemas.microsoft.com/office/powerpoint/2010/main" val="1453215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Empfangstheorie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88D17E4F-69B1-C867-19DF-BFCBBA920E5A}"/>
              </a:ext>
            </a:extLst>
          </p:cNvPr>
          <p:cNvSpPr txBox="1"/>
          <p:nvPr/>
        </p:nvSpPr>
        <p:spPr>
          <a:xfrm>
            <a:off x="514815" y="2912343"/>
            <a:ext cx="5239440" cy="954107"/>
          </a:xfrm>
          <a:prstGeom prst="rect">
            <a:avLst/>
          </a:prstGeom>
          <a:noFill/>
        </p:spPr>
        <p:txBody>
          <a:bodyPr wrap="square">
            <a:spAutoFit/>
          </a:bodyPr>
          <a:lstStyle/>
          <a:p>
            <a:pPr marL="285750" indent="-285750">
              <a:buFont typeface="Arial" panose="020B0604020202020204" pitchFamily="34" charset="0"/>
              <a:buChar char="•"/>
            </a:pPr>
            <a:r>
              <a:rPr lang="de-CH" sz="1400" dirty="0"/>
              <a:t>Gilt Grundsätzlich im Mietrecht </a:t>
            </a:r>
          </a:p>
          <a:p>
            <a:pPr marL="285750" indent="-285750">
              <a:buFont typeface="Arial" panose="020B0604020202020204" pitchFamily="34" charset="0"/>
              <a:buChar char="•"/>
            </a:pPr>
            <a:r>
              <a:rPr lang="de-CH" sz="1400" dirty="0"/>
              <a:t>Schreiben ist im Machtbereich des Empfängers</a:t>
            </a:r>
          </a:p>
          <a:p>
            <a:pPr marL="285750" indent="-285750">
              <a:buFont typeface="Arial" panose="020B0604020202020204" pitchFamily="34" charset="0"/>
              <a:buChar char="•"/>
            </a:pPr>
            <a:r>
              <a:rPr lang="de-CH" sz="1400" dirty="0"/>
              <a:t>Zugestellt wenn erhalten oder wenn bei Post </a:t>
            </a:r>
            <a:r>
              <a:rPr lang="de-CH" sz="1400" dirty="0" err="1"/>
              <a:t>abholbar</a:t>
            </a:r>
            <a:endParaRPr lang="de-CH" sz="1400" dirty="0"/>
          </a:p>
          <a:p>
            <a:pPr marL="285750" indent="-285750">
              <a:buFont typeface="Arial" panose="020B0604020202020204" pitchFamily="34" charset="0"/>
              <a:buChar char="•"/>
            </a:pPr>
            <a:r>
              <a:rPr lang="de-CH" sz="1400" dirty="0"/>
              <a:t>Bei Kündigungen</a:t>
            </a:r>
          </a:p>
        </p:txBody>
      </p:sp>
      <p:sp>
        <p:nvSpPr>
          <p:cNvPr id="4" name="Textfeld 3">
            <a:extLst>
              <a:ext uri="{FF2B5EF4-FFF2-40B4-BE49-F238E27FC236}">
                <a16:creationId xmlns:a16="http://schemas.microsoft.com/office/drawing/2014/main" id="{A65EA496-5A1E-0A51-E433-A89E38AF1B58}"/>
              </a:ext>
            </a:extLst>
          </p:cNvPr>
          <p:cNvSpPr txBox="1"/>
          <p:nvPr/>
        </p:nvSpPr>
        <p:spPr>
          <a:xfrm>
            <a:off x="6082146" y="2961168"/>
            <a:ext cx="5239440" cy="1169551"/>
          </a:xfrm>
          <a:prstGeom prst="rect">
            <a:avLst/>
          </a:prstGeom>
          <a:noFill/>
        </p:spPr>
        <p:txBody>
          <a:bodyPr wrap="square">
            <a:spAutoFit/>
          </a:bodyPr>
          <a:lstStyle/>
          <a:p>
            <a:pPr marL="285750" indent="-285750">
              <a:buFont typeface="Arial" panose="020B0604020202020204" pitchFamily="34" charset="0"/>
              <a:buChar char="•"/>
            </a:pPr>
            <a:r>
              <a:rPr lang="de-CH" sz="1400" dirty="0"/>
              <a:t>Zugestellt wenn effektiv erhalten oder bei Post abgeholt</a:t>
            </a:r>
          </a:p>
          <a:p>
            <a:pPr marL="285750" indent="-285750">
              <a:buFont typeface="Arial" panose="020B0604020202020204" pitchFamily="34" charset="0"/>
              <a:buChar char="•"/>
            </a:pPr>
            <a:r>
              <a:rPr lang="de-CH" sz="1400" dirty="0"/>
              <a:t>Spätestens nach 7 Tagen auf der Post </a:t>
            </a:r>
          </a:p>
          <a:p>
            <a:pPr marL="285750" indent="-285750">
              <a:buFont typeface="Arial" panose="020B0604020202020204" pitchFamily="34" charset="0"/>
              <a:buChar char="•"/>
            </a:pPr>
            <a:r>
              <a:rPr lang="de-CH" sz="1400" dirty="0"/>
              <a:t>Anwendung bei 30 T. – Zahlungsfrist gemäss Art. 257d OR / Anfechtungsfrist von Mietzinserhöhungen nach Art. 270b und 273 OR</a:t>
            </a:r>
          </a:p>
        </p:txBody>
      </p:sp>
      <p:sp>
        <p:nvSpPr>
          <p:cNvPr id="8" name="Textfeld 7">
            <a:extLst>
              <a:ext uri="{FF2B5EF4-FFF2-40B4-BE49-F238E27FC236}">
                <a16:creationId xmlns:a16="http://schemas.microsoft.com/office/drawing/2014/main" id="{7D0A176B-2F11-AAA9-F396-910C58517BAD}"/>
              </a:ext>
            </a:extLst>
          </p:cNvPr>
          <p:cNvSpPr txBox="1"/>
          <p:nvPr/>
        </p:nvSpPr>
        <p:spPr>
          <a:xfrm>
            <a:off x="514815" y="2019422"/>
            <a:ext cx="4568330" cy="307777"/>
          </a:xfrm>
          <a:prstGeom prst="rect">
            <a:avLst/>
          </a:prstGeom>
          <a:noFill/>
        </p:spPr>
        <p:txBody>
          <a:bodyPr wrap="square" rtlCol="0">
            <a:spAutoFit/>
          </a:bodyPr>
          <a:lstStyle/>
          <a:p>
            <a:r>
              <a:rPr lang="de-CH" sz="1400" dirty="0">
                <a:latin typeface="Helvetica LT Pro Black" panose="020B0904030502020204" pitchFamily="34" charset="0"/>
              </a:rPr>
              <a:t>Uneingeschränkte Empfangstheorie</a:t>
            </a:r>
          </a:p>
        </p:txBody>
      </p:sp>
      <p:sp>
        <p:nvSpPr>
          <p:cNvPr id="9" name="Textfeld 8">
            <a:extLst>
              <a:ext uri="{FF2B5EF4-FFF2-40B4-BE49-F238E27FC236}">
                <a16:creationId xmlns:a16="http://schemas.microsoft.com/office/drawing/2014/main" id="{E2EC0D77-435A-96D5-CF24-1E1AE63621BE}"/>
              </a:ext>
            </a:extLst>
          </p:cNvPr>
          <p:cNvSpPr txBox="1"/>
          <p:nvPr/>
        </p:nvSpPr>
        <p:spPr>
          <a:xfrm>
            <a:off x="6273688" y="2019421"/>
            <a:ext cx="4568330" cy="307777"/>
          </a:xfrm>
          <a:prstGeom prst="rect">
            <a:avLst/>
          </a:prstGeom>
          <a:noFill/>
        </p:spPr>
        <p:txBody>
          <a:bodyPr wrap="square" rtlCol="0">
            <a:spAutoFit/>
          </a:bodyPr>
          <a:lstStyle/>
          <a:p>
            <a:r>
              <a:rPr lang="de-CH" sz="1400" dirty="0">
                <a:latin typeface="Helvetica LT Pro Black" panose="020B0904030502020204" pitchFamily="34" charset="0"/>
              </a:rPr>
              <a:t>Eingeschränkte Empfangstheorie</a:t>
            </a:r>
          </a:p>
        </p:txBody>
      </p:sp>
    </p:spTree>
    <p:extLst>
      <p:ext uri="{BB962C8B-B14F-4D97-AF65-F5344CB8AC3E}">
        <p14:creationId xmlns:p14="http://schemas.microsoft.com/office/powerpoint/2010/main" val="2799812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Mietzinsanpassung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DB3D9F89-2F8F-1336-CA25-7C6EAF7BA0DE}"/>
              </a:ext>
            </a:extLst>
          </p:cNvPr>
          <p:cNvSpPr txBox="1"/>
          <p:nvPr/>
        </p:nvSpPr>
        <p:spPr>
          <a:xfrm>
            <a:off x="964252" y="1456004"/>
            <a:ext cx="3022600" cy="369332"/>
          </a:xfrm>
          <a:prstGeom prst="rect">
            <a:avLst/>
          </a:prstGeom>
          <a:noFill/>
        </p:spPr>
        <p:txBody>
          <a:bodyPr wrap="square" rtlCol="0">
            <a:spAutoFit/>
          </a:bodyPr>
          <a:lstStyle/>
          <a:p>
            <a:r>
              <a:rPr lang="de-CH" dirty="0"/>
              <a:t>Absolute Gründe</a:t>
            </a:r>
          </a:p>
        </p:txBody>
      </p:sp>
      <p:sp>
        <p:nvSpPr>
          <p:cNvPr id="3" name="Textfeld 2">
            <a:extLst>
              <a:ext uri="{FF2B5EF4-FFF2-40B4-BE49-F238E27FC236}">
                <a16:creationId xmlns:a16="http://schemas.microsoft.com/office/drawing/2014/main" id="{D235F69F-C39A-71C7-475F-DEB78BC24913}"/>
              </a:ext>
            </a:extLst>
          </p:cNvPr>
          <p:cNvSpPr txBox="1"/>
          <p:nvPr/>
        </p:nvSpPr>
        <p:spPr>
          <a:xfrm>
            <a:off x="7353302" y="1467366"/>
            <a:ext cx="3022600" cy="369332"/>
          </a:xfrm>
          <a:prstGeom prst="rect">
            <a:avLst/>
          </a:prstGeom>
          <a:noFill/>
        </p:spPr>
        <p:txBody>
          <a:bodyPr wrap="square" rtlCol="0">
            <a:spAutoFit/>
          </a:bodyPr>
          <a:lstStyle/>
          <a:p>
            <a:r>
              <a:rPr lang="de-CH" dirty="0"/>
              <a:t>Relative Gründe</a:t>
            </a:r>
          </a:p>
        </p:txBody>
      </p:sp>
      <p:sp>
        <p:nvSpPr>
          <p:cNvPr id="9" name="Textfeld 8">
            <a:extLst>
              <a:ext uri="{FF2B5EF4-FFF2-40B4-BE49-F238E27FC236}">
                <a16:creationId xmlns:a16="http://schemas.microsoft.com/office/drawing/2014/main" id="{A9102E26-B04C-B124-E9B2-DCABAE497E87}"/>
              </a:ext>
            </a:extLst>
          </p:cNvPr>
          <p:cNvSpPr txBox="1"/>
          <p:nvPr/>
        </p:nvSpPr>
        <p:spPr>
          <a:xfrm>
            <a:off x="964252" y="2267889"/>
            <a:ext cx="4306566" cy="954107"/>
          </a:xfrm>
          <a:prstGeom prst="rect">
            <a:avLst/>
          </a:prstGeom>
          <a:noFill/>
        </p:spPr>
        <p:txBody>
          <a:bodyPr wrap="square">
            <a:spAutoFit/>
          </a:bodyPr>
          <a:lstStyle/>
          <a:p>
            <a:pPr marL="285750" indent="-285750">
              <a:buFont typeface="Arial" panose="020B0604020202020204" pitchFamily="34" charset="0"/>
              <a:buChar char="•"/>
            </a:pPr>
            <a:r>
              <a:rPr lang="de-CH" sz="1400" dirty="0"/>
              <a:t>Orts- und Quartiersüblichkeit</a:t>
            </a:r>
          </a:p>
          <a:p>
            <a:pPr marL="285750" indent="-285750">
              <a:buFont typeface="Arial" panose="020B0604020202020204" pitchFamily="34" charset="0"/>
              <a:buChar char="•"/>
            </a:pPr>
            <a:r>
              <a:rPr lang="de-CH" sz="1400" dirty="0"/>
              <a:t>Ungenügende Nettorendite</a:t>
            </a:r>
          </a:p>
          <a:p>
            <a:pPr marL="285750" indent="-285750">
              <a:buFont typeface="Arial" panose="020B0604020202020204" pitchFamily="34" charset="0"/>
              <a:buChar char="•"/>
            </a:pPr>
            <a:r>
              <a:rPr lang="de-CH" sz="1400" dirty="0"/>
              <a:t>Kostendeckende Bruttorendite bei Neubauten (ca. 10 Jahre)</a:t>
            </a:r>
          </a:p>
        </p:txBody>
      </p:sp>
      <p:sp>
        <p:nvSpPr>
          <p:cNvPr id="10" name="Textfeld 9">
            <a:extLst>
              <a:ext uri="{FF2B5EF4-FFF2-40B4-BE49-F238E27FC236}">
                <a16:creationId xmlns:a16="http://schemas.microsoft.com/office/drawing/2014/main" id="{048B1D30-0141-B64F-8CAC-BCDE57D135F4}"/>
              </a:ext>
            </a:extLst>
          </p:cNvPr>
          <p:cNvSpPr txBox="1"/>
          <p:nvPr/>
        </p:nvSpPr>
        <p:spPr>
          <a:xfrm>
            <a:off x="7240361" y="2143198"/>
            <a:ext cx="4306566" cy="1169551"/>
          </a:xfrm>
          <a:prstGeom prst="rect">
            <a:avLst/>
          </a:prstGeom>
          <a:noFill/>
        </p:spPr>
        <p:txBody>
          <a:bodyPr wrap="square">
            <a:spAutoFit/>
          </a:bodyPr>
          <a:lstStyle/>
          <a:p>
            <a:pPr marL="285750" indent="-285750">
              <a:buFont typeface="Arial" panose="020B0604020202020204" pitchFamily="34" charset="0"/>
              <a:buChar char="•"/>
            </a:pPr>
            <a:r>
              <a:rPr lang="de-CH" sz="1400" dirty="0"/>
              <a:t>Veränderung Referenzzinssatz</a:t>
            </a:r>
          </a:p>
          <a:p>
            <a:pPr marL="285750" indent="-285750">
              <a:buFont typeface="Arial" panose="020B0604020202020204" pitchFamily="34" charset="0"/>
              <a:buChar char="•"/>
            </a:pPr>
            <a:r>
              <a:rPr lang="de-CH" sz="1400" dirty="0"/>
              <a:t>Teuerung auf risikotragendes Kapital</a:t>
            </a:r>
          </a:p>
          <a:p>
            <a:pPr marL="285750" indent="-285750">
              <a:buFont typeface="Arial" panose="020B0604020202020204" pitchFamily="34" charset="0"/>
              <a:buChar char="•"/>
            </a:pPr>
            <a:r>
              <a:rPr lang="de-CH" sz="1400" dirty="0"/>
              <a:t>Veränderung Unterhalts- und Betriebskosten</a:t>
            </a:r>
          </a:p>
          <a:p>
            <a:pPr marL="285750" indent="-285750">
              <a:buFont typeface="Arial" panose="020B0604020202020204" pitchFamily="34" charset="0"/>
              <a:buChar char="•"/>
            </a:pPr>
            <a:endParaRPr lang="de-CH" sz="1400" dirty="0"/>
          </a:p>
          <a:p>
            <a:pPr marL="285750" indent="-285750">
              <a:buFont typeface="Arial" panose="020B0604020202020204" pitchFamily="34" charset="0"/>
              <a:buChar char="•"/>
            </a:pPr>
            <a:r>
              <a:rPr lang="de-CH" sz="1400" dirty="0"/>
              <a:t>Mehrleistungen des Vermieters</a:t>
            </a:r>
          </a:p>
        </p:txBody>
      </p:sp>
      <p:sp>
        <p:nvSpPr>
          <p:cNvPr id="11" name="Textfeld 10">
            <a:extLst>
              <a:ext uri="{FF2B5EF4-FFF2-40B4-BE49-F238E27FC236}">
                <a16:creationId xmlns:a16="http://schemas.microsoft.com/office/drawing/2014/main" id="{A6C2D7F2-EC10-1DDC-7B9B-DD7B961D8042}"/>
              </a:ext>
            </a:extLst>
          </p:cNvPr>
          <p:cNvSpPr txBox="1"/>
          <p:nvPr/>
        </p:nvSpPr>
        <p:spPr>
          <a:xfrm>
            <a:off x="7353302" y="3785413"/>
            <a:ext cx="4306566" cy="307777"/>
          </a:xfrm>
          <a:prstGeom prst="rect">
            <a:avLst/>
          </a:prstGeom>
          <a:noFill/>
        </p:spPr>
        <p:txBody>
          <a:bodyPr wrap="square">
            <a:spAutoFit/>
          </a:bodyPr>
          <a:lstStyle/>
          <a:p>
            <a:r>
              <a:rPr lang="de-CH" sz="1400" dirty="0"/>
              <a:t>Kann kumuliert werden</a:t>
            </a:r>
          </a:p>
        </p:txBody>
      </p:sp>
      <p:sp>
        <p:nvSpPr>
          <p:cNvPr id="12" name="Textfeld 11">
            <a:extLst>
              <a:ext uri="{FF2B5EF4-FFF2-40B4-BE49-F238E27FC236}">
                <a16:creationId xmlns:a16="http://schemas.microsoft.com/office/drawing/2014/main" id="{FDA21E91-81D5-369A-6FE2-0517653CFB5C}"/>
              </a:ext>
            </a:extLst>
          </p:cNvPr>
          <p:cNvSpPr txBox="1"/>
          <p:nvPr/>
        </p:nvSpPr>
        <p:spPr>
          <a:xfrm>
            <a:off x="964252" y="3785413"/>
            <a:ext cx="4306566" cy="307777"/>
          </a:xfrm>
          <a:prstGeom prst="rect">
            <a:avLst/>
          </a:prstGeom>
          <a:noFill/>
        </p:spPr>
        <p:txBody>
          <a:bodyPr wrap="square">
            <a:spAutoFit/>
          </a:bodyPr>
          <a:lstStyle/>
          <a:p>
            <a:r>
              <a:rPr lang="de-CH" sz="1400" dirty="0"/>
              <a:t>Kann nicht kumuliert werden</a:t>
            </a:r>
          </a:p>
        </p:txBody>
      </p:sp>
      <p:sp>
        <p:nvSpPr>
          <p:cNvPr id="13" name="Textfeld 12">
            <a:extLst>
              <a:ext uri="{FF2B5EF4-FFF2-40B4-BE49-F238E27FC236}">
                <a16:creationId xmlns:a16="http://schemas.microsoft.com/office/drawing/2014/main" id="{8FEEE78A-D7AD-B1AD-35CD-851922072B08}"/>
              </a:ext>
            </a:extLst>
          </p:cNvPr>
          <p:cNvSpPr txBox="1"/>
          <p:nvPr/>
        </p:nvSpPr>
        <p:spPr>
          <a:xfrm>
            <a:off x="4349380" y="4919342"/>
            <a:ext cx="4306566" cy="307777"/>
          </a:xfrm>
          <a:prstGeom prst="rect">
            <a:avLst/>
          </a:prstGeom>
          <a:noFill/>
        </p:spPr>
        <p:txBody>
          <a:bodyPr wrap="square">
            <a:spAutoFit/>
          </a:bodyPr>
          <a:lstStyle/>
          <a:p>
            <a:r>
              <a:rPr lang="de-CH" sz="1400" dirty="0"/>
              <a:t>Gegenseitig nicht </a:t>
            </a:r>
            <a:r>
              <a:rPr lang="de-CH" sz="1400" dirty="0" err="1"/>
              <a:t>kummulierbar</a:t>
            </a:r>
            <a:endParaRPr lang="de-CH" sz="1400" dirty="0"/>
          </a:p>
        </p:txBody>
      </p:sp>
    </p:spTree>
    <p:extLst>
      <p:ext uri="{BB962C8B-B14F-4D97-AF65-F5344CB8AC3E}">
        <p14:creationId xmlns:p14="http://schemas.microsoft.com/office/powerpoint/2010/main" val="183704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Zahlungsrückstand Mieter</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9EF86AF1-2B37-94E0-6699-1DBE6C9B2000}"/>
              </a:ext>
            </a:extLst>
          </p:cNvPr>
          <p:cNvSpPr txBox="1"/>
          <p:nvPr/>
        </p:nvSpPr>
        <p:spPr>
          <a:xfrm>
            <a:off x="4468089" y="2382591"/>
            <a:ext cx="2884055" cy="307777"/>
          </a:xfrm>
          <a:prstGeom prst="rect">
            <a:avLst/>
          </a:prstGeom>
          <a:noFill/>
        </p:spPr>
        <p:txBody>
          <a:bodyPr wrap="square" rtlCol="0">
            <a:spAutoFit/>
          </a:bodyPr>
          <a:lstStyle/>
          <a:p>
            <a:r>
              <a:rPr lang="de-CH" sz="1400" dirty="0"/>
              <a:t>30 Tage </a:t>
            </a:r>
            <a:r>
              <a:rPr lang="de-CH" sz="1400" dirty="0">
                <a:sym typeface="Wingdings" panose="05000000000000000000" pitchFamily="2" charset="2"/>
              </a:rPr>
              <a:t> </a:t>
            </a:r>
            <a:r>
              <a:rPr lang="de-CH" sz="1400" dirty="0"/>
              <a:t>257d Abs. 1 OR</a:t>
            </a:r>
          </a:p>
        </p:txBody>
      </p:sp>
      <p:sp>
        <p:nvSpPr>
          <p:cNvPr id="4" name="Rechteck 3">
            <a:extLst>
              <a:ext uri="{FF2B5EF4-FFF2-40B4-BE49-F238E27FC236}">
                <a16:creationId xmlns:a16="http://schemas.microsoft.com/office/drawing/2014/main" id="{C433D385-DF94-B440-BE27-0401613647EE}"/>
              </a:ext>
            </a:extLst>
          </p:cNvPr>
          <p:cNvSpPr/>
          <p:nvPr/>
        </p:nvSpPr>
        <p:spPr>
          <a:xfrm>
            <a:off x="2280223" y="1102783"/>
            <a:ext cx="6697038" cy="6226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 name="Textfeld 8">
            <a:extLst>
              <a:ext uri="{FF2B5EF4-FFF2-40B4-BE49-F238E27FC236}">
                <a16:creationId xmlns:a16="http://schemas.microsoft.com/office/drawing/2014/main" id="{66DB924A-F816-65A9-4461-A6F14EB5F737}"/>
              </a:ext>
            </a:extLst>
          </p:cNvPr>
          <p:cNvSpPr txBox="1"/>
          <p:nvPr/>
        </p:nvSpPr>
        <p:spPr>
          <a:xfrm>
            <a:off x="4256321" y="1229464"/>
            <a:ext cx="3539169" cy="369332"/>
          </a:xfrm>
          <a:prstGeom prst="rect">
            <a:avLst/>
          </a:prstGeom>
          <a:noFill/>
        </p:spPr>
        <p:txBody>
          <a:bodyPr wrap="square" rtlCol="0">
            <a:spAutoFit/>
          </a:bodyPr>
          <a:lstStyle/>
          <a:p>
            <a:r>
              <a:rPr lang="de-CH" b="1" dirty="0">
                <a:latin typeface="Helvetica LT Pro Black" panose="020B0904030502020204" pitchFamily="34" charset="0"/>
              </a:rPr>
              <a:t>Zahlungsrückstand</a:t>
            </a:r>
          </a:p>
        </p:txBody>
      </p:sp>
      <p:sp>
        <p:nvSpPr>
          <p:cNvPr id="10" name="Rechteck 9">
            <a:extLst>
              <a:ext uri="{FF2B5EF4-FFF2-40B4-BE49-F238E27FC236}">
                <a16:creationId xmlns:a16="http://schemas.microsoft.com/office/drawing/2014/main" id="{ADA375BC-20BC-0499-E57D-728921DE06E7}"/>
              </a:ext>
            </a:extLst>
          </p:cNvPr>
          <p:cNvSpPr/>
          <p:nvPr/>
        </p:nvSpPr>
        <p:spPr>
          <a:xfrm>
            <a:off x="2280223" y="1946313"/>
            <a:ext cx="6697038" cy="8984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 name="Textfeld 10">
            <a:extLst>
              <a:ext uri="{FF2B5EF4-FFF2-40B4-BE49-F238E27FC236}">
                <a16:creationId xmlns:a16="http://schemas.microsoft.com/office/drawing/2014/main" id="{55C1103B-D158-2ED6-5934-7023989B936A}"/>
              </a:ext>
            </a:extLst>
          </p:cNvPr>
          <p:cNvSpPr txBox="1"/>
          <p:nvPr/>
        </p:nvSpPr>
        <p:spPr>
          <a:xfrm>
            <a:off x="4698027" y="1946313"/>
            <a:ext cx="3539169" cy="369332"/>
          </a:xfrm>
          <a:prstGeom prst="rect">
            <a:avLst/>
          </a:prstGeom>
          <a:noFill/>
        </p:spPr>
        <p:txBody>
          <a:bodyPr wrap="square" rtlCol="0">
            <a:spAutoFit/>
          </a:bodyPr>
          <a:lstStyle/>
          <a:p>
            <a:r>
              <a:rPr lang="de-CH" b="1" dirty="0">
                <a:latin typeface="Helvetica LT Pro Black" panose="020B0904030502020204" pitchFamily="34" charset="0"/>
              </a:rPr>
              <a:t>Zahlungsfrist</a:t>
            </a:r>
          </a:p>
        </p:txBody>
      </p:sp>
      <p:sp>
        <p:nvSpPr>
          <p:cNvPr id="12" name="Rechteck 11">
            <a:extLst>
              <a:ext uri="{FF2B5EF4-FFF2-40B4-BE49-F238E27FC236}">
                <a16:creationId xmlns:a16="http://schemas.microsoft.com/office/drawing/2014/main" id="{2A2A8093-2E01-4494-AC47-1ABAC6B02592}"/>
              </a:ext>
            </a:extLst>
          </p:cNvPr>
          <p:cNvSpPr/>
          <p:nvPr/>
        </p:nvSpPr>
        <p:spPr>
          <a:xfrm>
            <a:off x="2298695" y="3087968"/>
            <a:ext cx="6697038" cy="8984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3" name="Textfeld 12">
            <a:extLst>
              <a:ext uri="{FF2B5EF4-FFF2-40B4-BE49-F238E27FC236}">
                <a16:creationId xmlns:a16="http://schemas.microsoft.com/office/drawing/2014/main" id="{2F1538D5-6C63-A938-D64E-129CC5939F52}"/>
              </a:ext>
            </a:extLst>
          </p:cNvPr>
          <p:cNvSpPr txBox="1"/>
          <p:nvPr/>
        </p:nvSpPr>
        <p:spPr>
          <a:xfrm>
            <a:off x="4841190" y="3117240"/>
            <a:ext cx="3539169" cy="369332"/>
          </a:xfrm>
          <a:prstGeom prst="rect">
            <a:avLst/>
          </a:prstGeom>
          <a:noFill/>
        </p:spPr>
        <p:txBody>
          <a:bodyPr wrap="square" rtlCol="0">
            <a:spAutoFit/>
          </a:bodyPr>
          <a:lstStyle/>
          <a:p>
            <a:r>
              <a:rPr lang="de-CH" b="1" dirty="0">
                <a:latin typeface="Helvetica LT Pro Black" panose="020B0904030502020204" pitchFamily="34" charset="0"/>
              </a:rPr>
              <a:t>Kündigung</a:t>
            </a:r>
          </a:p>
        </p:txBody>
      </p:sp>
      <p:sp>
        <p:nvSpPr>
          <p:cNvPr id="14" name="Rechteck 13">
            <a:extLst>
              <a:ext uri="{FF2B5EF4-FFF2-40B4-BE49-F238E27FC236}">
                <a16:creationId xmlns:a16="http://schemas.microsoft.com/office/drawing/2014/main" id="{B816C904-3F85-C511-4016-135BA494AAF5}"/>
              </a:ext>
            </a:extLst>
          </p:cNvPr>
          <p:cNvSpPr/>
          <p:nvPr/>
        </p:nvSpPr>
        <p:spPr>
          <a:xfrm>
            <a:off x="2280223" y="4207290"/>
            <a:ext cx="6697038" cy="9796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5" name="Textfeld 14">
            <a:extLst>
              <a:ext uri="{FF2B5EF4-FFF2-40B4-BE49-F238E27FC236}">
                <a16:creationId xmlns:a16="http://schemas.microsoft.com/office/drawing/2014/main" id="{02C22526-84FF-25A3-4F68-B4B2B761158D}"/>
              </a:ext>
            </a:extLst>
          </p:cNvPr>
          <p:cNvSpPr txBox="1"/>
          <p:nvPr/>
        </p:nvSpPr>
        <p:spPr>
          <a:xfrm>
            <a:off x="4698027" y="4251032"/>
            <a:ext cx="3539169" cy="369332"/>
          </a:xfrm>
          <a:prstGeom prst="rect">
            <a:avLst/>
          </a:prstGeom>
          <a:noFill/>
        </p:spPr>
        <p:txBody>
          <a:bodyPr wrap="square" rtlCol="0">
            <a:spAutoFit/>
          </a:bodyPr>
          <a:lstStyle/>
          <a:p>
            <a:r>
              <a:rPr lang="de-CH" b="1" dirty="0">
                <a:latin typeface="Helvetica LT Pro Black" panose="020B0904030502020204" pitchFamily="34" charset="0"/>
              </a:rPr>
              <a:t>(Ausweisung)</a:t>
            </a:r>
          </a:p>
        </p:txBody>
      </p:sp>
      <p:sp>
        <p:nvSpPr>
          <p:cNvPr id="16" name="Textfeld 15">
            <a:extLst>
              <a:ext uri="{FF2B5EF4-FFF2-40B4-BE49-F238E27FC236}">
                <a16:creationId xmlns:a16="http://schemas.microsoft.com/office/drawing/2014/main" id="{CF07B74D-B4B4-653C-3DA6-9B55BC295BA7}"/>
              </a:ext>
            </a:extLst>
          </p:cNvPr>
          <p:cNvSpPr txBox="1"/>
          <p:nvPr/>
        </p:nvSpPr>
        <p:spPr>
          <a:xfrm>
            <a:off x="4050523" y="3537211"/>
            <a:ext cx="3950763" cy="307777"/>
          </a:xfrm>
          <a:prstGeom prst="rect">
            <a:avLst/>
          </a:prstGeom>
          <a:noFill/>
        </p:spPr>
        <p:txBody>
          <a:bodyPr wrap="square" rtlCol="0">
            <a:spAutoFit/>
          </a:bodyPr>
          <a:lstStyle/>
          <a:p>
            <a:r>
              <a:rPr lang="de-CH" sz="1400" dirty="0"/>
              <a:t>Fristlos, 30 Tage auf Ende eines Monats</a:t>
            </a:r>
          </a:p>
        </p:txBody>
      </p:sp>
      <p:sp>
        <p:nvSpPr>
          <p:cNvPr id="18" name="Textfeld 17">
            <a:extLst>
              <a:ext uri="{FF2B5EF4-FFF2-40B4-BE49-F238E27FC236}">
                <a16:creationId xmlns:a16="http://schemas.microsoft.com/office/drawing/2014/main" id="{EFD42798-DC73-D7E9-08CB-AC1FDCA72717}"/>
              </a:ext>
            </a:extLst>
          </p:cNvPr>
          <p:cNvSpPr txBox="1"/>
          <p:nvPr/>
        </p:nvSpPr>
        <p:spPr>
          <a:xfrm>
            <a:off x="2668727" y="4592598"/>
            <a:ext cx="5956973" cy="523220"/>
          </a:xfrm>
          <a:prstGeom prst="rect">
            <a:avLst/>
          </a:prstGeom>
          <a:noFill/>
        </p:spPr>
        <p:txBody>
          <a:bodyPr wrap="square">
            <a:spAutoFit/>
          </a:bodyPr>
          <a:lstStyle/>
          <a:p>
            <a:pPr algn="ctr"/>
            <a:r>
              <a:rPr lang="de-CH" sz="1400" dirty="0"/>
              <a:t>Ausweisungsbegehren bei Einzelgericht im summarischen Verfahren oder Schlichtungsbehörde</a:t>
            </a:r>
          </a:p>
        </p:txBody>
      </p:sp>
    </p:spTree>
    <p:extLst>
      <p:ext uri="{BB962C8B-B14F-4D97-AF65-F5344CB8AC3E}">
        <p14:creationId xmlns:p14="http://schemas.microsoft.com/office/powerpoint/2010/main" val="568901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Wohn- vs. Gewerbemietvertrag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2" name="Grafik 1" descr="Ein Bild, das Text, Screenshot, Zahl, Schrift enthält.&#10;&#10;Automatisch generierte Beschreibung">
            <a:extLst>
              <a:ext uri="{FF2B5EF4-FFF2-40B4-BE49-F238E27FC236}">
                <a16:creationId xmlns:a16="http://schemas.microsoft.com/office/drawing/2014/main" id="{FF387F49-17D0-242E-ED36-4653A76F20B4}"/>
              </a:ext>
            </a:extLst>
          </p:cNvPr>
          <p:cNvPicPr>
            <a:picLocks noChangeAspect="1"/>
          </p:cNvPicPr>
          <p:nvPr/>
        </p:nvPicPr>
        <p:blipFill rotWithShape="1">
          <a:blip r:embed="rId4"/>
          <a:srcRect l="1280" t="3276" r="2296" b="2581"/>
          <a:stretch/>
        </p:blipFill>
        <p:spPr>
          <a:xfrm>
            <a:off x="637309" y="1021556"/>
            <a:ext cx="6594764" cy="4668044"/>
          </a:xfrm>
          <a:prstGeom prst="rect">
            <a:avLst/>
          </a:prstGeom>
        </p:spPr>
      </p:pic>
    </p:spTree>
    <p:extLst>
      <p:ext uri="{BB962C8B-B14F-4D97-AF65-F5344CB8AC3E}">
        <p14:creationId xmlns:p14="http://schemas.microsoft.com/office/powerpoint/2010/main" val="1148751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Asset Deal vs. Share Deal</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2" name="Grafik 1">
            <a:extLst>
              <a:ext uri="{FF2B5EF4-FFF2-40B4-BE49-F238E27FC236}">
                <a16:creationId xmlns:a16="http://schemas.microsoft.com/office/drawing/2014/main" id="{C614908A-45EA-CC6A-DED9-B2E298A20CAC}"/>
              </a:ext>
            </a:extLst>
          </p:cNvPr>
          <p:cNvPicPr>
            <a:picLocks noChangeAspect="1"/>
          </p:cNvPicPr>
          <p:nvPr/>
        </p:nvPicPr>
        <p:blipFill>
          <a:blip r:embed="rId4"/>
          <a:stretch>
            <a:fillRect/>
          </a:stretch>
        </p:blipFill>
        <p:spPr>
          <a:xfrm>
            <a:off x="2364730" y="1265221"/>
            <a:ext cx="8001678" cy="3953770"/>
          </a:xfrm>
          <a:prstGeom prst="rect">
            <a:avLst/>
          </a:prstGeom>
        </p:spPr>
      </p:pic>
    </p:spTree>
    <p:extLst>
      <p:ext uri="{BB962C8B-B14F-4D97-AF65-F5344CB8AC3E}">
        <p14:creationId xmlns:p14="http://schemas.microsoft.com/office/powerpoint/2010/main" val="3103482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Due </a:t>
            </a:r>
            <a:r>
              <a:rPr lang="de-CH" sz="2400" dirty="0" err="1">
                <a:latin typeface="Helvetica LT Pro Black" panose="020B0904030502020204" pitchFamily="34" charset="0"/>
              </a:rPr>
              <a:t>Dilligence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F4AAC1ED-9F31-38D4-5419-4C77F541176D}"/>
              </a:ext>
            </a:extLst>
          </p:cNvPr>
          <p:cNvSpPr txBox="1"/>
          <p:nvPr/>
        </p:nvSpPr>
        <p:spPr>
          <a:xfrm>
            <a:off x="514816" y="1363640"/>
            <a:ext cx="1895876" cy="307777"/>
          </a:xfrm>
          <a:prstGeom prst="rect">
            <a:avLst/>
          </a:prstGeom>
          <a:noFill/>
        </p:spPr>
        <p:txBody>
          <a:bodyPr wrap="square" rtlCol="0">
            <a:spAutoFit/>
          </a:bodyPr>
          <a:lstStyle/>
          <a:p>
            <a:r>
              <a:rPr lang="de-CH" sz="1400" dirty="0">
                <a:latin typeface="Helvetica LT Pro Black" panose="020B0904030502020204" pitchFamily="34" charset="0"/>
              </a:rPr>
              <a:t>Markt Analyse</a:t>
            </a:r>
          </a:p>
        </p:txBody>
      </p:sp>
      <p:sp>
        <p:nvSpPr>
          <p:cNvPr id="4" name="Textfeld 3">
            <a:extLst>
              <a:ext uri="{FF2B5EF4-FFF2-40B4-BE49-F238E27FC236}">
                <a16:creationId xmlns:a16="http://schemas.microsoft.com/office/drawing/2014/main" id="{810629D8-48B9-036D-A036-B7A05386DB22}"/>
              </a:ext>
            </a:extLst>
          </p:cNvPr>
          <p:cNvSpPr txBox="1"/>
          <p:nvPr/>
        </p:nvSpPr>
        <p:spPr>
          <a:xfrm>
            <a:off x="4167797" y="1363639"/>
            <a:ext cx="2168348" cy="307777"/>
          </a:xfrm>
          <a:prstGeom prst="rect">
            <a:avLst/>
          </a:prstGeom>
          <a:noFill/>
        </p:spPr>
        <p:txBody>
          <a:bodyPr wrap="square" rtlCol="0">
            <a:spAutoFit/>
          </a:bodyPr>
          <a:lstStyle/>
          <a:p>
            <a:r>
              <a:rPr lang="de-CH" sz="1400" dirty="0">
                <a:latin typeface="Helvetica LT Pro Black" panose="020B0904030502020204" pitchFamily="34" charset="0"/>
              </a:rPr>
              <a:t>Finanzielle Analyse</a:t>
            </a:r>
          </a:p>
        </p:txBody>
      </p:sp>
      <p:sp>
        <p:nvSpPr>
          <p:cNvPr id="8" name="Textfeld 7">
            <a:extLst>
              <a:ext uri="{FF2B5EF4-FFF2-40B4-BE49-F238E27FC236}">
                <a16:creationId xmlns:a16="http://schemas.microsoft.com/office/drawing/2014/main" id="{12B7F821-A382-1F0B-4FEF-8D62F17483CB}"/>
              </a:ext>
            </a:extLst>
          </p:cNvPr>
          <p:cNvSpPr txBox="1"/>
          <p:nvPr/>
        </p:nvSpPr>
        <p:spPr>
          <a:xfrm>
            <a:off x="8093250" y="1332587"/>
            <a:ext cx="2168348" cy="307777"/>
          </a:xfrm>
          <a:prstGeom prst="rect">
            <a:avLst/>
          </a:prstGeom>
          <a:noFill/>
        </p:spPr>
        <p:txBody>
          <a:bodyPr wrap="square" rtlCol="0">
            <a:spAutoFit/>
          </a:bodyPr>
          <a:lstStyle/>
          <a:p>
            <a:r>
              <a:rPr lang="de-CH" sz="1400" dirty="0">
                <a:latin typeface="Helvetica LT Pro Black" panose="020B0904030502020204" pitchFamily="34" charset="0"/>
              </a:rPr>
              <a:t>Steuerliche Analyse</a:t>
            </a:r>
          </a:p>
        </p:txBody>
      </p:sp>
      <p:sp>
        <p:nvSpPr>
          <p:cNvPr id="9" name="Textfeld 8">
            <a:extLst>
              <a:ext uri="{FF2B5EF4-FFF2-40B4-BE49-F238E27FC236}">
                <a16:creationId xmlns:a16="http://schemas.microsoft.com/office/drawing/2014/main" id="{CD7D86E5-1EAE-3678-8220-BF17715C4CD4}"/>
              </a:ext>
            </a:extLst>
          </p:cNvPr>
          <p:cNvSpPr txBox="1"/>
          <p:nvPr/>
        </p:nvSpPr>
        <p:spPr>
          <a:xfrm>
            <a:off x="415258" y="3527176"/>
            <a:ext cx="2168348" cy="307777"/>
          </a:xfrm>
          <a:prstGeom prst="rect">
            <a:avLst/>
          </a:prstGeom>
          <a:noFill/>
        </p:spPr>
        <p:txBody>
          <a:bodyPr wrap="square" rtlCol="0">
            <a:spAutoFit/>
          </a:bodyPr>
          <a:lstStyle/>
          <a:p>
            <a:r>
              <a:rPr lang="de-CH" sz="1400" dirty="0">
                <a:latin typeface="Helvetica LT Pro Black" panose="020B0904030502020204" pitchFamily="34" charset="0"/>
              </a:rPr>
              <a:t>Rechtliche Analyse</a:t>
            </a:r>
          </a:p>
        </p:txBody>
      </p:sp>
      <p:sp>
        <p:nvSpPr>
          <p:cNvPr id="10" name="Textfeld 9">
            <a:extLst>
              <a:ext uri="{FF2B5EF4-FFF2-40B4-BE49-F238E27FC236}">
                <a16:creationId xmlns:a16="http://schemas.microsoft.com/office/drawing/2014/main" id="{2410C989-5544-653D-ACD2-6E468A8FAC18}"/>
              </a:ext>
            </a:extLst>
          </p:cNvPr>
          <p:cNvSpPr txBox="1"/>
          <p:nvPr/>
        </p:nvSpPr>
        <p:spPr>
          <a:xfrm>
            <a:off x="4167797" y="3554566"/>
            <a:ext cx="2168348" cy="307777"/>
          </a:xfrm>
          <a:prstGeom prst="rect">
            <a:avLst/>
          </a:prstGeom>
          <a:noFill/>
        </p:spPr>
        <p:txBody>
          <a:bodyPr wrap="square" rtlCol="0">
            <a:spAutoFit/>
          </a:bodyPr>
          <a:lstStyle/>
          <a:p>
            <a:r>
              <a:rPr lang="de-CH" sz="1400" dirty="0">
                <a:latin typeface="Helvetica LT Pro Black" panose="020B0904030502020204" pitchFamily="34" charset="0"/>
              </a:rPr>
              <a:t>Bauliche Analyse</a:t>
            </a:r>
          </a:p>
        </p:txBody>
      </p:sp>
      <p:sp>
        <p:nvSpPr>
          <p:cNvPr id="11" name="Textfeld 10">
            <a:extLst>
              <a:ext uri="{FF2B5EF4-FFF2-40B4-BE49-F238E27FC236}">
                <a16:creationId xmlns:a16="http://schemas.microsoft.com/office/drawing/2014/main" id="{4B1B0B56-12B7-31B7-8236-763574AA76B5}"/>
              </a:ext>
            </a:extLst>
          </p:cNvPr>
          <p:cNvSpPr txBox="1"/>
          <p:nvPr/>
        </p:nvSpPr>
        <p:spPr>
          <a:xfrm>
            <a:off x="8093250" y="3554566"/>
            <a:ext cx="3285949" cy="307777"/>
          </a:xfrm>
          <a:prstGeom prst="rect">
            <a:avLst/>
          </a:prstGeom>
          <a:noFill/>
        </p:spPr>
        <p:txBody>
          <a:bodyPr wrap="square" rtlCol="0">
            <a:spAutoFit/>
          </a:bodyPr>
          <a:lstStyle/>
          <a:p>
            <a:r>
              <a:rPr lang="de-CH" sz="1400" dirty="0">
                <a:latin typeface="Helvetica LT Pro Black" panose="020B0904030502020204" pitchFamily="34" charset="0"/>
              </a:rPr>
              <a:t>Gebäudetechnische Analyse</a:t>
            </a:r>
          </a:p>
        </p:txBody>
      </p:sp>
      <p:pic>
        <p:nvPicPr>
          <p:cNvPr id="13" name="Grafik 12">
            <a:extLst>
              <a:ext uri="{FF2B5EF4-FFF2-40B4-BE49-F238E27FC236}">
                <a16:creationId xmlns:a16="http://schemas.microsoft.com/office/drawing/2014/main" id="{A8113B2D-C021-6CD6-4843-B5AD343ED836}"/>
              </a:ext>
            </a:extLst>
          </p:cNvPr>
          <p:cNvPicPr>
            <a:picLocks noChangeAspect="1"/>
          </p:cNvPicPr>
          <p:nvPr/>
        </p:nvPicPr>
        <p:blipFill>
          <a:blip r:embed="rId4"/>
          <a:stretch>
            <a:fillRect/>
          </a:stretch>
        </p:blipFill>
        <p:spPr>
          <a:xfrm>
            <a:off x="514816" y="1784022"/>
            <a:ext cx="2353366" cy="1542092"/>
          </a:xfrm>
          <a:prstGeom prst="rect">
            <a:avLst/>
          </a:prstGeom>
        </p:spPr>
      </p:pic>
      <p:pic>
        <p:nvPicPr>
          <p:cNvPr id="15" name="Grafik 14">
            <a:extLst>
              <a:ext uri="{FF2B5EF4-FFF2-40B4-BE49-F238E27FC236}">
                <a16:creationId xmlns:a16="http://schemas.microsoft.com/office/drawing/2014/main" id="{9938577E-212C-1EFD-73FA-135C4FDFAA77}"/>
              </a:ext>
            </a:extLst>
          </p:cNvPr>
          <p:cNvPicPr>
            <a:picLocks noChangeAspect="1"/>
          </p:cNvPicPr>
          <p:nvPr/>
        </p:nvPicPr>
        <p:blipFill>
          <a:blip r:embed="rId5"/>
          <a:stretch>
            <a:fillRect/>
          </a:stretch>
        </p:blipFill>
        <p:spPr>
          <a:xfrm>
            <a:off x="4167797" y="1691302"/>
            <a:ext cx="2233003" cy="1764895"/>
          </a:xfrm>
          <a:prstGeom prst="rect">
            <a:avLst/>
          </a:prstGeom>
        </p:spPr>
      </p:pic>
      <p:pic>
        <p:nvPicPr>
          <p:cNvPr id="17" name="Grafik 16">
            <a:extLst>
              <a:ext uri="{FF2B5EF4-FFF2-40B4-BE49-F238E27FC236}">
                <a16:creationId xmlns:a16="http://schemas.microsoft.com/office/drawing/2014/main" id="{8B042C9F-3849-5E2F-DC90-6231764AC43C}"/>
              </a:ext>
            </a:extLst>
          </p:cNvPr>
          <p:cNvPicPr>
            <a:picLocks noChangeAspect="1"/>
          </p:cNvPicPr>
          <p:nvPr/>
        </p:nvPicPr>
        <p:blipFill>
          <a:blip r:embed="rId6"/>
          <a:stretch>
            <a:fillRect/>
          </a:stretch>
        </p:blipFill>
        <p:spPr>
          <a:xfrm>
            <a:off x="8157905" y="1711514"/>
            <a:ext cx="2611695" cy="1723415"/>
          </a:xfrm>
          <a:prstGeom prst="rect">
            <a:avLst/>
          </a:prstGeom>
        </p:spPr>
      </p:pic>
      <p:pic>
        <p:nvPicPr>
          <p:cNvPr id="19" name="Grafik 18">
            <a:extLst>
              <a:ext uri="{FF2B5EF4-FFF2-40B4-BE49-F238E27FC236}">
                <a16:creationId xmlns:a16="http://schemas.microsoft.com/office/drawing/2014/main" id="{2C908D84-59B9-5C2E-AE79-C2844E2F88A5}"/>
              </a:ext>
            </a:extLst>
          </p:cNvPr>
          <p:cNvPicPr>
            <a:picLocks noChangeAspect="1"/>
          </p:cNvPicPr>
          <p:nvPr/>
        </p:nvPicPr>
        <p:blipFill>
          <a:blip r:embed="rId7"/>
          <a:stretch>
            <a:fillRect/>
          </a:stretch>
        </p:blipFill>
        <p:spPr>
          <a:xfrm>
            <a:off x="415258" y="3899602"/>
            <a:ext cx="2353366" cy="1873360"/>
          </a:xfrm>
          <a:prstGeom prst="rect">
            <a:avLst/>
          </a:prstGeom>
        </p:spPr>
      </p:pic>
      <p:pic>
        <p:nvPicPr>
          <p:cNvPr id="21" name="Grafik 20">
            <a:extLst>
              <a:ext uri="{FF2B5EF4-FFF2-40B4-BE49-F238E27FC236}">
                <a16:creationId xmlns:a16="http://schemas.microsoft.com/office/drawing/2014/main" id="{EFB6649E-95CE-B75C-65B2-183D8DE96C4B}"/>
              </a:ext>
            </a:extLst>
          </p:cNvPr>
          <p:cNvPicPr>
            <a:picLocks noChangeAspect="1"/>
          </p:cNvPicPr>
          <p:nvPr/>
        </p:nvPicPr>
        <p:blipFill>
          <a:blip r:embed="rId8"/>
          <a:stretch>
            <a:fillRect/>
          </a:stretch>
        </p:blipFill>
        <p:spPr>
          <a:xfrm>
            <a:off x="4167797" y="3960712"/>
            <a:ext cx="2233003" cy="1760132"/>
          </a:xfrm>
          <a:prstGeom prst="rect">
            <a:avLst/>
          </a:prstGeom>
        </p:spPr>
      </p:pic>
      <p:pic>
        <p:nvPicPr>
          <p:cNvPr id="23" name="Grafik 22">
            <a:extLst>
              <a:ext uri="{FF2B5EF4-FFF2-40B4-BE49-F238E27FC236}">
                <a16:creationId xmlns:a16="http://schemas.microsoft.com/office/drawing/2014/main" id="{20F23312-2A07-2F93-E107-90538BC8B67F}"/>
              </a:ext>
            </a:extLst>
          </p:cNvPr>
          <p:cNvPicPr>
            <a:picLocks noChangeAspect="1"/>
          </p:cNvPicPr>
          <p:nvPr/>
        </p:nvPicPr>
        <p:blipFill>
          <a:blip r:embed="rId9"/>
          <a:stretch>
            <a:fillRect/>
          </a:stretch>
        </p:blipFill>
        <p:spPr>
          <a:xfrm>
            <a:off x="8157905" y="4084358"/>
            <a:ext cx="2233003" cy="862109"/>
          </a:xfrm>
          <a:prstGeom prst="rect">
            <a:avLst/>
          </a:prstGeom>
        </p:spPr>
      </p:pic>
    </p:spTree>
    <p:extLst>
      <p:ext uri="{BB962C8B-B14F-4D97-AF65-F5344CB8AC3E}">
        <p14:creationId xmlns:p14="http://schemas.microsoft.com/office/powerpoint/2010/main" val="1948507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STWE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8F2600A8-ADCD-36C7-6451-71096320EFCA}"/>
              </a:ext>
            </a:extLst>
          </p:cNvPr>
          <p:cNvSpPr txBox="1"/>
          <p:nvPr/>
        </p:nvSpPr>
        <p:spPr>
          <a:xfrm>
            <a:off x="514816" y="1363640"/>
            <a:ext cx="1895876" cy="307777"/>
          </a:xfrm>
          <a:prstGeom prst="rect">
            <a:avLst/>
          </a:prstGeom>
          <a:noFill/>
        </p:spPr>
        <p:txBody>
          <a:bodyPr wrap="square" rtlCol="0">
            <a:spAutoFit/>
          </a:bodyPr>
          <a:lstStyle/>
          <a:p>
            <a:r>
              <a:rPr lang="de-CH" sz="1400" dirty="0">
                <a:latin typeface="Helvetica LT Pro Black" panose="020B0904030502020204" pitchFamily="34" charset="0"/>
              </a:rPr>
              <a:t>Notwendige</a:t>
            </a:r>
          </a:p>
        </p:txBody>
      </p:sp>
      <p:sp>
        <p:nvSpPr>
          <p:cNvPr id="4" name="Textfeld 3">
            <a:extLst>
              <a:ext uri="{FF2B5EF4-FFF2-40B4-BE49-F238E27FC236}">
                <a16:creationId xmlns:a16="http://schemas.microsoft.com/office/drawing/2014/main" id="{A02E95C4-EB9C-81AB-03FC-072FB28E7C9E}"/>
              </a:ext>
            </a:extLst>
          </p:cNvPr>
          <p:cNvSpPr txBox="1"/>
          <p:nvPr/>
        </p:nvSpPr>
        <p:spPr>
          <a:xfrm>
            <a:off x="4704719" y="1363639"/>
            <a:ext cx="1895876" cy="307777"/>
          </a:xfrm>
          <a:prstGeom prst="rect">
            <a:avLst/>
          </a:prstGeom>
          <a:noFill/>
        </p:spPr>
        <p:txBody>
          <a:bodyPr wrap="square" rtlCol="0">
            <a:spAutoFit/>
          </a:bodyPr>
          <a:lstStyle/>
          <a:p>
            <a:r>
              <a:rPr lang="de-CH" sz="1400" dirty="0">
                <a:latin typeface="Helvetica LT Pro Black" panose="020B0904030502020204" pitchFamily="34" charset="0"/>
              </a:rPr>
              <a:t>Nützliche</a:t>
            </a:r>
          </a:p>
        </p:txBody>
      </p:sp>
      <p:sp>
        <p:nvSpPr>
          <p:cNvPr id="8" name="Textfeld 7">
            <a:extLst>
              <a:ext uri="{FF2B5EF4-FFF2-40B4-BE49-F238E27FC236}">
                <a16:creationId xmlns:a16="http://schemas.microsoft.com/office/drawing/2014/main" id="{8D09C988-5E9A-58F4-43A4-81CD4A3E3EA5}"/>
              </a:ext>
            </a:extLst>
          </p:cNvPr>
          <p:cNvSpPr txBox="1"/>
          <p:nvPr/>
        </p:nvSpPr>
        <p:spPr>
          <a:xfrm>
            <a:off x="8773339" y="1363638"/>
            <a:ext cx="1895876" cy="307777"/>
          </a:xfrm>
          <a:prstGeom prst="rect">
            <a:avLst/>
          </a:prstGeom>
          <a:noFill/>
        </p:spPr>
        <p:txBody>
          <a:bodyPr wrap="square" rtlCol="0">
            <a:spAutoFit/>
          </a:bodyPr>
          <a:lstStyle/>
          <a:p>
            <a:r>
              <a:rPr lang="de-CH" sz="1400" dirty="0">
                <a:latin typeface="Helvetica LT Pro Black" panose="020B0904030502020204" pitchFamily="34" charset="0"/>
              </a:rPr>
              <a:t>Luxuriöse</a:t>
            </a:r>
          </a:p>
        </p:txBody>
      </p:sp>
      <p:pic>
        <p:nvPicPr>
          <p:cNvPr id="10" name="Grafik 9">
            <a:extLst>
              <a:ext uri="{FF2B5EF4-FFF2-40B4-BE49-F238E27FC236}">
                <a16:creationId xmlns:a16="http://schemas.microsoft.com/office/drawing/2014/main" id="{36192AAD-35FF-87C9-3F48-1F3DF6590150}"/>
              </a:ext>
            </a:extLst>
          </p:cNvPr>
          <p:cNvPicPr>
            <a:picLocks noChangeAspect="1"/>
          </p:cNvPicPr>
          <p:nvPr/>
        </p:nvPicPr>
        <p:blipFill>
          <a:blip r:embed="rId4"/>
          <a:stretch>
            <a:fillRect/>
          </a:stretch>
        </p:blipFill>
        <p:spPr>
          <a:xfrm>
            <a:off x="618458" y="1847194"/>
            <a:ext cx="2263267" cy="2128625"/>
          </a:xfrm>
          <a:prstGeom prst="rect">
            <a:avLst/>
          </a:prstGeom>
        </p:spPr>
      </p:pic>
      <p:pic>
        <p:nvPicPr>
          <p:cNvPr id="12" name="Grafik 11">
            <a:extLst>
              <a:ext uri="{FF2B5EF4-FFF2-40B4-BE49-F238E27FC236}">
                <a16:creationId xmlns:a16="http://schemas.microsoft.com/office/drawing/2014/main" id="{8166B675-21B5-5A39-FBBA-703C9879ECB5}"/>
              </a:ext>
            </a:extLst>
          </p:cNvPr>
          <p:cNvPicPr>
            <a:picLocks noChangeAspect="1"/>
          </p:cNvPicPr>
          <p:nvPr/>
        </p:nvPicPr>
        <p:blipFill>
          <a:blip r:embed="rId5"/>
          <a:stretch>
            <a:fillRect/>
          </a:stretch>
        </p:blipFill>
        <p:spPr>
          <a:xfrm>
            <a:off x="4704719" y="1847194"/>
            <a:ext cx="2330231" cy="2626561"/>
          </a:xfrm>
          <a:prstGeom prst="rect">
            <a:avLst/>
          </a:prstGeom>
        </p:spPr>
      </p:pic>
      <p:pic>
        <p:nvPicPr>
          <p:cNvPr id="14" name="Grafik 13">
            <a:extLst>
              <a:ext uri="{FF2B5EF4-FFF2-40B4-BE49-F238E27FC236}">
                <a16:creationId xmlns:a16="http://schemas.microsoft.com/office/drawing/2014/main" id="{26E08998-279A-B4A9-B861-E819E47C7D9D}"/>
              </a:ext>
            </a:extLst>
          </p:cNvPr>
          <p:cNvPicPr>
            <a:picLocks noChangeAspect="1"/>
          </p:cNvPicPr>
          <p:nvPr/>
        </p:nvPicPr>
        <p:blipFill>
          <a:blip r:embed="rId6"/>
          <a:stretch>
            <a:fillRect/>
          </a:stretch>
        </p:blipFill>
        <p:spPr>
          <a:xfrm>
            <a:off x="8854160" y="1843061"/>
            <a:ext cx="2673204" cy="2445374"/>
          </a:xfrm>
          <a:prstGeom prst="rect">
            <a:avLst/>
          </a:prstGeom>
        </p:spPr>
      </p:pic>
    </p:spTree>
    <p:extLst>
      <p:ext uri="{BB962C8B-B14F-4D97-AF65-F5344CB8AC3E}">
        <p14:creationId xmlns:p14="http://schemas.microsoft.com/office/powerpoint/2010/main" val="11338086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Erneuerungsfond</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4" name="Textfeld 3">
            <a:extLst>
              <a:ext uri="{FF2B5EF4-FFF2-40B4-BE49-F238E27FC236}">
                <a16:creationId xmlns:a16="http://schemas.microsoft.com/office/drawing/2014/main" id="{0719BE53-AA91-71A1-44E7-52B284868A01}"/>
              </a:ext>
            </a:extLst>
          </p:cNvPr>
          <p:cNvSpPr txBox="1"/>
          <p:nvPr/>
        </p:nvSpPr>
        <p:spPr>
          <a:xfrm>
            <a:off x="514816" y="1491874"/>
            <a:ext cx="5267148" cy="738664"/>
          </a:xfrm>
          <a:prstGeom prst="rect">
            <a:avLst/>
          </a:prstGeom>
          <a:noFill/>
        </p:spPr>
        <p:txBody>
          <a:bodyPr wrap="square">
            <a:spAutoFit/>
          </a:bodyPr>
          <a:lstStyle/>
          <a:p>
            <a:r>
              <a:rPr lang="de-CH" sz="1400" dirty="0"/>
              <a:t>Obwohl der Gesetzgeber den Erneuerungsfonds an mehreren Stellen erwähnt (Art. 712l Abs. 1 &amp; Art. 712m Abs. 1 ZGB), besteht keine gesetzliche Verpflichtung zu dessen Errichtung. </a:t>
            </a:r>
          </a:p>
        </p:txBody>
      </p:sp>
      <p:sp>
        <p:nvSpPr>
          <p:cNvPr id="9" name="Textfeld 8">
            <a:extLst>
              <a:ext uri="{FF2B5EF4-FFF2-40B4-BE49-F238E27FC236}">
                <a16:creationId xmlns:a16="http://schemas.microsoft.com/office/drawing/2014/main" id="{CCD157A0-8F83-7AD8-7804-FB991C7FC176}"/>
              </a:ext>
            </a:extLst>
          </p:cNvPr>
          <p:cNvSpPr txBox="1"/>
          <p:nvPr/>
        </p:nvSpPr>
        <p:spPr>
          <a:xfrm>
            <a:off x="514816" y="2496748"/>
            <a:ext cx="5442639" cy="1600438"/>
          </a:xfrm>
          <a:prstGeom prst="rect">
            <a:avLst/>
          </a:prstGeom>
          <a:noFill/>
        </p:spPr>
        <p:txBody>
          <a:bodyPr wrap="square">
            <a:spAutoFit/>
          </a:bodyPr>
          <a:lstStyle/>
          <a:p>
            <a:r>
              <a:rPr lang="de-CH" sz="1400" dirty="0"/>
              <a:t>Der Erneuerungsfonds wird aufgrund des Reglements oder eines Beschlusses der Versammlung </a:t>
            </a:r>
            <a:r>
              <a:rPr lang="de-CH" sz="1400" dirty="0" err="1"/>
              <a:t>geäuffnet</a:t>
            </a:r>
            <a:r>
              <a:rPr lang="de-CH" sz="1400" dirty="0"/>
              <a:t> und sollte auf die voraussichtlichen Unterhaltsbedürfnisse abgestimmt sein.</a:t>
            </a:r>
          </a:p>
          <a:p>
            <a:endParaRPr lang="de-CH" sz="1400" dirty="0"/>
          </a:p>
          <a:p>
            <a:r>
              <a:rPr lang="de-CH" sz="1400" dirty="0"/>
              <a:t>Der Erneuerungsfonds wird grundsätzlich nur für grössere Unterhalts- oder Erneuerungsarbeiten, nicht aber für den laufenden Unterhalt, herangezogen. </a:t>
            </a:r>
          </a:p>
        </p:txBody>
      </p:sp>
      <p:sp>
        <p:nvSpPr>
          <p:cNvPr id="10" name="Textfeld 9">
            <a:extLst>
              <a:ext uri="{FF2B5EF4-FFF2-40B4-BE49-F238E27FC236}">
                <a16:creationId xmlns:a16="http://schemas.microsoft.com/office/drawing/2014/main" id="{F05B9C63-A5C5-9354-BC8B-D779F915BAD3}"/>
              </a:ext>
            </a:extLst>
          </p:cNvPr>
          <p:cNvSpPr txBox="1"/>
          <p:nvPr/>
        </p:nvSpPr>
        <p:spPr>
          <a:xfrm>
            <a:off x="514816" y="1050992"/>
            <a:ext cx="1895876" cy="307777"/>
          </a:xfrm>
          <a:prstGeom prst="rect">
            <a:avLst/>
          </a:prstGeom>
          <a:noFill/>
        </p:spPr>
        <p:txBody>
          <a:bodyPr wrap="square" rtlCol="0">
            <a:spAutoFit/>
          </a:bodyPr>
          <a:lstStyle/>
          <a:p>
            <a:r>
              <a:rPr lang="de-CH" sz="1400" dirty="0">
                <a:latin typeface="Helvetica LT Pro Black" panose="020B0904030502020204" pitchFamily="34" charset="0"/>
              </a:rPr>
              <a:t>Grundlagen</a:t>
            </a:r>
          </a:p>
        </p:txBody>
      </p:sp>
      <p:sp>
        <p:nvSpPr>
          <p:cNvPr id="11" name="Textfeld 10">
            <a:extLst>
              <a:ext uri="{FF2B5EF4-FFF2-40B4-BE49-F238E27FC236}">
                <a16:creationId xmlns:a16="http://schemas.microsoft.com/office/drawing/2014/main" id="{2A09A5AA-65D9-F602-A95E-0C110BD0C678}"/>
              </a:ext>
            </a:extLst>
          </p:cNvPr>
          <p:cNvSpPr txBox="1"/>
          <p:nvPr/>
        </p:nvSpPr>
        <p:spPr>
          <a:xfrm>
            <a:off x="6818634" y="1143869"/>
            <a:ext cx="1895876" cy="307777"/>
          </a:xfrm>
          <a:prstGeom prst="rect">
            <a:avLst/>
          </a:prstGeom>
          <a:noFill/>
        </p:spPr>
        <p:txBody>
          <a:bodyPr wrap="square" rtlCol="0">
            <a:spAutoFit/>
          </a:bodyPr>
          <a:lstStyle/>
          <a:p>
            <a:r>
              <a:rPr lang="de-CH" sz="1400" dirty="0">
                <a:latin typeface="Helvetica LT Pro Black" panose="020B0904030502020204" pitchFamily="34" charset="0"/>
              </a:rPr>
              <a:t>Steuern</a:t>
            </a:r>
          </a:p>
        </p:txBody>
      </p:sp>
      <p:sp>
        <p:nvSpPr>
          <p:cNvPr id="13" name="Textfeld 12">
            <a:extLst>
              <a:ext uri="{FF2B5EF4-FFF2-40B4-BE49-F238E27FC236}">
                <a16:creationId xmlns:a16="http://schemas.microsoft.com/office/drawing/2014/main" id="{233F0998-2A4E-BB60-FC8D-0A2BB25B369C}"/>
              </a:ext>
            </a:extLst>
          </p:cNvPr>
          <p:cNvSpPr txBox="1"/>
          <p:nvPr/>
        </p:nvSpPr>
        <p:spPr>
          <a:xfrm>
            <a:off x="6837329" y="1542641"/>
            <a:ext cx="4839855" cy="954107"/>
          </a:xfrm>
          <a:prstGeom prst="rect">
            <a:avLst/>
          </a:prstGeom>
          <a:noFill/>
        </p:spPr>
        <p:txBody>
          <a:bodyPr wrap="square">
            <a:spAutoFit/>
          </a:bodyPr>
          <a:lstStyle/>
          <a:p>
            <a:r>
              <a:rPr lang="de-CH" sz="1400" dirty="0"/>
              <a:t>Das Bundesgericht schreibt das Fondsvermögen nicht der Gemeinschaft zu, sondern fordert, dass die Mittel und Erträge aus dem Erneuerungsfonds durch die einzelnen Stockwerkeigentümer deklariert und versteuert werden.</a:t>
            </a:r>
          </a:p>
        </p:txBody>
      </p:sp>
      <p:sp>
        <p:nvSpPr>
          <p:cNvPr id="15" name="Textfeld 14">
            <a:extLst>
              <a:ext uri="{FF2B5EF4-FFF2-40B4-BE49-F238E27FC236}">
                <a16:creationId xmlns:a16="http://schemas.microsoft.com/office/drawing/2014/main" id="{78CA4A6A-71C8-E0CB-E4BF-C7986492CD56}"/>
              </a:ext>
            </a:extLst>
          </p:cNvPr>
          <p:cNvSpPr txBox="1"/>
          <p:nvPr/>
        </p:nvSpPr>
        <p:spPr>
          <a:xfrm>
            <a:off x="6818634" y="2668394"/>
            <a:ext cx="5200073" cy="1815882"/>
          </a:xfrm>
          <a:prstGeom prst="rect">
            <a:avLst/>
          </a:prstGeom>
          <a:noFill/>
        </p:spPr>
        <p:txBody>
          <a:bodyPr wrap="square">
            <a:spAutoFit/>
          </a:bodyPr>
          <a:lstStyle/>
          <a:p>
            <a:r>
              <a:rPr lang="de-CH" sz="1400" dirty="0"/>
              <a:t>Der Bewirtschafter einer Stockwerkeigentümergemeinschaft muss jährlich eine Aufstellung über den Vermögensstand und die Erträge des Erneuerungsfonds, mit den entsprechenden Anteilen der jeweiligen Eigentümer, erstellen. Seit dem 1. Januar 2002 kann die Verrechnungssteuer aus den Erträgen aus dem Erneuerungsfonds durch den Bewirtschafter im Namen der Gemeinschaft zurückgefordert werden. In der Regel erfolgt die Gutschrift auf das Fondskonto.</a:t>
            </a:r>
          </a:p>
        </p:txBody>
      </p:sp>
      <p:sp>
        <p:nvSpPr>
          <p:cNvPr id="17" name="Textfeld 16">
            <a:extLst>
              <a:ext uri="{FF2B5EF4-FFF2-40B4-BE49-F238E27FC236}">
                <a16:creationId xmlns:a16="http://schemas.microsoft.com/office/drawing/2014/main" id="{9D9218F2-CF7B-D6AE-5497-0C536B9DBFFF}"/>
              </a:ext>
            </a:extLst>
          </p:cNvPr>
          <p:cNvSpPr txBox="1"/>
          <p:nvPr/>
        </p:nvSpPr>
        <p:spPr>
          <a:xfrm>
            <a:off x="514816" y="4237389"/>
            <a:ext cx="4535055" cy="1815882"/>
          </a:xfrm>
          <a:prstGeom prst="rect">
            <a:avLst/>
          </a:prstGeom>
          <a:noFill/>
        </p:spPr>
        <p:txBody>
          <a:bodyPr wrap="square">
            <a:spAutoFit/>
          </a:bodyPr>
          <a:lstStyle/>
          <a:p>
            <a:r>
              <a:rPr lang="de-CH" sz="1400" dirty="0"/>
              <a:t>Am Erneuerungsfonds besteht Miteigentum aller Eigentümer im Verhältnis ihrer Wertquoten. Der Erneuerungsfonds erhöht den Gesamtwert des Stockwerkeigentums und somit auch den Wert der einzelnen Stockwerkeinheit. Der jeweilige Anteil geht beim Verkauf der Stockwerkeinheit auf den neuen Eigentümer über und kann nicht separat gehandelt werden.</a:t>
            </a:r>
          </a:p>
        </p:txBody>
      </p:sp>
      <p:pic>
        <p:nvPicPr>
          <p:cNvPr id="21" name="Grafik 20">
            <a:extLst>
              <a:ext uri="{FF2B5EF4-FFF2-40B4-BE49-F238E27FC236}">
                <a16:creationId xmlns:a16="http://schemas.microsoft.com/office/drawing/2014/main" id="{4645ECE2-C333-F4F2-140E-40F03D4708C6}"/>
              </a:ext>
            </a:extLst>
          </p:cNvPr>
          <p:cNvPicPr>
            <a:picLocks noChangeAspect="1"/>
          </p:cNvPicPr>
          <p:nvPr/>
        </p:nvPicPr>
        <p:blipFill>
          <a:blip r:embed="rId4"/>
          <a:stretch>
            <a:fillRect/>
          </a:stretch>
        </p:blipFill>
        <p:spPr>
          <a:xfrm>
            <a:off x="6904545" y="4727916"/>
            <a:ext cx="3410841" cy="973108"/>
          </a:xfrm>
          <a:prstGeom prst="rect">
            <a:avLst/>
          </a:prstGeom>
        </p:spPr>
      </p:pic>
    </p:spTree>
    <p:extLst>
      <p:ext uri="{BB962C8B-B14F-4D97-AF65-F5344CB8AC3E}">
        <p14:creationId xmlns:p14="http://schemas.microsoft.com/office/powerpoint/2010/main" val="2503210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Versammlung STWE </a:t>
            </a:r>
            <a:r>
              <a:rPr lang="de-CH" sz="1200" dirty="0"/>
              <a:t>(oberstes Organ)</a:t>
            </a: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46755787-0F84-16F9-E7BD-8AAADD989D99}"/>
              </a:ext>
            </a:extLst>
          </p:cNvPr>
          <p:cNvSpPr txBox="1"/>
          <p:nvPr/>
        </p:nvSpPr>
        <p:spPr>
          <a:xfrm>
            <a:off x="514816" y="1050992"/>
            <a:ext cx="1895876" cy="307777"/>
          </a:xfrm>
          <a:prstGeom prst="rect">
            <a:avLst/>
          </a:prstGeom>
          <a:noFill/>
        </p:spPr>
        <p:txBody>
          <a:bodyPr wrap="square" rtlCol="0">
            <a:spAutoFit/>
          </a:bodyPr>
          <a:lstStyle/>
          <a:p>
            <a:r>
              <a:rPr lang="de-CH" sz="1400" dirty="0">
                <a:latin typeface="Helvetica LT Pro Black" panose="020B0904030502020204" pitchFamily="34" charset="0"/>
              </a:rPr>
              <a:t>Gesetz</a:t>
            </a:r>
          </a:p>
        </p:txBody>
      </p:sp>
      <p:sp>
        <p:nvSpPr>
          <p:cNvPr id="4" name="Textfeld 3">
            <a:extLst>
              <a:ext uri="{FF2B5EF4-FFF2-40B4-BE49-F238E27FC236}">
                <a16:creationId xmlns:a16="http://schemas.microsoft.com/office/drawing/2014/main" id="{4FB325F1-261E-E27E-24B6-1BF0FE5782BE}"/>
              </a:ext>
            </a:extLst>
          </p:cNvPr>
          <p:cNvSpPr txBox="1"/>
          <p:nvPr/>
        </p:nvSpPr>
        <p:spPr>
          <a:xfrm>
            <a:off x="514816" y="1550636"/>
            <a:ext cx="5747439" cy="2862322"/>
          </a:xfrm>
          <a:prstGeom prst="rect">
            <a:avLst/>
          </a:prstGeom>
          <a:noFill/>
        </p:spPr>
        <p:txBody>
          <a:bodyPr wrap="square">
            <a:spAutoFit/>
          </a:bodyPr>
          <a:lstStyle/>
          <a:p>
            <a:r>
              <a:rPr lang="de-CH" sz="1200" dirty="0"/>
              <a:t>Die Versammlung hat von Gesetzes wegen folgende Befugnisse: </a:t>
            </a:r>
          </a:p>
          <a:p>
            <a:endParaRPr lang="de-CH" sz="1200" dirty="0"/>
          </a:p>
          <a:p>
            <a:r>
              <a:rPr lang="de-CH" sz="1200" dirty="0"/>
              <a:t>• Entscheide über alle Verwaltungsangelegenheiten, die nicht dem Verwalter zustehen </a:t>
            </a:r>
          </a:p>
          <a:p>
            <a:endParaRPr lang="de-CH" sz="1200" dirty="0"/>
          </a:p>
          <a:p>
            <a:r>
              <a:rPr lang="de-CH" sz="1200" dirty="0"/>
              <a:t>• Bestellung des Verwalters sowie Aufsicht über dessen Tätigkeit </a:t>
            </a:r>
          </a:p>
          <a:p>
            <a:endParaRPr lang="de-CH" sz="1200" dirty="0"/>
          </a:p>
          <a:p>
            <a:r>
              <a:rPr lang="de-CH" sz="1200" dirty="0"/>
              <a:t>• Wahl eines Ausschusses </a:t>
            </a:r>
          </a:p>
          <a:p>
            <a:endParaRPr lang="de-CH" sz="1200" dirty="0"/>
          </a:p>
          <a:p>
            <a:r>
              <a:rPr lang="de-CH" sz="1200" dirty="0"/>
              <a:t>• Genehmigung des jährlichen Kostenvoranschlages, der Rechnung und der Verteilung der Kosten unter den Eigentümern </a:t>
            </a:r>
          </a:p>
          <a:p>
            <a:endParaRPr lang="de-CH" sz="1200" dirty="0"/>
          </a:p>
          <a:p>
            <a:r>
              <a:rPr lang="de-CH" sz="1200" dirty="0"/>
              <a:t>• Schaffung eines Erneuerungsfonds für Unterhalts- und Erneuerungsarbeiten </a:t>
            </a:r>
          </a:p>
          <a:p>
            <a:endParaRPr lang="de-CH" sz="1200" dirty="0"/>
          </a:p>
          <a:p>
            <a:r>
              <a:rPr lang="de-CH" sz="1200" dirty="0"/>
              <a:t>• Beschlüsse über Versicherung des Objekts</a:t>
            </a:r>
          </a:p>
        </p:txBody>
      </p:sp>
    </p:spTree>
    <p:extLst>
      <p:ext uri="{BB962C8B-B14F-4D97-AF65-F5344CB8AC3E}">
        <p14:creationId xmlns:p14="http://schemas.microsoft.com/office/powerpoint/2010/main" val="3169407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Stockwerkeigentum</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8" name="Grafik 7">
            <a:extLst>
              <a:ext uri="{FF2B5EF4-FFF2-40B4-BE49-F238E27FC236}">
                <a16:creationId xmlns:a16="http://schemas.microsoft.com/office/drawing/2014/main" id="{B7F0BAE1-BB84-C6FF-2B03-6ED6F3241017}"/>
              </a:ext>
            </a:extLst>
          </p:cNvPr>
          <p:cNvPicPr>
            <a:picLocks noChangeAspect="1"/>
          </p:cNvPicPr>
          <p:nvPr/>
        </p:nvPicPr>
        <p:blipFill>
          <a:blip r:embed="rId4"/>
          <a:stretch>
            <a:fillRect/>
          </a:stretch>
        </p:blipFill>
        <p:spPr>
          <a:xfrm>
            <a:off x="616416" y="1407636"/>
            <a:ext cx="5181365" cy="1545195"/>
          </a:xfrm>
          <a:prstGeom prst="rect">
            <a:avLst/>
          </a:prstGeom>
        </p:spPr>
      </p:pic>
      <p:pic>
        <p:nvPicPr>
          <p:cNvPr id="10" name="Grafik 9">
            <a:extLst>
              <a:ext uri="{FF2B5EF4-FFF2-40B4-BE49-F238E27FC236}">
                <a16:creationId xmlns:a16="http://schemas.microsoft.com/office/drawing/2014/main" id="{752308E3-CC44-E51E-EEF4-3A8FCF21D599}"/>
              </a:ext>
            </a:extLst>
          </p:cNvPr>
          <p:cNvPicPr>
            <a:picLocks noChangeAspect="1"/>
          </p:cNvPicPr>
          <p:nvPr/>
        </p:nvPicPr>
        <p:blipFill>
          <a:blip r:embed="rId5"/>
          <a:stretch>
            <a:fillRect/>
          </a:stretch>
        </p:blipFill>
        <p:spPr>
          <a:xfrm>
            <a:off x="6096000" y="1407636"/>
            <a:ext cx="5557075" cy="1689185"/>
          </a:xfrm>
          <a:prstGeom prst="rect">
            <a:avLst/>
          </a:prstGeom>
        </p:spPr>
      </p:pic>
      <p:sp>
        <p:nvSpPr>
          <p:cNvPr id="12" name="Textfeld 11">
            <a:extLst>
              <a:ext uri="{FF2B5EF4-FFF2-40B4-BE49-F238E27FC236}">
                <a16:creationId xmlns:a16="http://schemas.microsoft.com/office/drawing/2014/main" id="{1B6EF32E-BC0C-E29B-402D-4F179C31B1D5}"/>
              </a:ext>
            </a:extLst>
          </p:cNvPr>
          <p:cNvSpPr txBox="1"/>
          <p:nvPr/>
        </p:nvSpPr>
        <p:spPr>
          <a:xfrm>
            <a:off x="616416" y="4065369"/>
            <a:ext cx="6096000" cy="1384995"/>
          </a:xfrm>
          <a:prstGeom prst="rect">
            <a:avLst/>
          </a:prstGeom>
          <a:noFill/>
        </p:spPr>
        <p:txBody>
          <a:bodyPr wrap="square">
            <a:spAutoFit/>
          </a:bodyPr>
          <a:lstStyle/>
          <a:p>
            <a:r>
              <a:rPr lang="de-CH" sz="1200" dirty="0"/>
              <a:t>Die Versammlung der Stockwerkeigentümer ist beschlussfähig, wenn die Hälfte aller Stockwerkeigentümer, die zugleich zur Hälfte anteilsberechtigt ist, anwesend sind. Stets müssen mindestens zwei Stockwerkeigentümer anwesend oder vertreten sein. Für den Fall einer ungenügenden Beteiligung ist eine zweite Versammlung einzuberufen, die nicht vor Ablauf von zehn Tagen seit der ersten stattfinden darf. Die zweite Versammlung ist beschlussfähig, wenn ein Drittel aller Stockwerkeigentümer, mindestens aber zwei, anwesend oder vertreten sind (vgl. Art. 712p ZGB).</a:t>
            </a:r>
          </a:p>
        </p:txBody>
      </p:sp>
      <p:sp>
        <p:nvSpPr>
          <p:cNvPr id="13" name="Textfeld 12">
            <a:extLst>
              <a:ext uri="{FF2B5EF4-FFF2-40B4-BE49-F238E27FC236}">
                <a16:creationId xmlns:a16="http://schemas.microsoft.com/office/drawing/2014/main" id="{BB85313D-9FBC-0F42-5DDF-CFDEE0ECAE08}"/>
              </a:ext>
            </a:extLst>
          </p:cNvPr>
          <p:cNvSpPr txBox="1"/>
          <p:nvPr/>
        </p:nvSpPr>
        <p:spPr>
          <a:xfrm>
            <a:off x="616415" y="3651788"/>
            <a:ext cx="2302275" cy="307777"/>
          </a:xfrm>
          <a:prstGeom prst="rect">
            <a:avLst/>
          </a:prstGeom>
          <a:noFill/>
        </p:spPr>
        <p:txBody>
          <a:bodyPr wrap="square" rtlCol="0">
            <a:spAutoFit/>
          </a:bodyPr>
          <a:lstStyle/>
          <a:p>
            <a:r>
              <a:rPr lang="de-CH" sz="1400" dirty="0">
                <a:latin typeface="Helvetica LT Pro Black" panose="020B0904030502020204" pitchFamily="34" charset="0"/>
              </a:rPr>
              <a:t>Beschlussfähigkeit</a:t>
            </a:r>
          </a:p>
        </p:txBody>
      </p:sp>
    </p:spTree>
    <p:extLst>
      <p:ext uri="{BB962C8B-B14F-4D97-AF65-F5344CB8AC3E}">
        <p14:creationId xmlns:p14="http://schemas.microsoft.com/office/powerpoint/2010/main" val="3008102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7" y="397460"/>
            <a:ext cx="4430563" cy="461665"/>
          </a:xfrm>
          <a:prstGeom prst="rect">
            <a:avLst/>
          </a:prstGeom>
          <a:noFill/>
        </p:spPr>
        <p:txBody>
          <a:bodyPr wrap="square" rtlCol="0">
            <a:spAutoFit/>
          </a:bodyPr>
          <a:lstStyle/>
          <a:p>
            <a:r>
              <a:rPr lang="de-CH" sz="2400" dirty="0">
                <a:latin typeface="Helvetica LT Pro Black" panose="020B0904030502020204" pitchFamily="34" charset="0"/>
              </a:rPr>
              <a:t>Grundpfandrechte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FBA6352A-2EF8-9359-9333-7A5DEE90DB6C}"/>
              </a:ext>
            </a:extLst>
          </p:cNvPr>
          <p:cNvSpPr txBox="1"/>
          <p:nvPr/>
        </p:nvSpPr>
        <p:spPr>
          <a:xfrm>
            <a:off x="533288" y="1382113"/>
            <a:ext cx="1895876" cy="307777"/>
          </a:xfrm>
          <a:prstGeom prst="rect">
            <a:avLst/>
          </a:prstGeom>
          <a:noFill/>
        </p:spPr>
        <p:txBody>
          <a:bodyPr wrap="square" rtlCol="0">
            <a:spAutoFit/>
          </a:bodyPr>
          <a:lstStyle/>
          <a:p>
            <a:r>
              <a:rPr lang="de-CH" sz="1400" dirty="0">
                <a:latin typeface="Helvetica LT Pro Black" panose="020B0904030502020204" pitchFamily="34" charset="0"/>
              </a:rPr>
              <a:t>Schuldbrief</a:t>
            </a:r>
          </a:p>
        </p:txBody>
      </p:sp>
      <p:sp>
        <p:nvSpPr>
          <p:cNvPr id="3" name="Textfeld 2">
            <a:extLst>
              <a:ext uri="{FF2B5EF4-FFF2-40B4-BE49-F238E27FC236}">
                <a16:creationId xmlns:a16="http://schemas.microsoft.com/office/drawing/2014/main" id="{EF8BD1EC-37E1-2BC0-16A1-7E766D2368A9}"/>
              </a:ext>
            </a:extLst>
          </p:cNvPr>
          <p:cNvSpPr txBox="1"/>
          <p:nvPr/>
        </p:nvSpPr>
        <p:spPr>
          <a:xfrm>
            <a:off x="4074728" y="1382112"/>
            <a:ext cx="2768711" cy="307777"/>
          </a:xfrm>
          <a:prstGeom prst="rect">
            <a:avLst/>
          </a:prstGeom>
          <a:noFill/>
        </p:spPr>
        <p:txBody>
          <a:bodyPr wrap="square" rtlCol="0">
            <a:spAutoFit/>
          </a:bodyPr>
          <a:lstStyle/>
          <a:p>
            <a:r>
              <a:rPr lang="de-CH" sz="1400" dirty="0">
                <a:latin typeface="Helvetica LT Pro Black" panose="020B0904030502020204" pitchFamily="34" charset="0"/>
              </a:rPr>
              <a:t>Grundpfandverschreibung</a:t>
            </a:r>
          </a:p>
        </p:txBody>
      </p:sp>
      <p:sp>
        <p:nvSpPr>
          <p:cNvPr id="4" name="Textfeld 3">
            <a:extLst>
              <a:ext uri="{FF2B5EF4-FFF2-40B4-BE49-F238E27FC236}">
                <a16:creationId xmlns:a16="http://schemas.microsoft.com/office/drawing/2014/main" id="{A2BE176F-4C01-4093-2434-D48C8E08EABA}"/>
              </a:ext>
            </a:extLst>
          </p:cNvPr>
          <p:cNvSpPr txBox="1"/>
          <p:nvPr/>
        </p:nvSpPr>
        <p:spPr>
          <a:xfrm>
            <a:off x="7824360" y="1290739"/>
            <a:ext cx="3727560" cy="307777"/>
          </a:xfrm>
          <a:prstGeom prst="rect">
            <a:avLst/>
          </a:prstGeom>
          <a:noFill/>
        </p:spPr>
        <p:txBody>
          <a:bodyPr wrap="square" rtlCol="0">
            <a:spAutoFit/>
          </a:bodyPr>
          <a:lstStyle/>
          <a:p>
            <a:r>
              <a:rPr lang="de-CH" sz="1400" dirty="0">
                <a:latin typeface="Helvetica LT Pro Black" panose="020B0904030502020204" pitchFamily="34" charset="0"/>
              </a:rPr>
              <a:t>Gesetzliche Grundpfandrechte</a:t>
            </a:r>
          </a:p>
        </p:txBody>
      </p:sp>
      <p:sp>
        <p:nvSpPr>
          <p:cNvPr id="9" name="Textfeld 8">
            <a:extLst>
              <a:ext uri="{FF2B5EF4-FFF2-40B4-BE49-F238E27FC236}">
                <a16:creationId xmlns:a16="http://schemas.microsoft.com/office/drawing/2014/main" id="{496AC2B9-5862-6675-DA0B-8071992E9ED9}"/>
              </a:ext>
            </a:extLst>
          </p:cNvPr>
          <p:cNvSpPr txBox="1"/>
          <p:nvPr/>
        </p:nvSpPr>
        <p:spPr>
          <a:xfrm>
            <a:off x="514816" y="863596"/>
            <a:ext cx="6096000" cy="461665"/>
          </a:xfrm>
          <a:prstGeom prst="rect">
            <a:avLst/>
          </a:prstGeom>
          <a:noFill/>
        </p:spPr>
        <p:txBody>
          <a:bodyPr wrap="square">
            <a:spAutoFit/>
          </a:bodyPr>
          <a:lstStyle/>
          <a:p>
            <a:r>
              <a:rPr lang="de-CH" sz="1200" b="0" i="0" dirty="0">
                <a:solidFill>
                  <a:srgbClr val="4D5156"/>
                </a:solidFill>
                <a:effectLst/>
                <a:latin typeface="arial" panose="020B0604020202020204" pitchFamily="34" charset="0"/>
              </a:rPr>
              <a:t>Grundpfandrechte sind im Sachenrecht Pfandrechte an Grundstücken oder an grundstücksgleichen Rechten zur Sicherung von Forderungen.</a:t>
            </a:r>
            <a:endParaRPr lang="de-CH" sz="1200" dirty="0"/>
          </a:p>
        </p:txBody>
      </p:sp>
      <p:sp>
        <p:nvSpPr>
          <p:cNvPr id="11" name="Textfeld 10">
            <a:extLst>
              <a:ext uri="{FF2B5EF4-FFF2-40B4-BE49-F238E27FC236}">
                <a16:creationId xmlns:a16="http://schemas.microsoft.com/office/drawing/2014/main" id="{0DA8D8F2-1C76-7E4E-42DE-EE701EE0F201}"/>
              </a:ext>
            </a:extLst>
          </p:cNvPr>
          <p:cNvSpPr txBox="1"/>
          <p:nvPr/>
        </p:nvSpPr>
        <p:spPr>
          <a:xfrm>
            <a:off x="415636" y="1916366"/>
            <a:ext cx="3084945" cy="1938992"/>
          </a:xfrm>
          <a:prstGeom prst="rect">
            <a:avLst/>
          </a:prstGeom>
          <a:noFill/>
        </p:spPr>
        <p:txBody>
          <a:bodyPr wrap="square">
            <a:spAutoFit/>
          </a:bodyPr>
          <a:lstStyle/>
          <a:p>
            <a:r>
              <a:rPr lang="de-CH" sz="1200" dirty="0"/>
              <a:t>Der Register-Schuldbrief wird auf den Namen des Grundeigentümers oder des Gläubigers im Grundbuch eingetragen. Die Übertragung des Register-Schuldbriefs erfolgt durch Eintragung des neuen Gläubigers in das Grundbuch aufgrund einer schriftlichen Erklärung des bisherigen Gläubigers. Für die Forderung haften das Grundstück und der Schuldner persönlich. </a:t>
            </a:r>
          </a:p>
        </p:txBody>
      </p:sp>
      <p:sp>
        <p:nvSpPr>
          <p:cNvPr id="13" name="Textfeld 12">
            <a:extLst>
              <a:ext uri="{FF2B5EF4-FFF2-40B4-BE49-F238E27FC236}">
                <a16:creationId xmlns:a16="http://schemas.microsoft.com/office/drawing/2014/main" id="{96BBA1B1-09FE-50AE-9977-C6E378E29678}"/>
              </a:ext>
            </a:extLst>
          </p:cNvPr>
          <p:cNvSpPr txBox="1"/>
          <p:nvPr/>
        </p:nvSpPr>
        <p:spPr>
          <a:xfrm>
            <a:off x="3980447" y="1999313"/>
            <a:ext cx="3547190" cy="1569660"/>
          </a:xfrm>
          <a:prstGeom prst="rect">
            <a:avLst/>
          </a:prstGeom>
          <a:noFill/>
        </p:spPr>
        <p:txBody>
          <a:bodyPr wrap="square">
            <a:spAutoFit/>
          </a:bodyPr>
          <a:lstStyle/>
          <a:p>
            <a:r>
              <a:rPr lang="de-CH" sz="1200" dirty="0"/>
              <a:t>Die Grundpfandverschreibung ist kein Wertpapier. Sie wird zu Gunsten einer bestimmten Person errichtet und dient in der Regel zur Sicherstellung eines Kredites oder eines Darlehens. N.B. Nachdem weitgehend keine Belastungsgrenze mehr besteht, hat die Grundpfandverschreibung in der Praxis keine grosse Bedeutung mehr. </a:t>
            </a:r>
          </a:p>
        </p:txBody>
      </p:sp>
      <p:sp>
        <p:nvSpPr>
          <p:cNvPr id="15" name="Textfeld 14">
            <a:extLst>
              <a:ext uri="{FF2B5EF4-FFF2-40B4-BE49-F238E27FC236}">
                <a16:creationId xmlns:a16="http://schemas.microsoft.com/office/drawing/2014/main" id="{1B1041D2-7E00-AF6A-8369-D3263103EE0F}"/>
              </a:ext>
            </a:extLst>
          </p:cNvPr>
          <p:cNvSpPr txBox="1"/>
          <p:nvPr/>
        </p:nvSpPr>
        <p:spPr>
          <a:xfrm>
            <a:off x="7740967" y="1916366"/>
            <a:ext cx="4304145" cy="2862322"/>
          </a:xfrm>
          <a:prstGeom prst="rect">
            <a:avLst/>
          </a:prstGeom>
          <a:noFill/>
        </p:spPr>
        <p:txBody>
          <a:bodyPr wrap="square">
            <a:spAutoFit/>
          </a:bodyPr>
          <a:lstStyle/>
          <a:p>
            <a:r>
              <a:rPr lang="de-CH" sz="1200" dirty="0"/>
              <a:t>Gesetzliche Grundpfandrechte sind solche, die gegen den Willen des Grundeigentümers entstehen können. Der Gesetzgeber hat bestimmte, eng mit dem Grundstück in Beziehung stehende Forderungen, derart privilegiert, dass entweder </a:t>
            </a:r>
          </a:p>
          <a:p>
            <a:r>
              <a:rPr lang="de-CH" sz="1200" dirty="0"/>
              <a:t>• das Grundpfandrecht für die betreffende Forderung „automatisch“ entsteht (unmittelbares gesetzliches Pfandrecht) oder </a:t>
            </a:r>
          </a:p>
          <a:p>
            <a:r>
              <a:rPr lang="de-CH" sz="1200" dirty="0"/>
              <a:t>• der betreffende Gläubiger einen gesetzlichen Anspruch auf Errichtung eines Grundpfandrechtes hat (mittelbares gesetzliches Pfandrecht). Gesetzliche Grundpfandrechte sind immer Grundpfandverschreibungen. Auf gesetzliche Pfandrechte kann der Berechtigte nicht zum Voraus verzichten. Dies ist insbesondere beim Bauhandwerkerpfandrecht von Bedeutung.</a:t>
            </a:r>
          </a:p>
        </p:txBody>
      </p:sp>
      <p:sp>
        <p:nvSpPr>
          <p:cNvPr id="16" name="Textfeld 15">
            <a:extLst>
              <a:ext uri="{FF2B5EF4-FFF2-40B4-BE49-F238E27FC236}">
                <a16:creationId xmlns:a16="http://schemas.microsoft.com/office/drawing/2014/main" id="{C96AC6C1-8D54-9AFC-B176-38DBD73B0134}"/>
              </a:ext>
            </a:extLst>
          </p:cNvPr>
          <p:cNvSpPr txBox="1"/>
          <p:nvPr/>
        </p:nvSpPr>
        <p:spPr>
          <a:xfrm>
            <a:off x="7740967" y="4920930"/>
            <a:ext cx="3973850" cy="646331"/>
          </a:xfrm>
          <a:prstGeom prst="rect">
            <a:avLst/>
          </a:prstGeom>
          <a:noFill/>
        </p:spPr>
        <p:txBody>
          <a:bodyPr wrap="square">
            <a:spAutoFit/>
          </a:bodyPr>
          <a:lstStyle/>
          <a:p>
            <a:r>
              <a:rPr lang="de-CH" sz="1200" dirty="0"/>
              <a:t>Bauhandwerkerpfandrecht </a:t>
            </a:r>
            <a:r>
              <a:rPr lang="de-CH" sz="1200" dirty="0">
                <a:sym typeface="Wingdings" panose="05000000000000000000" pitchFamily="2" charset="2"/>
              </a:rPr>
              <a:t> Privatrecht </a:t>
            </a:r>
          </a:p>
          <a:p>
            <a:endParaRPr lang="de-CH" sz="1200" dirty="0">
              <a:sym typeface="Wingdings" panose="05000000000000000000" pitchFamily="2" charset="2"/>
            </a:endParaRPr>
          </a:p>
          <a:p>
            <a:r>
              <a:rPr lang="de-CH" sz="1200" dirty="0">
                <a:sym typeface="Wingdings" panose="05000000000000000000" pitchFamily="2" charset="2"/>
              </a:rPr>
              <a:t>GGST/</a:t>
            </a:r>
            <a:r>
              <a:rPr lang="de-CH" sz="1200" dirty="0" err="1">
                <a:sym typeface="Wingdings" panose="05000000000000000000" pitchFamily="2" charset="2"/>
              </a:rPr>
              <a:t>Handänderungsst</a:t>
            </a:r>
            <a:r>
              <a:rPr lang="de-CH" sz="1200" dirty="0">
                <a:sym typeface="Wingdings" panose="05000000000000000000" pitchFamily="2" charset="2"/>
              </a:rPr>
              <a:t> etc.  öffentliches Recht</a:t>
            </a:r>
            <a:endParaRPr lang="de-CH" sz="1200" dirty="0"/>
          </a:p>
        </p:txBody>
      </p:sp>
      <p:sp>
        <p:nvSpPr>
          <p:cNvPr id="18" name="Textfeld 17">
            <a:extLst>
              <a:ext uri="{FF2B5EF4-FFF2-40B4-BE49-F238E27FC236}">
                <a16:creationId xmlns:a16="http://schemas.microsoft.com/office/drawing/2014/main" id="{D45F7DE0-4A4E-E3B6-73EF-B521CAFEA16E}"/>
              </a:ext>
            </a:extLst>
          </p:cNvPr>
          <p:cNvSpPr txBox="1"/>
          <p:nvPr/>
        </p:nvSpPr>
        <p:spPr>
          <a:xfrm>
            <a:off x="7805620" y="288096"/>
            <a:ext cx="4174837" cy="830997"/>
          </a:xfrm>
          <a:prstGeom prst="rect">
            <a:avLst/>
          </a:prstGeom>
          <a:noFill/>
        </p:spPr>
        <p:txBody>
          <a:bodyPr wrap="square">
            <a:spAutoFit/>
          </a:bodyPr>
          <a:lstStyle/>
          <a:p>
            <a:r>
              <a:rPr lang="de-CH" sz="1200" dirty="0"/>
              <a:t>Diese Pfandrechte sind innert einer vorgeschriebenen Frist nach der Lieferung, Rechtskraft oder Fälligkeit geltend zu machen, entweder beim Richter, beim Grundbuchamt oder im Betreibungsverfahren.</a:t>
            </a:r>
          </a:p>
        </p:txBody>
      </p:sp>
    </p:spTree>
    <p:extLst>
      <p:ext uri="{BB962C8B-B14F-4D97-AF65-F5344CB8AC3E}">
        <p14:creationId xmlns:p14="http://schemas.microsoft.com/office/powerpoint/2010/main" val="2820490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Liegenschaftssteuer</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F58014E6-39A3-515C-04F7-D4D919CDE15D}"/>
              </a:ext>
            </a:extLst>
          </p:cNvPr>
          <p:cNvSpPr txBox="1"/>
          <p:nvPr/>
        </p:nvSpPr>
        <p:spPr>
          <a:xfrm>
            <a:off x="514816" y="863596"/>
            <a:ext cx="6096000" cy="276999"/>
          </a:xfrm>
          <a:prstGeom prst="rect">
            <a:avLst/>
          </a:prstGeom>
          <a:noFill/>
        </p:spPr>
        <p:txBody>
          <a:bodyPr wrap="square">
            <a:spAutoFit/>
          </a:bodyPr>
          <a:lstStyle/>
          <a:p>
            <a:r>
              <a:rPr lang="de-CH" sz="1200" b="0" i="0" dirty="0">
                <a:solidFill>
                  <a:srgbClr val="4D5156"/>
                </a:solidFill>
                <a:effectLst/>
                <a:latin typeface="arial" panose="020B0604020202020204" pitchFamily="34" charset="0"/>
              </a:rPr>
              <a:t>Gehört zum Liegenschaftsunterhalt und kann von den Steuern abgesetzt werden</a:t>
            </a:r>
            <a:endParaRPr lang="de-CH" sz="1200" dirty="0"/>
          </a:p>
        </p:txBody>
      </p:sp>
      <p:pic>
        <p:nvPicPr>
          <p:cNvPr id="3" name="Grafik 2">
            <a:extLst>
              <a:ext uri="{FF2B5EF4-FFF2-40B4-BE49-F238E27FC236}">
                <a16:creationId xmlns:a16="http://schemas.microsoft.com/office/drawing/2014/main" id="{50D05A79-8952-B727-3087-984CB47A60D1}"/>
              </a:ext>
            </a:extLst>
          </p:cNvPr>
          <p:cNvPicPr>
            <a:picLocks noChangeAspect="1"/>
          </p:cNvPicPr>
          <p:nvPr/>
        </p:nvPicPr>
        <p:blipFill rotWithShape="1">
          <a:blip r:embed="rId4"/>
          <a:srcRect l="4749" t="2645" r="5395" b="29386"/>
          <a:stretch/>
        </p:blipFill>
        <p:spPr>
          <a:xfrm>
            <a:off x="514816" y="1421340"/>
            <a:ext cx="5581185" cy="4351185"/>
          </a:xfrm>
          <a:prstGeom prst="rect">
            <a:avLst/>
          </a:prstGeom>
        </p:spPr>
      </p:pic>
      <p:sp>
        <p:nvSpPr>
          <p:cNvPr id="4" name="Textfeld 3">
            <a:extLst>
              <a:ext uri="{FF2B5EF4-FFF2-40B4-BE49-F238E27FC236}">
                <a16:creationId xmlns:a16="http://schemas.microsoft.com/office/drawing/2014/main" id="{68FAFE2F-B7E9-2EB6-784D-B0E9D34FEEC6}"/>
              </a:ext>
            </a:extLst>
          </p:cNvPr>
          <p:cNvSpPr txBox="1"/>
          <p:nvPr/>
        </p:nvSpPr>
        <p:spPr>
          <a:xfrm>
            <a:off x="6610816" y="2158996"/>
            <a:ext cx="6096000" cy="646331"/>
          </a:xfrm>
          <a:prstGeom prst="rect">
            <a:avLst/>
          </a:prstGeom>
          <a:noFill/>
        </p:spPr>
        <p:txBody>
          <a:bodyPr wrap="square">
            <a:spAutoFit/>
          </a:bodyPr>
          <a:lstStyle/>
          <a:p>
            <a:r>
              <a:rPr lang="de-CH" sz="1200" b="0" i="0" dirty="0">
                <a:solidFill>
                  <a:srgbClr val="4D5156"/>
                </a:solidFill>
                <a:effectLst/>
                <a:latin typeface="arial" panose="020B0604020202020204" pitchFamily="34" charset="0"/>
              </a:rPr>
              <a:t>Verkehrswert / </a:t>
            </a:r>
            <a:r>
              <a:rPr lang="de-CH" sz="1200" b="0" i="0" dirty="0" err="1">
                <a:solidFill>
                  <a:srgbClr val="4D5156"/>
                </a:solidFill>
                <a:effectLst/>
                <a:latin typeface="arial" panose="020B0604020202020204" pitchFamily="34" charset="0"/>
              </a:rPr>
              <a:t>Amtswert</a:t>
            </a:r>
            <a:r>
              <a:rPr lang="de-CH" sz="1200" b="0" i="0" dirty="0">
                <a:solidFill>
                  <a:srgbClr val="4D5156"/>
                </a:solidFill>
                <a:effectLst/>
                <a:latin typeface="arial" panose="020B0604020202020204" pitchFamily="34" charset="0"/>
              </a:rPr>
              <a:t> x kantonaler Steuersatz </a:t>
            </a:r>
          </a:p>
          <a:p>
            <a:endParaRPr lang="de-CH" sz="1200" dirty="0">
              <a:solidFill>
                <a:srgbClr val="4D5156"/>
              </a:solidFill>
              <a:latin typeface="arial" panose="020B0604020202020204" pitchFamily="34" charset="0"/>
            </a:endParaRPr>
          </a:p>
          <a:p>
            <a:r>
              <a:rPr lang="de-CH" sz="1200" dirty="0">
                <a:solidFill>
                  <a:srgbClr val="4D5156"/>
                </a:solidFill>
                <a:latin typeface="arial" panose="020B0604020202020204" pitchFamily="34" charset="0"/>
              </a:rPr>
              <a:t>- Maximaler Steuersatz von 1.5%</a:t>
            </a:r>
            <a:endParaRPr lang="de-CH" sz="1200" dirty="0"/>
          </a:p>
        </p:txBody>
      </p:sp>
    </p:spTree>
    <p:extLst>
      <p:ext uri="{BB962C8B-B14F-4D97-AF65-F5344CB8AC3E}">
        <p14:creationId xmlns:p14="http://schemas.microsoft.com/office/powerpoint/2010/main" val="186849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7092484" cy="461665"/>
          </a:xfrm>
          <a:prstGeom prst="rect">
            <a:avLst/>
          </a:prstGeom>
          <a:noFill/>
        </p:spPr>
        <p:txBody>
          <a:bodyPr wrap="square" rtlCol="0">
            <a:spAutoFit/>
          </a:bodyPr>
          <a:lstStyle/>
          <a:p>
            <a:r>
              <a:rPr lang="de-CH" sz="2400" dirty="0">
                <a:latin typeface="Helvetica LT Pro Black" panose="020B0904030502020204" pitchFamily="34" charset="0"/>
              </a:rPr>
              <a:t>Baubegriffe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8245656B-AA6B-4A02-0647-9746156E9510}"/>
              </a:ext>
            </a:extLst>
          </p:cNvPr>
          <p:cNvSpPr txBox="1"/>
          <p:nvPr/>
        </p:nvSpPr>
        <p:spPr>
          <a:xfrm>
            <a:off x="396956" y="1382111"/>
            <a:ext cx="1895876" cy="307777"/>
          </a:xfrm>
          <a:prstGeom prst="rect">
            <a:avLst/>
          </a:prstGeom>
          <a:noFill/>
        </p:spPr>
        <p:txBody>
          <a:bodyPr wrap="square" rtlCol="0">
            <a:spAutoFit/>
          </a:bodyPr>
          <a:lstStyle/>
          <a:p>
            <a:r>
              <a:rPr lang="de-CH" sz="1400" dirty="0">
                <a:latin typeface="Helvetica LT Pro Black" panose="020B0904030502020204" pitchFamily="34" charset="0"/>
              </a:rPr>
              <a:t>Türplanet</a:t>
            </a:r>
          </a:p>
        </p:txBody>
      </p:sp>
      <p:pic>
        <p:nvPicPr>
          <p:cNvPr id="4" name="Grafik 3">
            <a:extLst>
              <a:ext uri="{FF2B5EF4-FFF2-40B4-BE49-F238E27FC236}">
                <a16:creationId xmlns:a16="http://schemas.microsoft.com/office/drawing/2014/main" id="{13F4BCC1-A913-896A-3B22-030C8C91F428}"/>
              </a:ext>
            </a:extLst>
          </p:cNvPr>
          <p:cNvPicPr>
            <a:picLocks noChangeAspect="1"/>
          </p:cNvPicPr>
          <p:nvPr/>
        </p:nvPicPr>
        <p:blipFill>
          <a:blip r:embed="rId4"/>
          <a:stretch>
            <a:fillRect/>
          </a:stretch>
        </p:blipFill>
        <p:spPr>
          <a:xfrm>
            <a:off x="311424" y="2749973"/>
            <a:ext cx="2066940" cy="2638444"/>
          </a:xfrm>
          <a:prstGeom prst="rect">
            <a:avLst/>
          </a:prstGeom>
        </p:spPr>
      </p:pic>
      <p:sp>
        <p:nvSpPr>
          <p:cNvPr id="8" name="Textfeld 7">
            <a:extLst>
              <a:ext uri="{FF2B5EF4-FFF2-40B4-BE49-F238E27FC236}">
                <a16:creationId xmlns:a16="http://schemas.microsoft.com/office/drawing/2014/main" id="{EAA6B552-CBF3-306F-46A4-D7A5AA75E2C3}"/>
              </a:ext>
            </a:extLst>
          </p:cNvPr>
          <p:cNvSpPr txBox="1"/>
          <p:nvPr/>
        </p:nvSpPr>
        <p:spPr>
          <a:xfrm>
            <a:off x="3328836" y="1355169"/>
            <a:ext cx="1895876" cy="307777"/>
          </a:xfrm>
          <a:prstGeom prst="rect">
            <a:avLst/>
          </a:prstGeom>
          <a:noFill/>
        </p:spPr>
        <p:txBody>
          <a:bodyPr wrap="square" rtlCol="0">
            <a:spAutoFit/>
          </a:bodyPr>
          <a:lstStyle/>
          <a:p>
            <a:r>
              <a:rPr lang="de-CH" sz="1400" dirty="0">
                <a:latin typeface="Helvetica LT Pro Black" panose="020B0904030502020204" pitchFamily="34" charset="0"/>
              </a:rPr>
              <a:t>Karbonatisierung</a:t>
            </a:r>
          </a:p>
        </p:txBody>
      </p:sp>
      <p:sp>
        <p:nvSpPr>
          <p:cNvPr id="10" name="Textfeld 9">
            <a:extLst>
              <a:ext uri="{FF2B5EF4-FFF2-40B4-BE49-F238E27FC236}">
                <a16:creationId xmlns:a16="http://schemas.microsoft.com/office/drawing/2014/main" id="{0E139567-538E-F7A5-65D6-A287371FE4BB}"/>
              </a:ext>
            </a:extLst>
          </p:cNvPr>
          <p:cNvSpPr txBox="1"/>
          <p:nvPr/>
        </p:nvSpPr>
        <p:spPr>
          <a:xfrm>
            <a:off x="3328836" y="1799140"/>
            <a:ext cx="2260752" cy="769441"/>
          </a:xfrm>
          <a:prstGeom prst="rect">
            <a:avLst/>
          </a:prstGeom>
          <a:noFill/>
        </p:spPr>
        <p:txBody>
          <a:bodyPr wrap="square">
            <a:spAutoFit/>
          </a:bodyPr>
          <a:lstStyle/>
          <a:p>
            <a:r>
              <a:rPr lang="de-CH" sz="1100" b="0" i="0" dirty="0">
                <a:solidFill>
                  <a:srgbClr val="202124"/>
                </a:solidFill>
                <a:effectLst/>
                <a:latin typeface="Google Sans"/>
              </a:rPr>
              <a:t> </a:t>
            </a:r>
            <a:r>
              <a:rPr lang="de-CH" sz="1100" b="0" i="0" dirty="0">
                <a:solidFill>
                  <a:srgbClr val="040C28"/>
                </a:solidFill>
                <a:effectLst/>
                <a:latin typeface="Google Sans"/>
              </a:rPr>
              <a:t>chemische Reaktion im Beton, die zur Abnahme der Alkalität des Betons im äußeren Bereich von Betonbauteilen führt</a:t>
            </a:r>
            <a:r>
              <a:rPr lang="de-CH" sz="1100" b="0" i="0" dirty="0">
                <a:solidFill>
                  <a:srgbClr val="202124"/>
                </a:solidFill>
                <a:effectLst/>
                <a:latin typeface="Google Sans"/>
              </a:rPr>
              <a:t>.</a:t>
            </a:r>
            <a:endParaRPr lang="de-CH" sz="1100" dirty="0"/>
          </a:p>
        </p:txBody>
      </p:sp>
      <p:pic>
        <p:nvPicPr>
          <p:cNvPr id="12" name="Grafik 11">
            <a:extLst>
              <a:ext uri="{FF2B5EF4-FFF2-40B4-BE49-F238E27FC236}">
                <a16:creationId xmlns:a16="http://schemas.microsoft.com/office/drawing/2014/main" id="{AA52D1E2-333D-025F-E1DB-2EAD5D48CE11}"/>
              </a:ext>
            </a:extLst>
          </p:cNvPr>
          <p:cNvPicPr>
            <a:picLocks noChangeAspect="1"/>
          </p:cNvPicPr>
          <p:nvPr/>
        </p:nvPicPr>
        <p:blipFill>
          <a:blip r:embed="rId5"/>
          <a:stretch>
            <a:fillRect/>
          </a:stretch>
        </p:blipFill>
        <p:spPr>
          <a:xfrm>
            <a:off x="3328836" y="2749973"/>
            <a:ext cx="1906156" cy="2825645"/>
          </a:xfrm>
          <a:prstGeom prst="rect">
            <a:avLst/>
          </a:prstGeom>
        </p:spPr>
      </p:pic>
      <p:sp>
        <p:nvSpPr>
          <p:cNvPr id="14" name="Textfeld 13">
            <a:extLst>
              <a:ext uri="{FF2B5EF4-FFF2-40B4-BE49-F238E27FC236}">
                <a16:creationId xmlns:a16="http://schemas.microsoft.com/office/drawing/2014/main" id="{F63291FF-3A99-424D-5599-0DD8BBCBE972}"/>
              </a:ext>
            </a:extLst>
          </p:cNvPr>
          <p:cNvSpPr txBox="1"/>
          <p:nvPr/>
        </p:nvSpPr>
        <p:spPr>
          <a:xfrm>
            <a:off x="396956" y="1866627"/>
            <a:ext cx="2538413" cy="600164"/>
          </a:xfrm>
          <a:prstGeom prst="rect">
            <a:avLst/>
          </a:prstGeom>
          <a:noFill/>
        </p:spPr>
        <p:txBody>
          <a:bodyPr wrap="square">
            <a:spAutoFit/>
          </a:bodyPr>
          <a:lstStyle/>
          <a:p>
            <a:r>
              <a:rPr lang="de-CH" sz="1100" dirty="0">
                <a:solidFill>
                  <a:srgbClr val="202124"/>
                </a:solidFill>
                <a:latin typeface="Google Sans"/>
              </a:rPr>
              <a:t>schliessen den Spalt zwischen Tür und Boden. Sie schützen vor Schall, Rauch, Feuer und mehr.</a:t>
            </a:r>
          </a:p>
        </p:txBody>
      </p:sp>
      <p:sp>
        <p:nvSpPr>
          <p:cNvPr id="15" name="Textfeld 14">
            <a:extLst>
              <a:ext uri="{FF2B5EF4-FFF2-40B4-BE49-F238E27FC236}">
                <a16:creationId xmlns:a16="http://schemas.microsoft.com/office/drawing/2014/main" id="{EF299D2C-6FD8-A354-5FE1-04F01021E44C}"/>
              </a:ext>
            </a:extLst>
          </p:cNvPr>
          <p:cNvSpPr txBox="1"/>
          <p:nvPr/>
        </p:nvSpPr>
        <p:spPr>
          <a:xfrm>
            <a:off x="6340044" y="1333047"/>
            <a:ext cx="1895876" cy="307777"/>
          </a:xfrm>
          <a:prstGeom prst="rect">
            <a:avLst/>
          </a:prstGeom>
          <a:noFill/>
        </p:spPr>
        <p:txBody>
          <a:bodyPr wrap="square" rtlCol="0">
            <a:spAutoFit/>
          </a:bodyPr>
          <a:lstStyle/>
          <a:p>
            <a:r>
              <a:rPr lang="de-CH" sz="1400" dirty="0">
                <a:latin typeface="Helvetica LT Pro Black" panose="020B0904030502020204" pitchFamily="34" charset="0"/>
              </a:rPr>
              <a:t>Erdung</a:t>
            </a:r>
          </a:p>
        </p:txBody>
      </p:sp>
      <p:pic>
        <p:nvPicPr>
          <p:cNvPr id="17" name="Grafik 16">
            <a:extLst>
              <a:ext uri="{FF2B5EF4-FFF2-40B4-BE49-F238E27FC236}">
                <a16:creationId xmlns:a16="http://schemas.microsoft.com/office/drawing/2014/main" id="{02AE0FCE-AF8F-C26A-A1EF-E516DBF1DB3F}"/>
              </a:ext>
            </a:extLst>
          </p:cNvPr>
          <p:cNvPicPr>
            <a:picLocks noChangeAspect="1"/>
          </p:cNvPicPr>
          <p:nvPr/>
        </p:nvPicPr>
        <p:blipFill>
          <a:blip r:embed="rId6"/>
          <a:stretch>
            <a:fillRect/>
          </a:stretch>
        </p:blipFill>
        <p:spPr>
          <a:xfrm>
            <a:off x="6340044" y="2679884"/>
            <a:ext cx="2171716" cy="2895621"/>
          </a:xfrm>
          <a:prstGeom prst="rect">
            <a:avLst/>
          </a:prstGeom>
        </p:spPr>
      </p:pic>
      <p:sp>
        <p:nvSpPr>
          <p:cNvPr id="18" name="Textfeld 17">
            <a:extLst>
              <a:ext uri="{FF2B5EF4-FFF2-40B4-BE49-F238E27FC236}">
                <a16:creationId xmlns:a16="http://schemas.microsoft.com/office/drawing/2014/main" id="{287B651E-D013-89DA-55F4-A0F0A38AAC5C}"/>
              </a:ext>
            </a:extLst>
          </p:cNvPr>
          <p:cNvSpPr txBox="1"/>
          <p:nvPr/>
        </p:nvSpPr>
        <p:spPr>
          <a:xfrm>
            <a:off x="6340044" y="1860272"/>
            <a:ext cx="2260752" cy="600164"/>
          </a:xfrm>
          <a:prstGeom prst="rect">
            <a:avLst/>
          </a:prstGeom>
          <a:noFill/>
        </p:spPr>
        <p:txBody>
          <a:bodyPr wrap="square">
            <a:spAutoFit/>
          </a:bodyPr>
          <a:lstStyle/>
          <a:p>
            <a:r>
              <a:rPr lang="de-CH" sz="1100" b="0" i="0" dirty="0">
                <a:solidFill>
                  <a:srgbClr val="202124"/>
                </a:solidFill>
                <a:effectLst/>
                <a:latin typeface="Google Sans"/>
              </a:rPr>
              <a:t> </a:t>
            </a:r>
            <a:r>
              <a:rPr lang="de-CH" sz="1100" b="0" i="0" dirty="0">
                <a:solidFill>
                  <a:srgbClr val="040C28"/>
                </a:solidFill>
                <a:effectLst/>
                <a:latin typeface="Google Sans"/>
              </a:rPr>
              <a:t>Ableiten von Spannung an die Erde. Schutz vor elektrischem Schlag oder Überspannung</a:t>
            </a:r>
            <a:endParaRPr lang="de-CH" sz="1100" dirty="0"/>
          </a:p>
        </p:txBody>
      </p:sp>
      <p:sp>
        <p:nvSpPr>
          <p:cNvPr id="19" name="Textfeld 18">
            <a:extLst>
              <a:ext uri="{FF2B5EF4-FFF2-40B4-BE49-F238E27FC236}">
                <a16:creationId xmlns:a16="http://schemas.microsoft.com/office/drawing/2014/main" id="{B9FB0611-77E2-37E2-796E-B19D3DFD48CA}"/>
              </a:ext>
            </a:extLst>
          </p:cNvPr>
          <p:cNvSpPr txBox="1"/>
          <p:nvPr/>
        </p:nvSpPr>
        <p:spPr>
          <a:xfrm>
            <a:off x="9548351" y="1355169"/>
            <a:ext cx="1895876" cy="307777"/>
          </a:xfrm>
          <a:prstGeom prst="rect">
            <a:avLst/>
          </a:prstGeom>
          <a:noFill/>
        </p:spPr>
        <p:txBody>
          <a:bodyPr wrap="square" rtlCol="0">
            <a:spAutoFit/>
          </a:bodyPr>
          <a:lstStyle/>
          <a:p>
            <a:r>
              <a:rPr lang="de-CH" sz="1400" dirty="0">
                <a:latin typeface="Helvetica LT Pro Black" panose="020B0904030502020204" pitchFamily="34" charset="0"/>
              </a:rPr>
              <a:t>Estrich</a:t>
            </a:r>
          </a:p>
        </p:txBody>
      </p:sp>
      <p:pic>
        <p:nvPicPr>
          <p:cNvPr id="20" name="Picture 2" descr="Fußbodenheizung Aufbau: Schichten, Aufbauhöhe und Systeme">
            <a:extLst>
              <a:ext uri="{FF2B5EF4-FFF2-40B4-BE49-F238E27FC236}">
                <a16:creationId xmlns:a16="http://schemas.microsoft.com/office/drawing/2014/main" id="{40272EFC-1E1C-27F2-839A-5336805D91F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0941" t="11933" r="4382"/>
          <a:stretch/>
        </p:blipFill>
        <p:spPr bwMode="auto">
          <a:xfrm>
            <a:off x="8928100" y="3223369"/>
            <a:ext cx="3136378" cy="2444471"/>
          </a:xfrm>
          <a:prstGeom prst="rect">
            <a:avLst/>
          </a:prstGeom>
          <a:noFill/>
          <a:extLst>
            <a:ext uri="{909E8E84-426E-40DD-AFC4-6F175D3DCCD1}">
              <a14:hiddenFill xmlns:a14="http://schemas.microsoft.com/office/drawing/2010/main">
                <a:solidFill>
                  <a:srgbClr val="FFFFFF"/>
                </a:solidFill>
              </a14:hiddenFill>
            </a:ext>
          </a:extLst>
        </p:spPr>
      </p:pic>
      <p:sp>
        <p:nvSpPr>
          <p:cNvPr id="22" name="Textfeld 21">
            <a:extLst>
              <a:ext uri="{FF2B5EF4-FFF2-40B4-BE49-F238E27FC236}">
                <a16:creationId xmlns:a16="http://schemas.microsoft.com/office/drawing/2014/main" id="{C6818AFB-549A-80D4-37D5-F4A6E8D90D8B}"/>
              </a:ext>
            </a:extLst>
          </p:cNvPr>
          <p:cNvSpPr txBox="1"/>
          <p:nvPr/>
        </p:nvSpPr>
        <p:spPr>
          <a:xfrm>
            <a:off x="9461319" y="1798867"/>
            <a:ext cx="2730681" cy="938719"/>
          </a:xfrm>
          <a:prstGeom prst="rect">
            <a:avLst/>
          </a:prstGeom>
          <a:noFill/>
        </p:spPr>
        <p:txBody>
          <a:bodyPr wrap="square">
            <a:spAutoFit/>
          </a:bodyPr>
          <a:lstStyle/>
          <a:p>
            <a:r>
              <a:rPr lang="de-CH" sz="1100" dirty="0">
                <a:solidFill>
                  <a:srgbClr val="040C28"/>
                </a:solidFill>
                <a:latin typeface="Google Sans"/>
              </a:rPr>
              <a:t>Aufbau des Fußbodens als ebenen Untergrund für Fußbodenbeläge. Estriche werden je nach entsprechender Art und Ausführung auch fertig nutzbarer Boden genannt</a:t>
            </a:r>
          </a:p>
        </p:txBody>
      </p:sp>
    </p:spTree>
    <p:extLst>
      <p:ext uri="{BB962C8B-B14F-4D97-AF65-F5344CB8AC3E}">
        <p14:creationId xmlns:p14="http://schemas.microsoft.com/office/powerpoint/2010/main" val="4254172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Baubegriffe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8B15F3D9-CF62-C98D-BBEA-E6E4279D0CD4}"/>
              </a:ext>
            </a:extLst>
          </p:cNvPr>
          <p:cNvSpPr txBox="1"/>
          <p:nvPr/>
        </p:nvSpPr>
        <p:spPr>
          <a:xfrm>
            <a:off x="533288" y="1064613"/>
            <a:ext cx="1895876" cy="307777"/>
          </a:xfrm>
          <a:prstGeom prst="rect">
            <a:avLst/>
          </a:prstGeom>
          <a:noFill/>
        </p:spPr>
        <p:txBody>
          <a:bodyPr wrap="square" rtlCol="0">
            <a:spAutoFit/>
          </a:bodyPr>
          <a:lstStyle/>
          <a:p>
            <a:r>
              <a:rPr lang="de-CH" sz="1400" dirty="0">
                <a:latin typeface="Helvetica LT Pro Black" panose="020B0904030502020204" pitchFamily="34" charset="0"/>
              </a:rPr>
              <a:t>EKG</a:t>
            </a:r>
          </a:p>
        </p:txBody>
      </p:sp>
      <p:sp>
        <p:nvSpPr>
          <p:cNvPr id="4" name="Textfeld 3">
            <a:extLst>
              <a:ext uri="{FF2B5EF4-FFF2-40B4-BE49-F238E27FC236}">
                <a16:creationId xmlns:a16="http://schemas.microsoft.com/office/drawing/2014/main" id="{57A8AC2C-E58E-78B0-3EEB-58E550D20921}"/>
              </a:ext>
            </a:extLst>
          </p:cNvPr>
          <p:cNvSpPr txBox="1"/>
          <p:nvPr/>
        </p:nvSpPr>
        <p:spPr>
          <a:xfrm>
            <a:off x="514816" y="1549127"/>
            <a:ext cx="2538413" cy="769441"/>
          </a:xfrm>
          <a:prstGeom prst="rect">
            <a:avLst/>
          </a:prstGeom>
          <a:noFill/>
        </p:spPr>
        <p:txBody>
          <a:bodyPr wrap="square">
            <a:spAutoFit/>
          </a:bodyPr>
          <a:lstStyle/>
          <a:p>
            <a:r>
              <a:rPr lang="de-CH" sz="1100" dirty="0">
                <a:solidFill>
                  <a:srgbClr val="202124"/>
                </a:solidFill>
                <a:latin typeface="Google Sans"/>
              </a:rPr>
              <a:t>Bei Elementkostengliederung werden die Kosten nach Bauteilen gegliedert und nicht wie beim BKP nach Arbeitsgattungen</a:t>
            </a:r>
          </a:p>
        </p:txBody>
      </p:sp>
      <p:sp>
        <p:nvSpPr>
          <p:cNvPr id="8" name="Textfeld 7">
            <a:extLst>
              <a:ext uri="{FF2B5EF4-FFF2-40B4-BE49-F238E27FC236}">
                <a16:creationId xmlns:a16="http://schemas.microsoft.com/office/drawing/2014/main" id="{D11C0DB9-7616-3272-24FB-CCF4B0BE6B53}"/>
              </a:ext>
            </a:extLst>
          </p:cNvPr>
          <p:cNvSpPr txBox="1"/>
          <p:nvPr/>
        </p:nvSpPr>
        <p:spPr>
          <a:xfrm>
            <a:off x="3973172" y="1064612"/>
            <a:ext cx="2340541" cy="307777"/>
          </a:xfrm>
          <a:prstGeom prst="rect">
            <a:avLst/>
          </a:prstGeom>
          <a:noFill/>
        </p:spPr>
        <p:txBody>
          <a:bodyPr wrap="square" rtlCol="0">
            <a:spAutoFit/>
          </a:bodyPr>
          <a:lstStyle/>
          <a:p>
            <a:r>
              <a:rPr lang="de-CH" sz="1400" dirty="0">
                <a:latin typeface="Helvetica LT Pro Black" panose="020B0904030502020204" pitchFamily="34" charset="0"/>
              </a:rPr>
              <a:t>Besitzstandgarantie</a:t>
            </a:r>
          </a:p>
        </p:txBody>
      </p:sp>
      <p:sp>
        <p:nvSpPr>
          <p:cNvPr id="10" name="Textfeld 9">
            <a:extLst>
              <a:ext uri="{FF2B5EF4-FFF2-40B4-BE49-F238E27FC236}">
                <a16:creationId xmlns:a16="http://schemas.microsoft.com/office/drawing/2014/main" id="{595703A9-DE6F-71DA-5986-62C3A290C2D5}"/>
              </a:ext>
            </a:extLst>
          </p:cNvPr>
          <p:cNvSpPr txBox="1"/>
          <p:nvPr/>
        </p:nvSpPr>
        <p:spPr>
          <a:xfrm>
            <a:off x="3973172" y="1507991"/>
            <a:ext cx="2668928" cy="1446550"/>
          </a:xfrm>
          <a:prstGeom prst="rect">
            <a:avLst/>
          </a:prstGeom>
          <a:noFill/>
        </p:spPr>
        <p:txBody>
          <a:bodyPr wrap="square">
            <a:spAutoFit/>
          </a:bodyPr>
          <a:lstStyle/>
          <a:p>
            <a:r>
              <a:rPr lang="de-CH" sz="1100" dirty="0">
                <a:solidFill>
                  <a:srgbClr val="202124"/>
                </a:solidFill>
                <a:latin typeface="Google Sans"/>
              </a:rPr>
              <a:t>Die Besitzstandsgarantie erlaubt es dem Eigentümer einer Baute, die durch eine Rechtsänderung den neuen Vorschriften widerspricht, diese zu unterhalten, zu erneuern, angemessen zu erweitern oder auch in ihrem Zweck zu ändern. Die betreffende Baute muss jedoch "rechtmässig erstellt" worden sein.</a:t>
            </a:r>
          </a:p>
        </p:txBody>
      </p:sp>
      <p:sp>
        <p:nvSpPr>
          <p:cNvPr id="11" name="Textfeld 10">
            <a:extLst>
              <a:ext uri="{FF2B5EF4-FFF2-40B4-BE49-F238E27FC236}">
                <a16:creationId xmlns:a16="http://schemas.microsoft.com/office/drawing/2014/main" id="{B2EE0BCE-C6CF-19D4-728E-F6C79E9A2BA2}"/>
              </a:ext>
            </a:extLst>
          </p:cNvPr>
          <p:cNvSpPr txBox="1"/>
          <p:nvPr/>
        </p:nvSpPr>
        <p:spPr>
          <a:xfrm>
            <a:off x="7387771" y="999746"/>
            <a:ext cx="2340541" cy="307777"/>
          </a:xfrm>
          <a:prstGeom prst="rect">
            <a:avLst/>
          </a:prstGeom>
          <a:noFill/>
        </p:spPr>
        <p:txBody>
          <a:bodyPr wrap="square" rtlCol="0">
            <a:spAutoFit/>
          </a:bodyPr>
          <a:lstStyle/>
          <a:p>
            <a:r>
              <a:rPr lang="de-CH" sz="1400" dirty="0">
                <a:latin typeface="Helvetica LT Pro Black" panose="020B0904030502020204" pitchFamily="34" charset="0"/>
              </a:rPr>
              <a:t>Baulinien</a:t>
            </a:r>
          </a:p>
        </p:txBody>
      </p:sp>
      <p:sp>
        <p:nvSpPr>
          <p:cNvPr id="13" name="Textfeld 12">
            <a:extLst>
              <a:ext uri="{FF2B5EF4-FFF2-40B4-BE49-F238E27FC236}">
                <a16:creationId xmlns:a16="http://schemas.microsoft.com/office/drawing/2014/main" id="{B776240D-D71F-29D3-621F-C2EC3277BC71}"/>
              </a:ext>
            </a:extLst>
          </p:cNvPr>
          <p:cNvSpPr txBox="1"/>
          <p:nvPr/>
        </p:nvSpPr>
        <p:spPr>
          <a:xfrm>
            <a:off x="7387771" y="1448144"/>
            <a:ext cx="4289413" cy="1785104"/>
          </a:xfrm>
          <a:prstGeom prst="rect">
            <a:avLst/>
          </a:prstGeom>
          <a:noFill/>
        </p:spPr>
        <p:txBody>
          <a:bodyPr wrap="square">
            <a:spAutoFit/>
          </a:bodyPr>
          <a:lstStyle/>
          <a:p>
            <a:r>
              <a:rPr lang="de-CH" sz="1100" dirty="0">
                <a:solidFill>
                  <a:srgbClr val="202124"/>
                </a:solidFill>
                <a:latin typeface="Google Sans"/>
              </a:rPr>
              <a:t>Baulinien begrenzen die Bebauung und dienen insbesondere der Sicherung bestehender und geplanter Anlagen, der baulichen Gestaltung und zur Freihaltung des Gewässerraums. Die Strassen- und Baulinienpläne dienen dazu, den Strassenraum zu gestalten oder Gelände für geplante Strassen freizuhalten.</a:t>
            </a:r>
          </a:p>
          <a:p>
            <a:endParaRPr lang="de-CH" sz="1100" dirty="0">
              <a:solidFill>
                <a:srgbClr val="202124"/>
              </a:solidFill>
              <a:latin typeface="Google Sans"/>
            </a:endParaRPr>
          </a:p>
          <a:p>
            <a:endParaRPr lang="de-CH" sz="1100" dirty="0">
              <a:solidFill>
                <a:srgbClr val="202124"/>
              </a:solidFill>
              <a:latin typeface="Google Sans"/>
            </a:endParaRPr>
          </a:p>
          <a:p>
            <a:r>
              <a:rPr lang="de-CH" sz="1100" dirty="0">
                <a:solidFill>
                  <a:srgbClr val="202124"/>
                </a:solidFill>
                <a:latin typeface="Google Sans"/>
              </a:rPr>
              <a:t>- Verkehrsbaulinien</a:t>
            </a:r>
          </a:p>
          <a:p>
            <a:r>
              <a:rPr lang="de-CH" sz="1100" dirty="0">
                <a:solidFill>
                  <a:srgbClr val="202124"/>
                </a:solidFill>
                <a:latin typeface="Google Sans"/>
              </a:rPr>
              <a:t>- Gewässerbaulinien</a:t>
            </a:r>
          </a:p>
          <a:p>
            <a:r>
              <a:rPr lang="de-CH" sz="1100" dirty="0">
                <a:solidFill>
                  <a:srgbClr val="202124"/>
                </a:solidFill>
                <a:latin typeface="Google Sans"/>
              </a:rPr>
              <a:t>- Ski- und </a:t>
            </a:r>
            <a:r>
              <a:rPr lang="de-CH" sz="1100" dirty="0" err="1">
                <a:solidFill>
                  <a:srgbClr val="202124"/>
                </a:solidFill>
                <a:latin typeface="Google Sans"/>
              </a:rPr>
              <a:t>Schlittellinien</a:t>
            </a:r>
            <a:endParaRPr lang="de-CH" sz="1100" dirty="0">
              <a:solidFill>
                <a:srgbClr val="202124"/>
              </a:solidFill>
              <a:latin typeface="Google Sans"/>
            </a:endParaRPr>
          </a:p>
        </p:txBody>
      </p:sp>
      <p:sp>
        <p:nvSpPr>
          <p:cNvPr id="14" name="Textfeld 13">
            <a:extLst>
              <a:ext uri="{FF2B5EF4-FFF2-40B4-BE49-F238E27FC236}">
                <a16:creationId xmlns:a16="http://schemas.microsoft.com/office/drawing/2014/main" id="{79FB8B1A-407B-7F55-69CD-9D56639D3E3A}"/>
              </a:ext>
            </a:extLst>
          </p:cNvPr>
          <p:cNvSpPr txBox="1"/>
          <p:nvPr/>
        </p:nvSpPr>
        <p:spPr>
          <a:xfrm>
            <a:off x="567811" y="3587230"/>
            <a:ext cx="2173627" cy="307777"/>
          </a:xfrm>
          <a:prstGeom prst="rect">
            <a:avLst/>
          </a:prstGeom>
          <a:noFill/>
        </p:spPr>
        <p:txBody>
          <a:bodyPr wrap="square" rtlCol="0">
            <a:spAutoFit/>
          </a:bodyPr>
          <a:lstStyle/>
          <a:p>
            <a:r>
              <a:rPr lang="de-CH" sz="1400" dirty="0">
                <a:latin typeface="Helvetica LT Pro Black" panose="020B0904030502020204" pitchFamily="34" charset="0"/>
              </a:rPr>
              <a:t>F1 Schutzschalter</a:t>
            </a:r>
          </a:p>
        </p:txBody>
      </p:sp>
      <p:sp>
        <p:nvSpPr>
          <p:cNvPr id="15" name="Textfeld 14">
            <a:extLst>
              <a:ext uri="{FF2B5EF4-FFF2-40B4-BE49-F238E27FC236}">
                <a16:creationId xmlns:a16="http://schemas.microsoft.com/office/drawing/2014/main" id="{AC6C11BC-76CC-E62F-C1D0-9D112702B812}"/>
              </a:ext>
            </a:extLst>
          </p:cNvPr>
          <p:cNvSpPr txBox="1"/>
          <p:nvPr/>
        </p:nvSpPr>
        <p:spPr>
          <a:xfrm>
            <a:off x="567811" y="4003611"/>
            <a:ext cx="2173628" cy="1446550"/>
          </a:xfrm>
          <a:prstGeom prst="rect">
            <a:avLst/>
          </a:prstGeom>
          <a:noFill/>
        </p:spPr>
        <p:txBody>
          <a:bodyPr wrap="square">
            <a:spAutoFit/>
          </a:bodyPr>
          <a:lstStyle/>
          <a:p>
            <a:r>
              <a:rPr lang="de-CH" sz="1100" dirty="0">
                <a:solidFill>
                  <a:srgbClr val="202124"/>
                </a:solidFill>
                <a:latin typeface="Google Sans"/>
              </a:rPr>
              <a:t>Der Schalter erkennt Fehlstrom – beispielsweise wenn Strom durch einen Menschen in Boden geleitet wird – innerhalb einiger Mikrosekunden und schaltet sofort den Stromkreis ab. </a:t>
            </a:r>
          </a:p>
          <a:p>
            <a:endParaRPr lang="de-CH" sz="1100" dirty="0">
              <a:solidFill>
                <a:srgbClr val="202124"/>
              </a:solidFill>
              <a:latin typeface="Google Sans"/>
            </a:endParaRPr>
          </a:p>
          <a:p>
            <a:r>
              <a:rPr lang="de-CH" sz="1100" dirty="0">
                <a:solidFill>
                  <a:srgbClr val="202124"/>
                </a:solidFill>
                <a:latin typeface="Google Sans"/>
                <a:sym typeface="Wingdings" panose="05000000000000000000" pitchFamily="2" charset="2"/>
              </a:rPr>
              <a:t> Verhindert Stromunfälle</a:t>
            </a:r>
            <a:endParaRPr lang="de-CH" sz="1100" dirty="0">
              <a:solidFill>
                <a:srgbClr val="202124"/>
              </a:solidFill>
              <a:latin typeface="Google Sans"/>
            </a:endParaRPr>
          </a:p>
        </p:txBody>
      </p:sp>
      <p:sp>
        <p:nvSpPr>
          <p:cNvPr id="16" name="Textfeld 15">
            <a:extLst>
              <a:ext uri="{FF2B5EF4-FFF2-40B4-BE49-F238E27FC236}">
                <a16:creationId xmlns:a16="http://schemas.microsoft.com/office/drawing/2014/main" id="{7C6BB073-08BC-42E5-7282-10CF2A83164B}"/>
              </a:ext>
            </a:extLst>
          </p:cNvPr>
          <p:cNvSpPr txBox="1"/>
          <p:nvPr/>
        </p:nvSpPr>
        <p:spPr>
          <a:xfrm>
            <a:off x="3973172" y="3456553"/>
            <a:ext cx="2340541" cy="307777"/>
          </a:xfrm>
          <a:prstGeom prst="rect">
            <a:avLst/>
          </a:prstGeom>
          <a:noFill/>
        </p:spPr>
        <p:txBody>
          <a:bodyPr wrap="square" rtlCol="0">
            <a:spAutoFit/>
          </a:bodyPr>
          <a:lstStyle/>
          <a:p>
            <a:r>
              <a:rPr lang="de-CH" sz="1400" dirty="0">
                <a:latin typeface="Helvetica LT Pro Black" panose="020B0904030502020204" pitchFamily="34" charset="0"/>
              </a:rPr>
              <a:t>Graue Energie</a:t>
            </a:r>
          </a:p>
        </p:txBody>
      </p:sp>
      <p:sp>
        <p:nvSpPr>
          <p:cNvPr id="17" name="Textfeld 16">
            <a:extLst>
              <a:ext uri="{FF2B5EF4-FFF2-40B4-BE49-F238E27FC236}">
                <a16:creationId xmlns:a16="http://schemas.microsoft.com/office/drawing/2014/main" id="{2B670602-A033-731E-11DA-31A2BFBE7CFC}"/>
              </a:ext>
            </a:extLst>
          </p:cNvPr>
          <p:cNvSpPr txBox="1"/>
          <p:nvPr/>
        </p:nvSpPr>
        <p:spPr>
          <a:xfrm>
            <a:off x="3815497" y="3950086"/>
            <a:ext cx="2979003" cy="1446550"/>
          </a:xfrm>
          <a:prstGeom prst="rect">
            <a:avLst/>
          </a:prstGeom>
          <a:noFill/>
        </p:spPr>
        <p:txBody>
          <a:bodyPr wrap="square">
            <a:spAutoFit/>
          </a:bodyPr>
          <a:lstStyle/>
          <a:p>
            <a:r>
              <a:rPr lang="de-CH" sz="1100" b="0" i="0" dirty="0">
                <a:solidFill>
                  <a:srgbClr val="4D5156"/>
                </a:solidFill>
                <a:effectLst/>
                <a:latin typeface="arial" panose="020B0604020202020204" pitchFamily="34" charset="0"/>
              </a:rPr>
              <a:t>Die graue Energie eines Produktes ist die gesamte benötigte Energie, die für dessen Herstellung, Transport, Lagerung, Verkauf und Entsorgung aufgewendet wurde. Berücksichtigt werden dabei sowohl alle Vorprodukte bis zur Rohstoffgewinnung, als auch der gesamte Energieeinsatz aller angewandten Produktionsprozesse</a:t>
            </a:r>
            <a:endParaRPr lang="de-CH" sz="1100" dirty="0">
              <a:solidFill>
                <a:srgbClr val="202124"/>
              </a:solidFill>
              <a:latin typeface="Google Sans"/>
            </a:endParaRPr>
          </a:p>
        </p:txBody>
      </p:sp>
      <p:sp>
        <p:nvSpPr>
          <p:cNvPr id="18" name="Textfeld 17">
            <a:extLst>
              <a:ext uri="{FF2B5EF4-FFF2-40B4-BE49-F238E27FC236}">
                <a16:creationId xmlns:a16="http://schemas.microsoft.com/office/drawing/2014/main" id="{CEE6BCE4-FB27-30F6-3E0F-CFDE34023A38}"/>
              </a:ext>
            </a:extLst>
          </p:cNvPr>
          <p:cNvSpPr txBox="1"/>
          <p:nvPr/>
        </p:nvSpPr>
        <p:spPr>
          <a:xfrm>
            <a:off x="7387771" y="3449683"/>
            <a:ext cx="2340541" cy="307777"/>
          </a:xfrm>
          <a:prstGeom prst="rect">
            <a:avLst/>
          </a:prstGeom>
          <a:noFill/>
        </p:spPr>
        <p:txBody>
          <a:bodyPr wrap="square" rtlCol="0">
            <a:spAutoFit/>
          </a:bodyPr>
          <a:lstStyle/>
          <a:p>
            <a:r>
              <a:rPr lang="de-CH" sz="1400" dirty="0">
                <a:latin typeface="Helvetica LT Pro Black" panose="020B0904030502020204" pitchFamily="34" charset="0"/>
              </a:rPr>
              <a:t>Renovationsfenster</a:t>
            </a:r>
          </a:p>
        </p:txBody>
      </p:sp>
      <p:sp>
        <p:nvSpPr>
          <p:cNvPr id="20" name="Textfeld 19">
            <a:extLst>
              <a:ext uri="{FF2B5EF4-FFF2-40B4-BE49-F238E27FC236}">
                <a16:creationId xmlns:a16="http://schemas.microsoft.com/office/drawing/2014/main" id="{3AC376F1-9D17-C20F-E630-F53643091473}"/>
              </a:ext>
            </a:extLst>
          </p:cNvPr>
          <p:cNvSpPr txBox="1"/>
          <p:nvPr/>
        </p:nvSpPr>
        <p:spPr>
          <a:xfrm>
            <a:off x="7369574" y="3855115"/>
            <a:ext cx="3441700" cy="1277273"/>
          </a:xfrm>
          <a:prstGeom prst="rect">
            <a:avLst/>
          </a:prstGeom>
          <a:noFill/>
        </p:spPr>
        <p:txBody>
          <a:bodyPr wrap="square">
            <a:spAutoFit/>
          </a:bodyPr>
          <a:lstStyle/>
          <a:p>
            <a:r>
              <a:rPr lang="de-CH" sz="1100" dirty="0">
                <a:solidFill>
                  <a:srgbClr val="202124"/>
                </a:solidFill>
                <a:latin typeface="Google Sans"/>
              </a:rPr>
              <a:t>Die clevere Alternative zum vollständigen Fensterersatz sind sogenannte Renovationsfenster oder Wechselrahmenfenster. In diesem Fall wird ein neuer Rahmen auf den bestehenden Fensterrahmen aufgesetzt. Dies hat den Vorteil, dass die baulichen Nebenarbeiten minimiert und die Umbauzeit verkürzt werden.</a:t>
            </a:r>
          </a:p>
        </p:txBody>
      </p:sp>
      <p:pic>
        <p:nvPicPr>
          <p:cNvPr id="21" name="Grafik 20">
            <a:extLst>
              <a:ext uri="{FF2B5EF4-FFF2-40B4-BE49-F238E27FC236}">
                <a16:creationId xmlns:a16="http://schemas.microsoft.com/office/drawing/2014/main" id="{57769378-0C08-F3B1-BAE1-A325AA990FBE}"/>
              </a:ext>
            </a:extLst>
          </p:cNvPr>
          <p:cNvPicPr>
            <a:picLocks noChangeAspect="1"/>
          </p:cNvPicPr>
          <p:nvPr/>
        </p:nvPicPr>
        <p:blipFill>
          <a:blip r:embed="rId4"/>
          <a:stretch>
            <a:fillRect/>
          </a:stretch>
        </p:blipFill>
        <p:spPr>
          <a:xfrm>
            <a:off x="10561483" y="4564918"/>
            <a:ext cx="1598929" cy="1380207"/>
          </a:xfrm>
          <a:prstGeom prst="rect">
            <a:avLst/>
          </a:prstGeom>
        </p:spPr>
      </p:pic>
    </p:spTree>
    <p:extLst>
      <p:ext uri="{BB962C8B-B14F-4D97-AF65-F5344CB8AC3E}">
        <p14:creationId xmlns:p14="http://schemas.microsoft.com/office/powerpoint/2010/main" val="22634989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Baubegriffe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8B15F3D9-CF62-C98D-BBEA-E6E4279D0CD4}"/>
              </a:ext>
            </a:extLst>
          </p:cNvPr>
          <p:cNvSpPr txBox="1"/>
          <p:nvPr/>
        </p:nvSpPr>
        <p:spPr>
          <a:xfrm>
            <a:off x="533288" y="1382113"/>
            <a:ext cx="1895876" cy="307777"/>
          </a:xfrm>
          <a:prstGeom prst="rect">
            <a:avLst/>
          </a:prstGeom>
          <a:noFill/>
        </p:spPr>
        <p:txBody>
          <a:bodyPr wrap="square" rtlCol="0">
            <a:spAutoFit/>
          </a:bodyPr>
          <a:lstStyle/>
          <a:p>
            <a:r>
              <a:rPr lang="de-CH" sz="1400" dirty="0">
                <a:latin typeface="Helvetica LT Pro Black" panose="020B0904030502020204" pitchFamily="34" charset="0"/>
              </a:rPr>
              <a:t>Unterdach</a:t>
            </a:r>
          </a:p>
        </p:txBody>
      </p:sp>
      <p:sp>
        <p:nvSpPr>
          <p:cNvPr id="4" name="Textfeld 3">
            <a:extLst>
              <a:ext uri="{FF2B5EF4-FFF2-40B4-BE49-F238E27FC236}">
                <a16:creationId xmlns:a16="http://schemas.microsoft.com/office/drawing/2014/main" id="{57A8AC2C-E58E-78B0-3EEB-58E550D20921}"/>
              </a:ext>
            </a:extLst>
          </p:cNvPr>
          <p:cNvSpPr txBox="1"/>
          <p:nvPr/>
        </p:nvSpPr>
        <p:spPr>
          <a:xfrm>
            <a:off x="514816" y="1866627"/>
            <a:ext cx="2538413" cy="600164"/>
          </a:xfrm>
          <a:prstGeom prst="rect">
            <a:avLst/>
          </a:prstGeom>
          <a:noFill/>
        </p:spPr>
        <p:txBody>
          <a:bodyPr wrap="square">
            <a:spAutoFit/>
          </a:bodyPr>
          <a:lstStyle/>
          <a:p>
            <a:r>
              <a:rPr lang="de-CH" sz="1100" dirty="0">
                <a:solidFill>
                  <a:srgbClr val="202124"/>
                </a:solidFill>
                <a:latin typeface="Google Sans"/>
              </a:rPr>
              <a:t>Zweite wasserableitende Schicht unter der eigentlichen Dachdeckung zum zusätzlichen Schutz</a:t>
            </a:r>
          </a:p>
        </p:txBody>
      </p:sp>
      <p:sp>
        <p:nvSpPr>
          <p:cNvPr id="8" name="Textfeld 7">
            <a:extLst>
              <a:ext uri="{FF2B5EF4-FFF2-40B4-BE49-F238E27FC236}">
                <a16:creationId xmlns:a16="http://schemas.microsoft.com/office/drawing/2014/main" id="{D11C0DB9-7616-3272-24FB-CCF4B0BE6B53}"/>
              </a:ext>
            </a:extLst>
          </p:cNvPr>
          <p:cNvSpPr txBox="1"/>
          <p:nvPr/>
        </p:nvSpPr>
        <p:spPr>
          <a:xfrm>
            <a:off x="4473292" y="1382110"/>
            <a:ext cx="2340541" cy="307777"/>
          </a:xfrm>
          <a:prstGeom prst="rect">
            <a:avLst/>
          </a:prstGeom>
          <a:noFill/>
        </p:spPr>
        <p:txBody>
          <a:bodyPr wrap="square" rtlCol="0">
            <a:spAutoFit/>
          </a:bodyPr>
          <a:lstStyle/>
          <a:p>
            <a:r>
              <a:rPr lang="de-CH" sz="1400" dirty="0">
                <a:latin typeface="Helvetica LT Pro Black" panose="020B0904030502020204" pitchFamily="34" charset="0"/>
              </a:rPr>
              <a:t>Kompaktfassade</a:t>
            </a:r>
          </a:p>
        </p:txBody>
      </p:sp>
      <p:sp>
        <p:nvSpPr>
          <p:cNvPr id="11" name="Textfeld 10">
            <a:extLst>
              <a:ext uri="{FF2B5EF4-FFF2-40B4-BE49-F238E27FC236}">
                <a16:creationId xmlns:a16="http://schemas.microsoft.com/office/drawing/2014/main" id="{B2EE0BCE-C6CF-19D4-728E-F6C79E9A2BA2}"/>
              </a:ext>
            </a:extLst>
          </p:cNvPr>
          <p:cNvSpPr txBox="1"/>
          <p:nvPr/>
        </p:nvSpPr>
        <p:spPr>
          <a:xfrm>
            <a:off x="7718709" y="1382111"/>
            <a:ext cx="4206069" cy="307777"/>
          </a:xfrm>
          <a:prstGeom prst="rect">
            <a:avLst/>
          </a:prstGeom>
          <a:noFill/>
        </p:spPr>
        <p:txBody>
          <a:bodyPr wrap="square" rtlCol="0">
            <a:spAutoFit/>
          </a:bodyPr>
          <a:lstStyle/>
          <a:p>
            <a:r>
              <a:rPr lang="de-CH" sz="1400" dirty="0">
                <a:latin typeface="Helvetica LT Pro Black" panose="020B0904030502020204" pitchFamily="34" charset="0"/>
              </a:rPr>
              <a:t>Vorgehängt und hinterlüftete Fassade</a:t>
            </a:r>
          </a:p>
        </p:txBody>
      </p:sp>
      <p:pic>
        <p:nvPicPr>
          <p:cNvPr id="3" name="Grafik 2">
            <a:extLst>
              <a:ext uri="{FF2B5EF4-FFF2-40B4-BE49-F238E27FC236}">
                <a16:creationId xmlns:a16="http://schemas.microsoft.com/office/drawing/2014/main" id="{F4542995-DBC2-DA97-6B84-60B8BE784612}"/>
              </a:ext>
            </a:extLst>
          </p:cNvPr>
          <p:cNvPicPr>
            <a:picLocks noChangeAspect="1"/>
          </p:cNvPicPr>
          <p:nvPr/>
        </p:nvPicPr>
        <p:blipFill rotWithShape="1">
          <a:blip r:embed="rId4"/>
          <a:srcRect l="16197" t="8927" r="9299"/>
          <a:stretch/>
        </p:blipFill>
        <p:spPr>
          <a:xfrm>
            <a:off x="7610815" y="2031360"/>
            <a:ext cx="4066369" cy="2849676"/>
          </a:xfrm>
          <a:prstGeom prst="rect">
            <a:avLst/>
          </a:prstGeom>
        </p:spPr>
      </p:pic>
      <p:pic>
        <p:nvPicPr>
          <p:cNvPr id="9" name="Grafik 8">
            <a:extLst>
              <a:ext uri="{FF2B5EF4-FFF2-40B4-BE49-F238E27FC236}">
                <a16:creationId xmlns:a16="http://schemas.microsoft.com/office/drawing/2014/main" id="{D2129AEC-1BBF-518C-0B4D-64860E02134E}"/>
              </a:ext>
            </a:extLst>
          </p:cNvPr>
          <p:cNvPicPr>
            <a:picLocks noChangeAspect="1"/>
          </p:cNvPicPr>
          <p:nvPr/>
        </p:nvPicPr>
        <p:blipFill rotWithShape="1">
          <a:blip r:embed="rId5"/>
          <a:srcRect l="18001" t="9065" r="4025"/>
          <a:stretch/>
        </p:blipFill>
        <p:spPr>
          <a:xfrm>
            <a:off x="3263912" y="2004161"/>
            <a:ext cx="4066369" cy="2849677"/>
          </a:xfrm>
          <a:prstGeom prst="rect">
            <a:avLst/>
          </a:prstGeom>
        </p:spPr>
      </p:pic>
    </p:spTree>
    <p:extLst>
      <p:ext uri="{BB962C8B-B14F-4D97-AF65-F5344CB8AC3E}">
        <p14:creationId xmlns:p14="http://schemas.microsoft.com/office/powerpoint/2010/main" val="14920494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Schimmelbildung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AE38A36B-DFE6-BA63-A770-32060F51ECDB}"/>
              </a:ext>
            </a:extLst>
          </p:cNvPr>
          <p:cNvSpPr txBox="1"/>
          <p:nvPr/>
        </p:nvSpPr>
        <p:spPr>
          <a:xfrm>
            <a:off x="533288" y="1382113"/>
            <a:ext cx="1895876" cy="307777"/>
          </a:xfrm>
          <a:prstGeom prst="rect">
            <a:avLst/>
          </a:prstGeom>
          <a:noFill/>
        </p:spPr>
        <p:txBody>
          <a:bodyPr wrap="square" rtlCol="0">
            <a:spAutoFit/>
          </a:bodyPr>
          <a:lstStyle/>
          <a:p>
            <a:r>
              <a:rPr lang="de-CH" sz="1400" dirty="0">
                <a:latin typeface="Helvetica LT Pro Black" panose="020B0904030502020204" pitchFamily="34" charset="0"/>
              </a:rPr>
              <a:t>Ursache</a:t>
            </a:r>
          </a:p>
        </p:txBody>
      </p:sp>
      <p:sp>
        <p:nvSpPr>
          <p:cNvPr id="3" name="Textfeld 2">
            <a:extLst>
              <a:ext uri="{FF2B5EF4-FFF2-40B4-BE49-F238E27FC236}">
                <a16:creationId xmlns:a16="http://schemas.microsoft.com/office/drawing/2014/main" id="{C3351DFB-47CB-4B21-A41A-AC0303A76D50}"/>
              </a:ext>
            </a:extLst>
          </p:cNvPr>
          <p:cNvSpPr txBox="1"/>
          <p:nvPr/>
        </p:nvSpPr>
        <p:spPr>
          <a:xfrm>
            <a:off x="5214145" y="1382113"/>
            <a:ext cx="1895876" cy="307777"/>
          </a:xfrm>
          <a:prstGeom prst="rect">
            <a:avLst/>
          </a:prstGeom>
          <a:noFill/>
        </p:spPr>
        <p:txBody>
          <a:bodyPr wrap="square" rtlCol="0">
            <a:spAutoFit/>
          </a:bodyPr>
          <a:lstStyle/>
          <a:p>
            <a:r>
              <a:rPr lang="de-CH" sz="1400" dirty="0">
                <a:latin typeface="Helvetica LT Pro Black" panose="020B0904030502020204" pitchFamily="34" charset="0"/>
              </a:rPr>
              <a:t>Lösungen</a:t>
            </a:r>
          </a:p>
        </p:txBody>
      </p:sp>
      <p:sp>
        <p:nvSpPr>
          <p:cNvPr id="4" name="Textfeld 3">
            <a:extLst>
              <a:ext uri="{FF2B5EF4-FFF2-40B4-BE49-F238E27FC236}">
                <a16:creationId xmlns:a16="http://schemas.microsoft.com/office/drawing/2014/main" id="{938B24FF-A19B-4E44-B520-296D6F7AA6B9}"/>
              </a:ext>
            </a:extLst>
          </p:cNvPr>
          <p:cNvSpPr txBox="1"/>
          <p:nvPr/>
        </p:nvSpPr>
        <p:spPr>
          <a:xfrm>
            <a:off x="514816" y="1866627"/>
            <a:ext cx="2538413" cy="1107996"/>
          </a:xfrm>
          <a:prstGeom prst="rect">
            <a:avLst/>
          </a:prstGeom>
          <a:noFill/>
        </p:spPr>
        <p:txBody>
          <a:bodyPr wrap="square">
            <a:spAutoFit/>
          </a:bodyPr>
          <a:lstStyle/>
          <a:p>
            <a:r>
              <a:rPr lang="de-CH" sz="1100" dirty="0">
                <a:solidFill>
                  <a:srgbClr val="202124"/>
                </a:solidFill>
                <a:latin typeface="Google Sans"/>
              </a:rPr>
              <a:t>- </a:t>
            </a:r>
            <a:r>
              <a:rPr lang="de-CH" sz="1100" dirty="0" err="1">
                <a:solidFill>
                  <a:srgbClr val="202124"/>
                </a:solidFill>
                <a:latin typeface="Google Sans"/>
              </a:rPr>
              <a:t>Kodensation</a:t>
            </a:r>
            <a:r>
              <a:rPr lang="de-CH" sz="1100" dirty="0">
                <a:solidFill>
                  <a:srgbClr val="202124"/>
                </a:solidFill>
                <a:latin typeface="Google Sans"/>
              </a:rPr>
              <a:t> (Wärmebrücke / fehlende Isolation / falsches Lüftungsverhalten / Möbel an der Wand) </a:t>
            </a:r>
          </a:p>
          <a:p>
            <a:endParaRPr lang="de-CH" sz="1100" dirty="0">
              <a:solidFill>
                <a:srgbClr val="202124"/>
              </a:solidFill>
              <a:latin typeface="Google Sans"/>
            </a:endParaRPr>
          </a:p>
          <a:p>
            <a:r>
              <a:rPr lang="de-CH" sz="1100" dirty="0">
                <a:solidFill>
                  <a:srgbClr val="202124"/>
                </a:solidFill>
                <a:latin typeface="Google Sans"/>
              </a:rPr>
              <a:t>- Eindringen von Wasser (Rohrbruch / Dachwasser)</a:t>
            </a:r>
          </a:p>
        </p:txBody>
      </p:sp>
      <p:sp>
        <p:nvSpPr>
          <p:cNvPr id="8" name="Textfeld 7">
            <a:extLst>
              <a:ext uri="{FF2B5EF4-FFF2-40B4-BE49-F238E27FC236}">
                <a16:creationId xmlns:a16="http://schemas.microsoft.com/office/drawing/2014/main" id="{342FC81C-6BB1-6FA7-1A8D-BDFD47C5FFF6}"/>
              </a:ext>
            </a:extLst>
          </p:cNvPr>
          <p:cNvSpPr txBox="1"/>
          <p:nvPr/>
        </p:nvSpPr>
        <p:spPr>
          <a:xfrm>
            <a:off x="5214145" y="1794204"/>
            <a:ext cx="2538413" cy="1446550"/>
          </a:xfrm>
          <a:prstGeom prst="rect">
            <a:avLst/>
          </a:prstGeom>
          <a:noFill/>
        </p:spPr>
        <p:txBody>
          <a:bodyPr wrap="square">
            <a:spAutoFit/>
          </a:bodyPr>
          <a:lstStyle/>
          <a:p>
            <a:r>
              <a:rPr lang="de-CH" sz="1100" dirty="0">
                <a:solidFill>
                  <a:srgbClr val="202124"/>
                </a:solidFill>
                <a:latin typeface="Google Sans"/>
              </a:rPr>
              <a:t>- Wärmebrücken ausfindig machen </a:t>
            </a:r>
          </a:p>
          <a:p>
            <a:r>
              <a:rPr lang="de-CH" sz="1100" dirty="0">
                <a:solidFill>
                  <a:srgbClr val="202124"/>
                </a:solidFill>
                <a:latin typeface="Google Sans"/>
              </a:rPr>
              <a:t>- Isolation verbessern (Isolationsmaterial / 3-fach Verglasung / neues Dach)</a:t>
            </a:r>
          </a:p>
          <a:p>
            <a:endParaRPr lang="de-CH" sz="1100" dirty="0">
              <a:solidFill>
                <a:srgbClr val="202124"/>
              </a:solidFill>
              <a:latin typeface="Google Sans"/>
            </a:endParaRPr>
          </a:p>
          <a:p>
            <a:r>
              <a:rPr lang="de-CH" sz="1100" dirty="0">
                <a:solidFill>
                  <a:srgbClr val="202124"/>
                </a:solidFill>
                <a:latin typeface="Google Sans"/>
              </a:rPr>
              <a:t>- Ausfindig machen von wo die Feuchtigkeit kommt und Ursache stoppen (Beschädigte Abdichtung bei Dusche, Rohrbruch etc.)</a:t>
            </a:r>
          </a:p>
        </p:txBody>
      </p:sp>
    </p:spTree>
    <p:extLst>
      <p:ext uri="{BB962C8B-B14F-4D97-AF65-F5344CB8AC3E}">
        <p14:creationId xmlns:p14="http://schemas.microsoft.com/office/powerpoint/2010/main" val="17196024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Begriffe STWE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8B15F3D9-CF62-C98D-BBEA-E6E4279D0CD4}"/>
              </a:ext>
            </a:extLst>
          </p:cNvPr>
          <p:cNvSpPr txBox="1"/>
          <p:nvPr/>
        </p:nvSpPr>
        <p:spPr>
          <a:xfrm>
            <a:off x="533288" y="1149888"/>
            <a:ext cx="1895876" cy="307777"/>
          </a:xfrm>
          <a:prstGeom prst="rect">
            <a:avLst/>
          </a:prstGeom>
          <a:noFill/>
        </p:spPr>
        <p:txBody>
          <a:bodyPr wrap="square" rtlCol="0">
            <a:spAutoFit/>
          </a:bodyPr>
          <a:lstStyle/>
          <a:p>
            <a:r>
              <a:rPr lang="de-CH" sz="1400" dirty="0">
                <a:latin typeface="Helvetica LT Pro Black" panose="020B0904030502020204" pitchFamily="34" charset="0"/>
              </a:rPr>
              <a:t>Reglement</a:t>
            </a:r>
          </a:p>
        </p:txBody>
      </p:sp>
      <p:sp>
        <p:nvSpPr>
          <p:cNvPr id="4" name="Textfeld 3">
            <a:extLst>
              <a:ext uri="{FF2B5EF4-FFF2-40B4-BE49-F238E27FC236}">
                <a16:creationId xmlns:a16="http://schemas.microsoft.com/office/drawing/2014/main" id="{57A8AC2C-E58E-78B0-3EEB-58E550D20921}"/>
              </a:ext>
            </a:extLst>
          </p:cNvPr>
          <p:cNvSpPr txBox="1"/>
          <p:nvPr/>
        </p:nvSpPr>
        <p:spPr>
          <a:xfrm>
            <a:off x="514816" y="1634402"/>
            <a:ext cx="2538413" cy="600164"/>
          </a:xfrm>
          <a:prstGeom prst="rect">
            <a:avLst/>
          </a:prstGeom>
          <a:noFill/>
        </p:spPr>
        <p:txBody>
          <a:bodyPr wrap="square">
            <a:spAutoFit/>
          </a:bodyPr>
          <a:lstStyle/>
          <a:p>
            <a:r>
              <a:rPr lang="de-CH" sz="1100" dirty="0">
                <a:solidFill>
                  <a:srgbClr val="202124"/>
                </a:solidFill>
                <a:latin typeface="Google Sans"/>
              </a:rPr>
              <a:t>Wird im Grundbuch unter den Anmerkungen eingetragen, sofern eines besteht</a:t>
            </a:r>
          </a:p>
        </p:txBody>
      </p:sp>
      <p:sp>
        <p:nvSpPr>
          <p:cNvPr id="8" name="Textfeld 7">
            <a:extLst>
              <a:ext uri="{FF2B5EF4-FFF2-40B4-BE49-F238E27FC236}">
                <a16:creationId xmlns:a16="http://schemas.microsoft.com/office/drawing/2014/main" id="{D11C0DB9-7616-3272-24FB-CCF4B0BE6B53}"/>
              </a:ext>
            </a:extLst>
          </p:cNvPr>
          <p:cNvSpPr txBox="1"/>
          <p:nvPr/>
        </p:nvSpPr>
        <p:spPr>
          <a:xfrm>
            <a:off x="3371139" y="1115869"/>
            <a:ext cx="2340541" cy="307777"/>
          </a:xfrm>
          <a:prstGeom prst="rect">
            <a:avLst/>
          </a:prstGeom>
          <a:noFill/>
        </p:spPr>
        <p:txBody>
          <a:bodyPr wrap="square" rtlCol="0">
            <a:spAutoFit/>
          </a:bodyPr>
          <a:lstStyle/>
          <a:p>
            <a:r>
              <a:rPr lang="de-DE" sz="1400" dirty="0">
                <a:latin typeface="Helvetica LT Pro Black" panose="020B0904030502020204" pitchFamily="34" charset="0"/>
              </a:rPr>
              <a:t>V</a:t>
            </a:r>
            <a:r>
              <a:rPr lang="de-CH" sz="1400" dirty="0" err="1">
                <a:latin typeface="Helvetica LT Pro Black" panose="020B0904030502020204" pitchFamily="34" charset="0"/>
              </a:rPr>
              <a:t>orauss</a:t>
            </a:r>
            <a:r>
              <a:rPr lang="de-CH" sz="1400" dirty="0">
                <a:latin typeface="Helvetica LT Pro Black" panose="020B0904030502020204" pitchFamily="34" charset="0"/>
              </a:rPr>
              <a:t>. Sonderrecht</a:t>
            </a:r>
          </a:p>
        </p:txBody>
      </p:sp>
      <p:sp>
        <p:nvSpPr>
          <p:cNvPr id="10" name="Textfeld 9">
            <a:extLst>
              <a:ext uri="{FF2B5EF4-FFF2-40B4-BE49-F238E27FC236}">
                <a16:creationId xmlns:a16="http://schemas.microsoft.com/office/drawing/2014/main" id="{595703A9-DE6F-71DA-5986-62C3A290C2D5}"/>
              </a:ext>
            </a:extLst>
          </p:cNvPr>
          <p:cNvSpPr txBox="1"/>
          <p:nvPr/>
        </p:nvSpPr>
        <p:spPr>
          <a:xfrm>
            <a:off x="3371139" y="1511291"/>
            <a:ext cx="2173628" cy="1446550"/>
          </a:xfrm>
          <a:prstGeom prst="rect">
            <a:avLst/>
          </a:prstGeom>
          <a:noFill/>
        </p:spPr>
        <p:txBody>
          <a:bodyPr wrap="square">
            <a:spAutoFit/>
          </a:bodyPr>
          <a:lstStyle/>
          <a:p>
            <a:r>
              <a:rPr lang="de-CH" sz="1100" dirty="0">
                <a:solidFill>
                  <a:srgbClr val="202124"/>
                </a:solidFill>
                <a:latin typeface="Google Sans"/>
              </a:rPr>
              <a:t>Um ein Objekt als Sonderrecht ausscheiden zu können müssen folgende Voraussetzungen erfüllt sein: </a:t>
            </a:r>
          </a:p>
          <a:p>
            <a:endParaRPr lang="de-CH" sz="1100" dirty="0">
              <a:solidFill>
                <a:srgbClr val="202124"/>
              </a:solidFill>
              <a:latin typeface="Google Sans"/>
            </a:endParaRPr>
          </a:p>
          <a:p>
            <a:r>
              <a:rPr lang="de-CH" sz="1100" dirty="0">
                <a:solidFill>
                  <a:srgbClr val="202124"/>
                </a:solidFill>
                <a:latin typeface="Google Sans"/>
              </a:rPr>
              <a:t>- In sich abgeschlossen </a:t>
            </a:r>
          </a:p>
          <a:p>
            <a:r>
              <a:rPr lang="de-CH" sz="1100" dirty="0">
                <a:solidFill>
                  <a:srgbClr val="202124"/>
                </a:solidFill>
                <a:latin typeface="Google Sans"/>
              </a:rPr>
              <a:t>- Wirtschaftliche Einheit </a:t>
            </a:r>
          </a:p>
          <a:p>
            <a:r>
              <a:rPr lang="de-CH" sz="1100" dirty="0">
                <a:solidFill>
                  <a:srgbClr val="202124"/>
                </a:solidFill>
                <a:latin typeface="Google Sans"/>
              </a:rPr>
              <a:t>- Eigener Zugang</a:t>
            </a:r>
          </a:p>
        </p:txBody>
      </p:sp>
      <p:sp>
        <p:nvSpPr>
          <p:cNvPr id="11" name="Textfeld 10">
            <a:extLst>
              <a:ext uri="{FF2B5EF4-FFF2-40B4-BE49-F238E27FC236}">
                <a16:creationId xmlns:a16="http://schemas.microsoft.com/office/drawing/2014/main" id="{B2EE0BCE-C6CF-19D4-728E-F6C79E9A2BA2}"/>
              </a:ext>
            </a:extLst>
          </p:cNvPr>
          <p:cNvSpPr txBox="1"/>
          <p:nvPr/>
        </p:nvSpPr>
        <p:spPr>
          <a:xfrm>
            <a:off x="6196497" y="1084579"/>
            <a:ext cx="2340541" cy="523220"/>
          </a:xfrm>
          <a:prstGeom prst="rect">
            <a:avLst/>
          </a:prstGeom>
          <a:noFill/>
        </p:spPr>
        <p:txBody>
          <a:bodyPr wrap="square" rtlCol="0">
            <a:spAutoFit/>
          </a:bodyPr>
          <a:lstStyle/>
          <a:p>
            <a:r>
              <a:rPr lang="de-CH" sz="1400" dirty="0">
                <a:latin typeface="Helvetica LT Pro Black" panose="020B0904030502020204" pitchFamily="34" charset="0"/>
              </a:rPr>
              <a:t>Sonderrecht vs. Sondernutzungsrecht</a:t>
            </a:r>
          </a:p>
        </p:txBody>
      </p:sp>
      <p:sp>
        <p:nvSpPr>
          <p:cNvPr id="13" name="Textfeld 12">
            <a:extLst>
              <a:ext uri="{FF2B5EF4-FFF2-40B4-BE49-F238E27FC236}">
                <a16:creationId xmlns:a16="http://schemas.microsoft.com/office/drawing/2014/main" id="{B776240D-D71F-29D3-621F-C2EC3277BC71}"/>
              </a:ext>
            </a:extLst>
          </p:cNvPr>
          <p:cNvSpPr txBox="1"/>
          <p:nvPr/>
        </p:nvSpPr>
        <p:spPr>
          <a:xfrm>
            <a:off x="6196496" y="1704809"/>
            <a:ext cx="2340541" cy="1446550"/>
          </a:xfrm>
          <a:prstGeom prst="rect">
            <a:avLst/>
          </a:prstGeom>
          <a:noFill/>
        </p:spPr>
        <p:txBody>
          <a:bodyPr wrap="square">
            <a:spAutoFit/>
          </a:bodyPr>
          <a:lstStyle/>
          <a:p>
            <a:r>
              <a:rPr lang="de-CH" sz="1100" b="0" i="0" dirty="0">
                <a:solidFill>
                  <a:srgbClr val="4D5156"/>
                </a:solidFill>
                <a:effectLst/>
                <a:latin typeface="Google Sans"/>
              </a:rPr>
              <a:t>Das </a:t>
            </a:r>
            <a:r>
              <a:rPr lang="de-CH" sz="1100" b="0" i="0" dirty="0">
                <a:solidFill>
                  <a:srgbClr val="040C28"/>
                </a:solidFill>
                <a:effectLst/>
                <a:latin typeface="Google Sans"/>
              </a:rPr>
              <a:t>Sondernutzungsrecht</a:t>
            </a:r>
            <a:r>
              <a:rPr lang="de-CH" sz="1100" b="0" i="0" dirty="0">
                <a:solidFill>
                  <a:srgbClr val="4D5156"/>
                </a:solidFill>
                <a:effectLst/>
                <a:latin typeface="Google Sans"/>
              </a:rPr>
              <a:t> bezieht sich auf die alleinige Nutzung einer Fläche des Gemeinschaftseigentums. Es berechtigt allerdings nicht dazu, diese Fläche nach Belieben umzubauen. Das </a:t>
            </a:r>
            <a:r>
              <a:rPr lang="de-CH" sz="1100" b="0" i="0" dirty="0">
                <a:solidFill>
                  <a:srgbClr val="040C28"/>
                </a:solidFill>
                <a:effectLst/>
                <a:latin typeface="Google Sans"/>
              </a:rPr>
              <a:t>Sondereigentum</a:t>
            </a:r>
            <a:r>
              <a:rPr lang="de-CH" sz="1100" b="0" i="0" dirty="0">
                <a:solidFill>
                  <a:srgbClr val="4D5156"/>
                </a:solidFill>
                <a:effectLst/>
                <a:latin typeface="Google Sans"/>
              </a:rPr>
              <a:t> dagegen begründet einen Rechtsanspruch des Käufers auf die erworbene Fläche.</a:t>
            </a:r>
            <a:endParaRPr lang="de-CH" sz="1100" dirty="0"/>
          </a:p>
        </p:txBody>
      </p:sp>
      <p:sp>
        <p:nvSpPr>
          <p:cNvPr id="3" name="Textfeld 2">
            <a:extLst>
              <a:ext uri="{FF2B5EF4-FFF2-40B4-BE49-F238E27FC236}">
                <a16:creationId xmlns:a16="http://schemas.microsoft.com/office/drawing/2014/main" id="{ED9D6D5D-9C25-3D5D-9C89-584ED1659583}"/>
              </a:ext>
            </a:extLst>
          </p:cNvPr>
          <p:cNvSpPr txBox="1"/>
          <p:nvPr/>
        </p:nvSpPr>
        <p:spPr>
          <a:xfrm>
            <a:off x="380886" y="3067150"/>
            <a:ext cx="2609056" cy="307777"/>
          </a:xfrm>
          <a:prstGeom prst="rect">
            <a:avLst/>
          </a:prstGeom>
          <a:noFill/>
        </p:spPr>
        <p:txBody>
          <a:bodyPr wrap="square" rtlCol="0">
            <a:spAutoFit/>
          </a:bodyPr>
          <a:lstStyle/>
          <a:p>
            <a:r>
              <a:rPr lang="de-DE" sz="1400" dirty="0">
                <a:latin typeface="Helvetica LT Pro Black" panose="020B0904030502020204" pitchFamily="34" charset="0"/>
              </a:rPr>
              <a:t>V</a:t>
            </a:r>
            <a:r>
              <a:rPr lang="de-CH" sz="1400" dirty="0" err="1">
                <a:latin typeface="Helvetica LT Pro Black" panose="020B0904030502020204" pitchFamily="34" charset="0"/>
              </a:rPr>
              <a:t>orauss</a:t>
            </a:r>
            <a:r>
              <a:rPr lang="de-CH" sz="1400" dirty="0">
                <a:latin typeface="Helvetica LT Pro Black" panose="020B0904030502020204" pitchFamily="34" charset="0"/>
              </a:rPr>
              <a:t>. Versammlung</a:t>
            </a:r>
          </a:p>
        </p:txBody>
      </p:sp>
      <p:sp>
        <p:nvSpPr>
          <p:cNvPr id="9" name="Textfeld 8">
            <a:extLst>
              <a:ext uri="{FF2B5EF4-FFF2-40B4-BE49-F238E27FC236}">
                <a16:creationId xmlns:a16="http://schemas.microsoft.com/office/drawing/2014/main" id="{52D23686-5EC3-C325-3393-AC23123E8274}"/>
              </a:ext>
            </a:extLst>
          </p:cNvPr>
          <p:cNvSpPr txBox="1"/>
          <p:nvPr/>
        </p:nvSpPr>
        <p:spPr>
          <a:xfrm>
            <a:off x="416208" y="3533026"/>
            <a:ext cx="2538413" cy="1446550"/>
          </a:xfrm>
          <a:prstGeom prst="rect">
            <a:avLst/>
          </a:prstGeom>
          <a:noFill/>
        </p:spPr>
        <p:txBody>
          <a:bodyPr wrap="square">
            <a:spAutoFit/>
          </a:bodyPr>
          <a:lstStyle/>
          <a:p>
            <a:r>
              <a:rPr lang="de-CH" sz="1100" dirty="0">
                <a:solidFill>
                  <a:srgbClr val="202124"/>
                </a:solidFill>
                <a:latin typeface="Google Sans"/>
              </a:rPr>
              <a:t>Art. 64 Abs. 3 ZGB </a:t>
            </a:r>
            <a:r>
              <a:rPr lang="de-CH" sz="1100" dirty="0">
                <a:solidFill>
                  <a:srgbClr val="202124"/>
                </a:solidFill>
                <a:latin typeface="Google Sans"/>
                <a:sym typeface="Wingdings" panose="05000000000000000000" pitchFamily="2" charset="2"/>
              </a:rPr>
              <a:t> Sofern mindestens 1/5 der Eigentümer eine Versammlung verlangen</a:t>
            </a:r>
          </a:p>
          <a:p>
            <a:endParaRPr lang="de-CH" sz="1100" dirty="0">
              <a:solidFill>
                <a:srgbClr val="202124"/>
              </a:solidFill>
              <a:latin typeface="Google Sans"/>
              <a:sym typeface="Wingdings" panose="05000000000000000000" pitchFamily="2" charset="2"/>
            </a:endParaRPr>
          </a:p>
          <a:p>
            <a:r>
              <a:rPr lang="de-CH" sz="1100" dirty="0">
                <a:solidFill>
                  <a:srgbClr val="202124"/>
                </a:solidFill>
                <a:latin typeface="Google Sans"/>
                <a:sym typeface="Wingdings" panose="05000000000000000000" pitchFamily="2" charset="2"/>
              </a:rPr>
              <a:t>Versammlung wird sonst durch den Verwalter einberufen  Art. 712n ZGB</a:t>
            </a:r>
          </a:p>
          <a:p>
            <a:r>
              <a:rPr lang="de-CH" sz="1100" dirty="0">
                <a:solidFill>
                  <a:srgbClr val="202124"/>
                </a:solidFill>
                <a:latin typeface="Google Sans"/>
                <a:sym typeface="Wingdings" panose="05000000000000000000" pitchFamily="2" charset="2"/>
              </a:rPr>
              <a:t>(Einladungsfristen nicht gesetzlich geregelt, </a:t>
            </a:r>
            <a:r>
              <a:rPr lang="de-CH" sz="1100" dirty="0" err="1">
                <a:solidFill>
                  <a:srgbClr val="202124"/>
                </a:solidFill>
                <a:latin typeface="Google Sans"/>
                <a:sym typeface="Wingdings" panose="05000000000000000000" pitchFamily="2" charset="2"/>
              </a:rPr>
              <a:t>entnahme</a:t>
            </a:r>
            <a:r>
              <a:rPr lang="de-CH" sz="1100" dirty="0">
                <a:solidFill>
                  <a:srgbClr val="202124"/>
                </a:solidFill>
                <a:latin typeface="Google Sans"/>
                <a:sym typeface="Wingdings" panose="05000000000000000000" pitchFamily="2" charset="2"/>
              </a:rPr>
              <a:t> aus Reglement)</a:t>
            </a:r>
            <a:endParaRPr lang="de-CH" sz="1100" dirty="0">
              <a:solidFill>
                <a:srgbClr val="202124"/>
              </a:solidFill>
              <a:latin typeface="Google Sans"/>
            </a:endParaRPr>
          </a:p>
        </p:txBody>
      </p:sp>
      <p:sp>
        <p:nvSpPr>
          <p:cNvPr id="12" name="Textfeld 11">
            <a:extLst>
              <a:ext uri="{FF2B5EF4-FFF2-40B4-BE49-F238E27FC236}">
                <a16:creationId xmlns:a16="http://schemas.microsoft.com/office/drawing/2014/main" id="{1F5DF03B-ADB1-F418-A475-277AB933558C}"/>
              </a:ext>
            </a:extLst>
          </p:cNvPr>
          <p:cNvSpPr txBox="1"/>
          <p:nvPr/>
        </p:nvSpPr>
        <p:spPr>
          <a:xfrm>
            <a:off x="3371139" y="3602283"/>
            <a:ext cx="2903298" cy="1446550"/>
          </a:xfrm>
          <a:prstGeom prst="rect">
            <a:avLst/>
          </a:prstGeom>
          <a:noFill/>
        </p:spPr>
        <p:txBody>
          <a:bodyPr wrap="square">
            <a:spAutoFit/>
          </a:bodyPr>
          <a:lstStyle/>
          <a:p>
            <a:r>
              <a:rPr lang="de-CH" sz="1100" dirty="0">
                <a:solidFill>
                  <a:srgbClr val="202124"/>
                </a:solidFill>
                <a:latin typeface="Google Sans"/>
              </a:rPr>
              <a:t>- Einladungsschreiben </a:t>
            </a:r>
          </a:p>
          <a:p>
            <a:r>
              <a:rPr lang="de-CH" sz="1100" dirty="0">
                <a:solidFill>
                  <a:srgbClr val="202124"/>
                </a:solidFill>
                <a:latin typeface="Google Sans"/>
              </a:rPr>
              <a:t>- Traktandenliste </a:t>
            </a:r>
          </a:p>
          <a:p>
            <a:r>
              <a:rPr lang="de-CH" sz="1100" dirty="0">
                <a:solidFill>
                  <a:srgbClr val="202124"/>
                </a:solidFill>
                <a:latin typeface="Google Sans"/>
              </a:rPr>
              <a:t>- Anträge </a:t>
            </a:r>
          </a:p>
          <a:p>
            <a:r>
              <a:rPr lang="de-CH" sz="1100" dirty="0">
                <a:solidFill>
                  <a:srgbClr val="202124"/>
                </a:solidFill>
                <a:latin typeface="Google Sans"/>
              </a:rPr>
              <a:t>- Jahresrechnung </a:t>
            </a:r>
          </a:p>
          <a:p>
            <a:r>
              <a:rPr lang="de-CH" sz="1100" dirty="0">
                <a:solidFill>
                  <a:srgbClr val="202124"/>
                </a:solidFill>
                <a:latin typeface="Google Sans"/>
              </a:rPr>
              <a:t>- Budget </a:t>
            </a:r>
          </a:p>
          <a:p>
            <a:r>
              <a:rPr lang="de-CH" sz="1100" dirty="0">
                <a:solidFill>
                  <a:srgbClr val="202124"/>
                </a:solidFill>
                <a:latin typeface="Google Sans"/>
              </a:rPr>
              <a:t>- Einzelabrechnung</a:t>
            </a:r>
          </a:p>
          <a:p>
            <a:r>
              <a:rPr lang="de-CH" sz="1100" dirty="0">
                <a:solidFill>
                  <a:srgbClr val="202124"/>
                </a:solidFill>
                <a:latin typeface="Google Sans"/>
              </a:rPr>
              <a:t>- Revisionsbericht </a:t>
            </a:r>
          </a:p>
          <a:p>
            <a:r>
              <a:rPr lang="de-CH" sz="1100" dirty="0">
                <a:solidFill>
                  <a:srgbClr val="202124"/>
                </a:solidFill>
                <a:latin typeface="Google Sans"/>
              </a:rPr>
              <a:t>- Vollmachtsformulare/Stimmrechtsausweis </a:t>
            </a:r>
          </a:p>
        </p:txBody>
      </p:sp>
      <p:sp>
        <p:nvSpPr>
          <p:cNvPr id="14" name="Textfeld 13">
            <a:extLst>
              <a:ext uri="{FF2B5EF4-FFF2-40B4-BE49-F238E27FC236}">
                <a16:creationId xmlns:a16="http://schemas.microsoft.com/office/drawing/2014/main" id="{B5E4F955-B40A-98C1-9A44-76E666C5D542}"/>
              </a:ext>
            </a:extLst>
          </p:cNvPr>
          <p:cNvSpPr txBox="1"/>
          <p:nvPr/>
        </p:nvSpPr>
        <p:spPr>
          <a:xfrm>
            <a:off x="3371139" y="3166555"/>
            <a:ext cx="2609056" cy="307777"/>
          </a:xfrm>
          <a:prstGeom prst="rect">
            <a:avLst/>
          </a:prstGeom>
          <a:noFill/>
        </p:spPr>
        <p:txBody>
          <a:bodyPr wrap="square" rtlCol="0">
            <a:spAutoFit/>
          </a:bodyPr>
          <a:lstStyle/>
          <a:p>
            <a:r>
              <a:rPr lang="de-DE" sz="1400" dirty="0">
                <a:latin typeface="Helvetica LT Pro Black" panose="020B0904030502020204" pitchFamily="34" charset="0"/>
              </a:rPr>
              <a:t>Einladung Versammlung</a:t>
            </a:r>
            <a:endParaRPr lang="de-CH" sz="1400" dirty="0">
              <a:latin typeface="Helvetica LT Pro Black" panose="020B0904030502020204" pitchFamily="34" charset="0"/>
            </a:endParaRPr>
          </a:p>
        </p:txBody>
      </p:sp>
      <p:sp>
        <p:nvSpPr>
          <p:cNvPr id="15" name="Textfeld 14">
            <a:extLst>
              <a:ext uri="{FF2B5EF4-FFF2-40B4-BE49-F238E27FC236}">
                <a16:creationId xmlns:a16="http://schemas.microsoft.com/office/drawing/2014/main" id="{34F3D27D-0BE2-4EFE-87AE-41EB252425E4}"/>
              </a:ext>
            </a:extLst>
          </p:cNvPr>
          <p:cNvSpPr txBox="1"/>
          <p:nvPr/>
        </p:nvSpPr>
        <p:spPr>
          <a:xfrm>
            <a:off x="9182169" y="995999"/>
            <a:ext cx="2609056" cy="307777"/>
          </a:xfrm>
          <a:prstGeom prst="rect">
            <a:avLst/>
          </a:prstGeom>
          <a:noFill/>
        </p:spPr>
        <p:txBody>
          <a:bodyPr wrap="square" rtlCol="0">
            <a:spAutoFit/>
          </a:bodyPr>
          <a:lstStyle/>
          <a:p>
            <a:r>
              <a:rPr lang="de-DE" sz="1400" dirty="0">
                <a:latin typeface="Helvetica LT Pro Black" panose="020B0904030502020204" pitchFamily="34" charset="0"/>
              </a:rPr>
              <a:t>Anfechtung Beschluss</a:t>
            </a:r>
            <a:endParaRPr lang="de-CH" sz="1400" dirty="0">
              <a:latin typeface="Helvetica LT Pro Black" panose="020B0904030502020204" pitchFamily="34" charset="0"/>
            </a:endParaRPr>
          </a:p>
        </p:txBody>
      </p:sp>
      <p:sp>
        <p:nvSpPr>
          <p:cNvPr id="16" name="Textfeld 15">
            <a:extLst>
              <a:ext uri="{FF2B5EF4-FFF2-40B4-BE49-F238E27FC236}">
                <a16:creationId xmlns:a16="http://schemas.microsoft.com/office/drawing/2014/main" id="{7A16F59F-73A4-2678-87CF-40E7164DCA81}"/>
              </a:ext>
            </a:extLst>
          </p:cNvPr>
          <p:cNvSpPr txBox="1"/>
          <p:nvPr/>
        </p:nvSpPr>
        <p:spPr>
          <a:xfrm>
            <a:off x="9188766" y="1658643"/>
            <a:ext cx="2903298" cy="769441"/>
          </a:xfrm>
          <a:prstGeom prst="rect">
            <a:avLst/>
          </a:prstGeom>
          <a:noFill/>
        </p:spPr>
        <p:txBody>
          <a:bodyPr wrap="square">
            <a:spAutoFit/>
          </a:bodyPr>
          <a:lstStyle/>
          <a:p>
            <a:r>
              <a:rPr lang="de-CH" sz="1100" dirty="0">
                <a:solidFill>
                  <a:srgbClr val="202124"/>
                </a:solidFill>
                <a:latin typeface="Google Sans"/>
              </a:rPr>
              <a:t>- Innert 30 Tage seit Kenntnisnahme </a:t>
            </a:r>
          </a:p>
          <a:p>
            <a:r>
              <a:rPr lang="de-CH" sz="1100" dirty="0">
                <a:solidFill>
                  <a:srgbClr val="202124"/>
                </a:solidFill>
                <a:latin typeface="Google Sans"/>
              </a:rPr>
              <a:t>- Kann nur angefochten werden, wenn nicht zugestimmt </a:t>
            </a:r>
          </a:p>
          <a:p>
            <a:r>
              <a:rPr lang="de-CH" sz="1100" dirty="0">
                <a:solidFill>
                  <a:srgbClr val="202124"/>
                </a:solidFill>
                <a:latin typeface="Google Sans"/>
              </a:rPr>
              <a:t>- Anfechtung beim zuständigen Gericht</a:t>
            </a:r>
          </a:p>
        </p:txBody>
      </p:sp>
      <p:sp>
        <p:nvSpPr>
          <p:cNvPr id="17" name="Textfeld 16">
            <a:extLst>
              <a:ext uri="{FF2B5EF4-FFF2-40B4-BE49-F238E27FC236}">
                <a16:creationId xmlns:a16="http://schemas.microsoft.com/office/drawing/2014/main" id="{4C4BD433-1A85-049C-A8E2-378D8453059B}"/>
              </a:ext>
            </a:extLst>
          </p:cNvPr>
          <p:cNvSpPr txBox="1"/>
          <p:nvPr/>
        </p:nvSpPr>
        <p:spPr>
          <a:xfrm>
            <a:off x="6249677" y="3248369"/>
            <a:ext cx="2609056" cy="307777"/>
          </a:xfrm>
          <a:prstGeom prst="rect">
            <a:avLst/>
          </a:prstGeom>
          <a:noFill/>
        </p:spPr>
        <p:txBody>
          <a:bodyPr wrap="square" rtlCol="0">
            <a:spAutoFit/>
          </a:bodyPr>
          <a:lstStyle/>
          <a:p>
            <a:r>
              <a:rPr lang="de-DE" sz="1400" dirty="0">
                <a:latin typeface="Helvetica LT Pro Black" panose="020B0904030502020204" pitchFamily="34" charset="0"/>
              </a:rPr>
              <a:t>STWE-Grundpfandrecht</a:t>
            </a:r>
            <a:endParaRPr lang="de-CH" sz="1400" dirty="0">
              <a:latin typeface="Helvetica LT Pro Black" panose="020B0904030502020204" pitchFamily="34" charset="0"/>
            </a:endParaRPr>
          </a:p>
        </p:txBody>
      </p:sp>
      <p:sp>
        <p:nvSpPr>
          <p:cNvPr id="18" name="Textfeld 17">
            <a:extLst>
              <a:ext uri="{FF2B5EF4-FFF2-40B4-BE49-F238E27FC236}">
                <a16:creationId xmlns:a16="http://schemas.microsoft.com/office/drawing/2014/main" id="{1800A2A3-8A62-E0FA-2678-CFABBBB4791C}"/>
              </a:ext>
            </a:extLst>
          </p:cNvPr>
          <p:cNvSpPr txBox="1"/>
          <p:nvPr/>
        </p:nvSpPr>
        <p:spPr>
          <a:xfrm>
            <a:off x="6383934" y="3641132"/>
            <a:ext cx="2340541" cy="1615827"/>
          </a:xfrm>
          <a:prstGeom prst="rect">
            <a:avLst/>
          </a:prstGeom>
          <a:noFill/>
        </p:spPr>
        <p:txBody>
          <a:bodyPr wrap="square">
            <a:spAutoFit/>
          </a:bodyPr>
          <a:lstStyle/>
          <a:p>
            <a:r>
              <a:rPr lang="de-CH" sz="1100" b="0" i="0" dirty="0">
                <a:solidFill>
                  <a:srgbClr val="202124"/>
                </a:solidFill>
                <a:effectLst/>
                <a:latin typeface="Google Sans"/>
              </a:rPr>
              <a:t>Die </a:t>
            </a:r>
            <a:r>
              <a:rPr lang="de-CH" sz="1100" b="0" i="0" dirty="0">
                <a:solidFill>
                  <a:srgbClr val="040C28"/>
                </a:solidFill>
                <a:effectLst/>
                <a:latin typeface="Google Sans"/>
              </a:rPr>
              <a:t>Stockwerkeigentümer</a:t>
            </a:r>
            <a:r>
              <a:rPr lang="de-CH" sz="1100" b="0" i="0" dirty="0">
                <a:solidFill>
                  <a:srgbClr val="202124"/>
                </a:solidFill>
                <a:effectLst/>
                <a:latin typeface="Google Sans"/>
              </a:rPr>
              <a:t>-Gemeinschaft hat für die auf die letzten drei Jahre entfallenden Beitragsforderungen Anspruch gegenüber jedem jeweiligen </a:t>
            </a:r>
            <a:r>
              <a:rPr lang="de-CH" sz="1100" b="0" i="0" dirty="0">
                <a:solidFill>
                  <a:srgbClr val="040C28"/>
                </a:solidFill>
                <a:effectLst/>
                <a:latin typeface="Google Sans"/>
              </a:rPr>
              <a:t>Stockwerkeigentümer</a:t>
            </a:r>
            <a:r>
              <a:rPr lang="de-CH" sz="1100" b="0" i="0" dirty="0">
                <a:solidFill>
                  <a:srgbClr val="202124"/>
                </a:solidFill>
                <a:effectLst/>
                <a:latin typeface="Google Sans"/>
              </a:rPr>
              <a:t> auf Errichtung eines Grundpfandrechtes an dessen Anteil (=mittelbares gesetzliches </a:t>
            </a:r>
            <a:r>
              <a:rPr lang="de-CH" sz="1100" b="0" i="0" dirty="0">
                <a:solidFill>
                  <a:srgbClr val="040C28"/>
                </a:solidFill>
                <a:effectLst/>
                <a:latin typeface="Google Sans"/>
              </a:rPr>
              <a:t>Grundpfandrecht</a:t>
            </a:r>
            <a:r>
              <a:rPr lang="de-CH" sz="1100" b="0" i="0" dirty="0">
                <a:solidFill>
                  <a:srgbClr val="202124"/>
                </a:solidFill>
                <a:effectLst/>
                <a:latin typeface="Google Sans"/>
              </a:rPr>
              <a:t>).</a:t>
            </a:r>
            <a:endParaRPr lang="de-CH" sz="1100" dirty="0"/>
          </a:p>
        </p:txBody>
      </p:sp>
    </p:spTree>
    <p:extLst>
      <p:ext uri="{BB962C8B-B14F-4D97-AF65-F5344CB8AC3E}">
        <p14:creationId xmlns:p14="http://schemas.microsoft.com/office/powerpoint/2010/main" val="31035708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Quoren STWE-Versammlung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2" name="Grafik 1">
            <a:extLst>
              <a:ext uri="{FF2B5EF4-FFF2-40B4-BE49-F238E27FC236}">
                <a16:creationId xmlns:a16="http://schemas.microsoft.com/office/drawing/2014/main" id="{0C7BAF2F-AF38-F810-CE9C-9DA138668910}"/>
              </a:ext>
            </a:extLst>
          </p:cNvPr>
          <p:cNvPicPr>
            <a:picLocks noChangeAspect="1"/>
          </p:cNvPicPr>
          <p:nvPr/>
        </p:nvPicPr>
        <p:blipFill>
          <a:blip r:embed="rId4"/>
          <a:stretch>
            <a:fillRect/>
          </a:stretch>
        </p:blipFill>
        <p:spPr>
          <a:xfrm>
            <a:off x="5732695" y="457200"/>
            <a:ext cx="5230435" cy="5246002"/>
          </a:xfrm>
          <a:prstGeom prst="rect">
            <a:avLst/>
          </a:prstGeom>
        </p:spPr>
      </p:pic>
    </p:spTree>
    <p:extLst>
      <p:ext uri="{BB962C8B-B14F-4D97-AF65-F5344CB8AC3E}">
        <p14:creationId xmlns:p14="http://schemas.microsoft.com/office/powerpoint/2010/main" val="22959789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Begriffe Mietermanagement</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E9C32976-3B3A-3745-8790-35D1F26F3C8A}"/>
              </a:ext>
            </a:extLst>
          </p:cNvPr>
          <p:cNvSpPr txBox="1"/>
          <p:nvPr/>
        </p:nvSpPr>
        <p:spPr>
          <a:xfrm>
            <a:off x="533288" y="1149888"/>
            <a:ext cx="2692512" cy="523220"/>
          </a:xfrm>
          <a:prstGeom prst="rect">
            <a:avLst/>
          </a:prstGeom>
          <a:noFill/>
        </p:spPr>
        <p:txBody>
          <a:bodyPr wrap="square" rtlCol="0">
            <a:spAutoFit/>
          </a:bodyPr>
          <a:lstStyle/>
          <a:p>
            <a:r>
              <a:rPr lang="de-CH" sz="1400" dirty="0" err="1">
                <a:latin typeface="Helvetica LT Pro Black" panose="020B0904030502020204" pitchFamily="34" charset="0"/>
              </a:rPr>
              <a:t>Wertveremehrend</a:t>
            </a:r>
            <a:r>
              <a:rPr lang="de-CH" sz="1400" dirty="0">
                <a:latin typeface="Helvetica LT Pro Black" panose="020B0904030502020204" pitchFamily="34" charset="0"/>
              </a:rPr>
              <a:t> vs. Werterhaltend</a:t>
            </a:r>
          </a:p>
        </p:txBody>
      </p:sp>
      <p:sp>
        <p:nvSpPr>
          <p:cNvPr id="3" name="Textfeld 2">
            <a:extLst>
              <a:ext uri="{FF2B5EF4-FFF2-40B4-BE49-F238E27FC236}">
                <a16:creationId xmlns:a16="http://schemas.microsoft.com/office/drawing/2014/main" id="{236E0B8A-44C4-AFD3-6A74-119914FCAD3E}"/>
              </a:ext>
            </a:extLst>
          </p:cNvPr>
          <p:cNvSpPr txBox="1"/>
          <p:nvPr/>
        </p:nvSpPr>
        <p:spPr>
          <a:xfrm>
            <a:off x="533288" y="1824902"/>
            <a:ext cx="2819512" cy="1277273"/>
          </a:xfrm>
          <a:prstGeom prst="rect">
            <a:avLst/>
          </a:prstGeom>
          <a:noFill/>
        </p:spPr>
        <p:txBody>
          <a:bodyPr wrap="square">
            <a:spAutoFit/>
          </a:bodyPr>
          <a:lstStyle/>
          <a:p>
            <a:r>
              <a:rPr lang="de-CH" sz="1100" dirty="0">
                <a:solidFill>
                  <a:srgbClr val="202124"/>
                </a:solidFill>
                <a:latin typeface="Google Sans"/>
              </a:rPr>
              <a:t>Wertvermehrend heisst der </a:t>
            </a:r>
            <a:r>
              <a:rPr lang="de-CH" sz="1100" dirty="0" err="1">
                <a:solidFill>
                  <a:srgbClr val="202124"/>
                </a:solidFill>
                <a:latin typeface="Google Sans"/>
              </a:rPr>
              <a:t>Standart</a:t>
            </a:r>
            <a:r>
              <a:rPr lang="de-CH" sz="1100" dirty="0">
                <a:solidFill>
                  <a:srgbClr val="202124"/>
                </a:solidFill>
                <a:latin typeface="Google Sans"/>
              </a:rPr>
              <a:t> wird erhöht, das heisst der Backofen </a:t>
            </a:r>
            <a:r>
              <a:rPr lang="de-CH" sz="1100" dirty="0" err="1">
                <a:solidFill>
                  <a:srgbClr val="202124"/>
                </a:solidFill>
                <a:latin typeface="Google Sans"/>
              </a:rPr>
              <a:t>ohen</a:t>
            </a:r>
            <a:r>
              <a:rPr lang="de-CH" sz="1100" dirty="0">
                <a:solidFill>
                  <a:srgbClr val="202124"/>
                </a:solidFill>
                <a:latin typeface="Google Sans"/>
              </a:rPr>
              <a:t> Zusatzfunktion durch einen Backofen mit zusätzlicher Funktion wie Grill etc. ersetzen. </a:t>
            </a:r>
          </a:p>
          <a:p>
            <a:endParaRPr lang="de-CH" sz="1100" dirty="0">
              <a:solidFill>
                <a:srgbClr val="202124"/>
              </a:solidFill>
              <a:latin typeface="Google Sans"/>
            </a:endParaRPr>
          </a:p>
          <a:p>
            <a:r>
              <a:rPr lang="de-CH" sz="1100" dirty="0">
                <a:solidFill>
                  <a:srgbClr val="202124"/>
                </a:solidFill>
                <a:latin typeface="Google Sans"/>
              </a:rPr>
              <a:t>Werterhaltend heisst das </a:t>
            </a:r>
            <a:r>
              <a:rPr lang="de-CH" sz="1100" dirty="0" err="1">
                <a:solidFill>
                  <a:srgbClr val="202124"/>
                </a:solidFill>
                <a:latin typeface="Google Sans"/>
              </a:rPr>
              <a:t>besethende</a:t>
            </a:r>
            <a:r>
              <a:rPr lang="de-CH" sz="1100" dirty="0">
                <a:solidFill>
                  <a:srgbClr val="202124"/>
                </a:solidFill>
                <a:latin typeface="Google Sans"/>
              </a:rPr>
              <a:t> gleichwertig ersetzen. </a:t>
            </a:r>
          </a:p>
        </p:txBody>
      </p:sp>
      <p:sp>
        <p:nvSpPr>
          <p:cNvPr id="4" name="Textfeld 3">
            <a:extLst>
              <a:ext uri="{FF2B5EF4-FFF2-40B4-BE49-F238E27FC236}">
                <a16:creationId xmlns:a16="http://schemas.microsoft.com/office/drawing/2014/main" id="{D9714D68-55E1-D7E9-0F3A-B6D2F5054A7E}"/>
              </a:ext>
            </a:extLst>
          </p:cNvPr>
          <p:cNvSpPr txBox="1"/>
          <p:nvPr/>
        </p:nvSpPr>
        <p:spPr>
          <a:xfrm>
            <a:off x="4094356" y="1107890"/>
            <a:ext cx="2692512" cy="523220"/>
          </a:xfrm>
          <a:prstGeom prst="rect">
            <a:avLst/>
          </a:prstGeom>
          <a:noFill/>
        </p:spPr>
        <p:txBody>
          <a:bodyPr wrap="square" rtlCol="0">
            <a:spAutoFit/>
          </a:bodyPr>
          <a:lstStyle/>
          <a:p>
            <a:r>
              <a:rPr lang="de-CH" sz="1400" dirty="0">
                <a:latin typeface="Helvetica LT Pro Black" panose="020B0904030502020204" pitchFamily="34" charset="0"/>
              </a:rPr>
              <a:t>Nichtigkeit Mietzinsanpassungen</a:t>
            </a:r>
          </a:p>
        </p:txBody>
      </p:sp>
      <p:sp>
        <p:nvSpPr>
          <p:cNvPr id="8" name="Textfeld 7">
            <a:extLst>
              <a:ext uri="{FF2B5EF4-FFF2-40B4-BE49-F238E27FC236}">
                <a16:creationId xmlns:a16="http://schemas.microsoft.com/office/drawing/2014/main" id="{388BB29F-886A-D4ED-48CC-A554A14AB1FB}"/>
              </a:ext>
            </a:extLst>
          </p:cNvPr>
          <p:cNvSpPr txBox="1"/>
          <p:nvPr/>
        </p:nvSpPr>
        <p:spPr>
          <a:xfrm>
            <a:off x="4081656" y="1862652"/>
            <a:ext cx="2538413" cy="769441"/>
          </a:xfrm>
          <a:prstGeom prst="rect">
            <a:avLst/>
          </a:prstGeom>
          <a:noFill/>
        </p:spPr>
        <p:txBody>
          <a:bodyPr wrap="square">
            <a:spAutoFit/>
          </a:bodyPr>
          <a:lstStyle/>
          <a:p>
            <a:r>
              <a:rPr lang="de-CH" sz="1100" dirty="0">
                <a:solidFill>
                  <a:srgbClr val="202124"/>
                </a:solidFill>
                <a:latin typeface="Google Sans"/>
              </a:rPr>
              <a:t>- Missachtung Formularpflicht </a:t>
            </a:r>
          </a:p>
          <a:p>
            <a:r>
              <a:rPr lang="de-CH" sz="1100" dirty="0">
                <a:solidFill>
                  <a:srgbClr val="202124"/>
                </a:solidFill>
                <a:latin typeface="Google Sans"/>
              </a:rPr>
              <a:t>- Fehlende / Ungenügende Begründung</a:t>
            </a:r>
          </a:p>
          <a:p>
            <a:r>
              <a:rPr lang="de-CH" sz="1100" dirty="0">
                <a:solidFill>
                  <a:srgbClr val="202124"/>
                </a:solidFill>
                <a:latin typeface="Google Sans"/>
              </a:rPr>
              <a:t>- Wenn mit Anpassung Kündigung ausgesprochen oder angedroht wird</a:t>
            </a:r>
          </a:p>
        </p:txBody>
      </p:sp>
      <p:sp>
        <p:nvSpPr>
          <p:cNvPr id="9" name="Textfeld 8">
            <a:extLst>
              <a:ext uri="{FF2B5EF4-FFF2-40B4-BE49-F238E27FC236}">
                <a16:creationId xmlns:a16="http://schemas.microsoft.com/office/drawing/2014/main" id="{0DC65D25-E7E5-EA80-6BC5-3863359B6E82}"/>
              </a:ext>
            </a:extLst>
          </p:cNvPr>
          <p:cNvSpPr txBox="1"/>
          <p:nvPr/>
        </p:nvSpPr>
        <p:spPr>
          <a:xfrm>
            <a:off x="7900559" y="1080403"/>
            <a:ext cx="2692512" cy="307777"/>
          </a:xfrm>
          <a:prstGeom prst="rect">
            <a:avLst/>
          </a:prstGeom>
          <a:noFill/>
        </p:spPr>
        <p:txBody>
          <a:bodyPr wrap="square" rtlCol="0">
            <a:spAutoFit/>
          </a:bodyPr>
          <a:lstStyle/>
          <a:p>
            <a:r>
              <a:rPr lang="de-CH" sz="1400" dirty="0">
                <a:latin typeface="Helvetica LT Pro Black" panose="020B0904030502020204" pitchFamily="34" charset="0"/>
              </a:rPr>
              <a:t>Retentionsrecht</a:t>
            </a:r>
          </a:p>
        </p:txBody>
      </p:sp>
      <p:sp>
        <p:nvSpPr>
          <p:cNvPr id="10" name="Textfeld 9">
            <a:extLst>
              <a:ext uri="{FF2B5EF4-FFF2-40B4-BE49-F238E27FC236}">
                <a16:creationId xmlns:a16="http://schemas.microsoft.com/office/drawing/2014/main" id="{DE5CBCAF-42F9-A242-E6BA-D8FA205B4776}"/>
              </a:ext>
            </a:extLst>
          </p:cNvPr>
          <p:cNvSpPr txBox="1"/>
          <p:nvPr/>
        </p:nvSpPr>
        <p:spPr>
          <a:xfrm>
            <a:off x="7931027" y="1706685"/>
            <a:ext cx="3194173" cy="1277273"/>
          </a:xfrm>
          <a:prstGeom prst="rect">
            <a:avLst/>
          </a:prstGeom>
          <a:noFill/>
        </p:spPr>
        <p:txBody>
          <a:bodyPr wrap="square">
            <a:spAutoFit/>
          </a:bodyPr>
          <a:lstStyle/>
          <a:p>
            <a:r>
              <a:rPr lang="de-CH" sz="1100" dirty="0">
                <a:solidFill>
                  <a:srgbClr val="202124"/>
                </a:solidFill>
                <a:latin typeface="Google Sans"/>
              </a:rPr>
              <a:t>- </a:t>
            </a:r>
            <a:r>
              <a:rPr lang="de-CH" sz="1100" b="0" i="0" dirty="0">
                <a:solidFill>
                  <a:srgbClr val="202124"/>
                </a:solidFill>
                <a:effectLst/>
                <a:latin typeface="Google Sans"/>
              </a:rPr>
              <a:t>Das besondere Retentionsrecht des Vermieters ist ein </a:t>
            </a:r>
            <a:r>
              <a:rPr lang="de-CH" sz="1100" b="0" i="0" dirty="0">
                <a:solidFill>
                  <a:srgbClr val="040C28"/>
                </a:solidFill>
                <a:effectLst/>
                <a:latin typeface="Google Sans"/>
              </a:rPr>
              <a:t>gesetzliches Pfandrecht an beweglichen Gegenständen, welche sich in den Mieträumlichkeiten befinden</a:t>
            </a:r>
            <a:r>
              <a:rPr lang="de-CH" sz="1100" b="0" i="0" dirty="0">
                <a:solidFill>
                  <a:srgbClr val="202124"/>
                </a:solidFill>
                <a:effectLst/>
                <a:latin typeface="Google Sans"/>
              </a:rPr>
              <a:t>. Das Retentionsrecht erstreckt sich lediglich auf Geschäftsräume (Ausnahme: Retentionsrecht der Stockwerkeigentümergemeinschaft, Art. 712k ZGB).</a:t>
            </a:r>
            <a:endParaRPr lang="de-CH" sz="1100" dirty="0"/>
          </a:p>
        </p:txBody>
      </p:sp>
      <p:sp>
        <p:nvSpPr>
          <p:cNvPr id="11" name="Textfeld 10">
            <a:extLst>
              <a:ext uri="{FF2B5EF4-FFF2-40B4-BE49-F238E27FC236}">
                <a16:creationId xmlns:a16="http://schemas.microsoft.com/office/drawing/2014/main" id="{D5DC47AC-CB19-3B27-39EA-7D67D96E23E5}"/>
              </a:ext>
            </a:extLst>
          </p:cNvPr>
          <p:cNvSpPr txBox="1"/>
          <p:nvPr/>
        </p:nvSpPr>
        <p:spPr>
          <a:xfrm>
            <a:off x="514816" y="3487052"/>
            <a:ext cx="2692512" cy="307777"/>
          </a:xfrm>
          <a:prstGeom prst="rect">
            <a:avLst/>
          </a:prstGeom>
          <a:noFill/>
        </p:spPr>
        <p:txBody>
          <a:bodyPr wrap="square" rtlCol="0">
            <a:spAutoFit/>
          </a:bodyPr>
          <a:lstStyle/>
          <a:p>
            <a:r>
              <a:rPr lang="de-CH" sz="1400" dirty="0">
                <a:latin typeface="Helvetica LT Pro Black" panose="020B0904030502020204" pitchFamily="34" charset="0"/>
              </a:rPr>
              <a:t>Familienwohnung</a:t>
            </a:r>
          </a:p>
        </p:txBody>
      </p:sp>
      <p:sp>
        <p:nvSpPr>
          <p:cNvPr id="13" name="Textfeld 12">
            <a:extLst>
              <a:ext uri="{FF2B5EF4-FFF2-40B4-BE49-F238E27FC236}">
                <a16:creationId xmlns:a16="http://schemas.microsoft.com/office/drawing/2014/main" id="{ECF3E3B5-5240-129C-ECDA-182F4CF04D4E}"/>
              </a:ext>
            </a:extLst>
          </p:cNvPr>
          <p:cNvSpPr txBox="1"/>
          <p:nvPr/>
        </p:nvSpPr>
        <p:spPr>
          <a:xfrm>
            <a:off x="539761" y="3879978"/>
            <a:ext cx="3194173" cy="1615827"/>
          </a:xfrm>
          <a:prstGeom prst="rect">
            <a:avLst/>
          </a:prstGeom>
          <a:noFill/>
        </p:spPr>
        <p:txBody>
          <a:bodyPr wrap="square">
            <a:spAutoFit/>
          </a:bodyPr>
          <a:lstStyle/>
          <a:p>
            <a:r>
              <a:rPr lang="de-CH" sz="1100" dirty="0">
                <a:solidFill>
                  <a:srgbClr val="040C28"/>
                </a:solidFill>
                <a:latin typeface="Google Sans"/>
              </a:rPr>
              <a:t>Als Familienwohnung gilt eine Wohnung, in der ein Ehepaar mit oder ohne Kinder wohnt. Dasselbe gilt für gleichgeschlechtliche Paare in eingetragener Partnerschaft. Nicht anwendbar sind die Bestimmungen über Familienwohnungen hingegen für unverheiratete Paare, selbst wenn sie Kinder haben.</a:t>
            </a:r>
          </a:p>
          <a:p>
            <a:endParaRPr lang="de-CH" sz="1100" dirty="0">
              <a:solidFill>
                <a:srgbClr val="040C28"/>
              </a:solidFill>
              <a:latin typeface="Google Sans"/>
            </a:endParaRPr>
          </a:p>
          <a:p>
            <a:r>
              <a:rPr lang="de-CH" sz="1100" dirty="0">
                <a:solidFill>
                  <a:srgbClr val="040C28"/>
                </a:solidFill>
                <a:latin typeface="Google Sans"/>
                <a:sym typeface="Wingdings" panose="05000000000000000000" pitchFamily="2" charset="2"/>
              </a:rPr>
              <a:t> Kündigungen etc. separat an beide zustellen</a:t>
            </a:r>
            <a:endParaRPr lang="de-CH" sz="1100" dirty="0">
              <a:solidFill>
                <a:srgbClr val="040C28"/>
              </a:solidFill>
              <a:latin typeface="Google Sans"/>
            </a:endParaRPr>
          </a:p>
        </p:txBody>
      </p:sp>
      <p:sp>
        <p:nvSpPr>
          <p:cNvPr id="14" name="Textfeld 13">
            <a:extLst>
              <a:ext uri="{FF2B5EF4-FFF2-40B4-BE49-F238E27FC236}">
                <a16:creationId xmlns:a16="http://schemas.microsoft.com/office/drawing/2014/main" id="{D45939B7-D8DC-9199-AE93-53E6041182F6}"/>
              </a:ext>
            </a:extLst>
          </p:cNvPr>
          <p:cNvSpPr txBox="1"/>
          <p:nvPr/>
        </p:nvSpPr>
        <p:spPr>
          <a:xfrm>
            <a:off x="4094356" y="3487052"/>
            <a:ext cx="2692512" cy="307777"/>
          </a:xfrm>
          <a:prstGeom prst="rect">
            <a:avLst/>
          </a:prstGeom>
          <a:noFill/>
        </p:spPr>
        <p:txBody>
          <a:bodyPr wrap="square" rtlCol="0">
            <a:spAutoFit/>
          </a:bodyPr>
          <a:lstStyle/>
          <a:p>
            <a:r>
              <a:rPr lang="de-CH" sz="1400" dirty="0">
                <a:latin typeface="Helvetica LT Pro Black" panose="020B0904030502020204" pitchFamily="34" charset="0"/>
              </a:rPr>
              <a:t>Heizgradtage</a:t>
            </a:r>
          </a:p>
        </p:txBody>
      </p:sp>
      <p:sp>
        <p:nvSpPr>
          <p:cNvPr id="15" name="Textfeld 14">
            <a:extLst>
              <a:ext uri="{FF2B5EF4-FFF2-40B4-BE49-F238E27FC236}">
                <a16:creationId xmlns:a16="http://schemas.microsoft.com/office/drawing/2014/main" id="{76DE4B87-4EE7-AEF6-9E80-0B93FE6CDF52}"/>
              </a:ext>
            </a:extLst>
          </p:cNvPr>
          <p:cNvSpPr txBox="1"/>
          <p:nvPr/>
        </p:nvSpPr>
        <p:spPr>
          <a:xfrm>
            <a:off x="4081656" y="3928438"/>
            <a:ext cx="3194173" cy="1954381"/>
          </a:xfrm>
          <a:prstGeom prst="rect">
            <a:avLst/>
          </a:prstGeom>
          <a:noFill/>
        </p:spPr>
        <p:txBody>
          <a:bodyPr wrap="square">
            <a:spAutoFit/>
          </a:bodyPr>
          <a:lstStyle/>
          <a:p>
            <a:r>
              <a:rPr lang="de-CH" sz="1100" dirty="0">
                <a:solidFill>
                  <a:srgbClr val="040C28"/>
                </a:solidFill>
                <a:latin typeface="Google Sans"/>
              </a:rPr>
              <a:t>Heizgradtage werden zur Festlegung des Verbrauchs der Heizung verwendet. Dieser Wert ist die Summe der Grade, die der Differenz zwischen Innen und durchschn. </a:t>
            </a:r>
            <a:r>
              <a:rPr lang="de-CH" sz="1100" dirty="0" err="1">
                <a:solidFill>
                  <a:srgbClr val="040C28"/>
                </a:solidFill>
                <a:latin typeface="Google Sans"/>
              </a:rPr>
              <a:t>Aussentemeperatr</a:t>
            </a:r>
            <a:r>
              <a:rPr lang="de-CH" sz="1100" dirty="0">
                <a:solidFill>
                  <a:srgbClr val="040C28"/>
                </a:solidFill>
                <a:latin typeface="Google Sans"/>
              </a:rPr>
              <a:t> jedes Heiztages entsprechen. </a:t>
            </a:r>
            <a:r>
              <a:rPr lang="de-CH" sz="1100" dirty="0">
                <a:solidFill>
                  <a:srgbClr val="040C28"/>
                </a:solidFill>
                <a:latin typeface="Google Sans"/>
                <a:sym typeface="Wingdings" panose="05000000000000000000" pitchFamily="2" charset="2"/>
              </a:rPr>
              <a:t> Je kälter desto mehr </a:t>
            </a:r>
            <a:r>
              <a:rPr lang="de-CH" sz="1100" dirty="0" err="1">
                <a:solidFill>
                  <a:srgbClr val="040C28"/>
                </a:solidFill>
                <a:latin typeface="Google Sans"/>
                <a:sym typeface="Wingdings" panose="05000000000000000000" pitchFamily="2" charset="2"/>
              </a:rPr>
              <a:t>Gradtage</a:t>
            </a:r>
            <a:r>
              <a:rPr lang="de-CH" sz="1100" dirty="0">
                <a:solidFill>
                  <a:srgbClr val="040C28"/>
                </a:solidFill>
                <a:latin typeface="Google Sans"/>
                <a:sym typeface="Wingdings" panose="05000000000000000000" pitchFamily="2" charset="2"/>
              </a:rPr>
              <a:t> </a:t>
            </a:r>
          </a:p>
          <a:p>
            <a:endParaRPr lang="de-CH" sz="1100" dirty="0">
              <a:solidFill>
                <a:srgbClr val="040C28"/>
              </a:solidFill>
              <a:latin typeface="Google Sans"/>
              <a:sym typeface="Wingdings" panose="05000000000000000000" pitchFamily="2" charset="2"/>
            </a:endParaRPr>
          </a:p>
          <a:p>
            <a:r>
              <a:rPr lang="de-CH" sz="1100" dirty="0">
                <a:solidFill>
                  <a:srgbClr val="040C28"/>
                </a:solidFill>
                <a:latin typeface="Google Sans"/>
                <a:sym typeface="Wingdings" panose="05000000000000000000" pitchFamily="2" charset="2"/>
              </a:rPr>
              <a:t>Liste der </a:t>
            </a:r>
            <a:r>
              <a:rPr lang="de-CH" sz="1100" dirty="0" err="1">
                <a:solidFill>
                  <a:srgbClr val="040C28"/>
                </a:solidFill>
                <a:latin typeface="Google Sans"/>
                <a:sym typeface="Wingdings" panose="05000000000000000000" pitchFamily="2" charset="2"/>
              </a:rPr>
              <a:t>Gradtage</a:t>
            </a:r>
            <a:r>
              <a:rPr lang="de-CH" sz="1100" dirty="0">
                <a:solidFill>
                  <a:srgbClr val="040C28"/>
                </a:solidFill>
                <a:latin typeface="Google Sans"/>
                <a:sym typeface="Wingdings" panose="05000000000000000000" pitchFamily="2" charset="2"/>
              </a:rPr>
              <a:t> zur Ermittlung </a:t>
            </a:r>
            <a:r>
              <a:rPr lang="de-CH" sz="1100" dirty="0" err="1">
                <a:solidFill>
                  <a:srgbClr val="040C28"/>
                </a:solidFill>
                <a:latin typeface="Google Sans"/>
                <a:sym typeface="Wingdings" panose="05000000000000000000" pitchFamily="2" charset="2"/>
              </a:rPr>
              <a:t>Heizkostenabrechnnung</a:t>
            </a:r>
            <a:r>
              <a:rPr lang="de-CH" sz="1100" dirty="0">
                <a:solidFill>
                  <a:srgbClr val="040C28"/>
                </a:solidFill>
                <a:latin typeface="Google Sans"/>
                <a:sym typeface="Wingdings" panose="05000000000000000000" pitchFamily="2" charset="2"/>
              </a:rPr>
              <a:t> verwendet, um Veränderung des Energieverbrauchs in Abhängigkeit vom Wetter zu berücksichtigen. (Falls Mieter ausserhalb des Abrechnungszeitraums kündigt)</a:t>
            </a:r>
            <a:endParaRPr lang="de-CH" sz="1100" dirty="0">
              <a:solidFill>
                <a:srgbClr val="040C28"/>
              </a:solidFill>
              <a:latin typeface="Google Sans"/>
            </a:endParaRPr>
          </a:p>
        </p:txBody>
      </p:sp>
    </p:spTree>
    <p:extLst>
      <p:ext uri="{BB962C8B-B14F-4D97-AF65-F5344CB8AC3E}">
        <p14:creationId xmlns:p14="http://schemas.microsoft.com/office/powerpoint/2010/main" val="1535096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Wohnrecht vs. Nutzniessung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11381BFE-C5E2-5635-4FC3-EE95E1FF8910}"/>
              </a:ext>
            </a:extLst>
          </p:cNvPr>
          <p:cNvSpPr txBox="1"/>
          <p:nvPr/>
        </p:nvSpPr>
        <p:spPr>
          <a:xfrm>
            <a:off x="533288" y="1149888"/>
            <a:ext cx="2692512" cy="307777"/>
          </a:xfrm>
          <a:prstGeom prst="rect">
            <a:avLst/>
          </a:prstGeom>
          <a:noFill/>
        </p:spPr>
        <p:txBody>
          <a:bodyPr wrap="square" rtlCol="0">
            <a:spAutoFit/>
          </a:bodyPr>
          <a:lstStyle/>
          <a:p>
            <a:r>
              <a:rPr lang="de-CH" sz="1400" dirty="0">
                <a:latin typeface="Helvetica LT Pro Black" panose="020B0904030502020204" pitchFamily="34" charset="0"/>
              </a:rPr>
              <a:t>Wohnrecht</a:t>
            </a:r>
          </a:p>
        </p:txBody>
      </p:sp>
      <p:sp>
        <p:nvSpPr>
          <p:cNvPr id="3" name="Textfeld 2">
            <a:extLst>
              <a:ext uri="{FF2B5EF4-FFF2-40B4-BE49-F238E27FC236}">
                <a16:creationId xmlns:a16="http://schemas.microsoft.com/office/drawing/2014/main" id="{D7831AB4-7598-0074-6A3D-B72E03249C0C}"/>
              </a:ext>
            </a:extLst>
          </p:cNvPr>
          <p:cNvSpPr txBox="1"/>
          <p:nvPr/>
        </p:nvSpPr>
        <p:spPr>
          <a:xfrm>
            <a:off x="7035688" y="1149888"/>
            <a:ext cx="2692512" cy="307777"/>
          </a:xfrm>
          <a:prstGeom prst="rect">
            <a:avLst/>
          </a:prstGeom>
          <a:noFill/>
        </p:spPr>
        <p:txBody>
          <a:bodyPr wrap="square" rtlCol="0">
            <a:spAutoFit/>
          </a:bodyPr>
          <a:lstStyle/>
          <a:p>
            <a:r>
              <a:rPr lang="de-CH" sz="1400" dirty="0">
                <a:latin typeface="Helvetica LT Pro Black" panose="020B0904030502020204" pitchFamily="34" charset="0"/>
              </a:rPr>
              <a:t>Nutzniessung</a:t>
            </a:r>
          </a:p>
        </p:txBody>
      </p:sp>
      <p:sp>
        <p:nvSpPr>
          <p:cNvPr id="4" name="Textfeld 3">
            <a:extLst>
              <a:ext uri="{FF2B5EF4-FFF2-40B4-BE49-F238E27FC236}">
                <a16:creationId xmlns:a16="http://schemas.microsoft.com/office/drawing/2014/main" id="{810DEC34-0735-1331-E618-ABFD4B84727C}"/>
              </a:ext>
            </a:extLst>
          </p:cNvPr>
          <p:cNvSpPr txBox="1"/>
          <p:nvPr/>
        </p:nvSpPr>
        <p:spPr>
          <a:xfrm>
            <a:off x="533288" y="1824902"/>
            <a:ext cx="2819512" cy="1954381"/>
          </a:xfrm>
          <a:prstGeom prst="rect">
            <a:avLst/>
          </a:prstGeom>
          <a:noFill/>
        </p:spPr>
        <p:txBody>
          <a:bodyPr wrap="square">
            <a:spAutoFit/>
          </a:bodyPr>
          <a:lstStyle/>
          <a:p>
            <a:r>
              <a:rPr lang="de-CH" sz="1100" dirty="0">
                <a:solidFill>
                  <a:srgbClr val="202124"/>
                </a:solidFill>
                <a:latin typeface="Google Sans"/>
              </a:rPr>
              <a:t>Das Recht ein Gebäude oder einen Teil des Gebäudes zu bewohnen. </a:t>
            </a:r>
          </a:p>
          <a:p>
            <a:endParaRPr lang="de-CH" sz="1100" dirty="0">
              <a:solidFill>
                <a:srgbClr val="202124"/>
              </a:solidFill>
              <a:latin typeface="Google Sans"/>
            </a:endParaRPr>
          </a:p>
          <a:p>
            <a:r>
              <a:rPr lang="de-CH" sz="1100" dirty="0">
                <a:solidFill>
                  <a:srgbClr val="202124"/>
                </a:solidFill>
                <a:latin typeface="Google Sans"/>
              </a:rPr>
              <a:t>Ist Persönlich und nicht übertragbar und kann auf einzelne Teile der Liegenschaft beschränkt werden. </a:t>
            </a:r>
          </a:p>
          <a:p>
            <a:endParaRPr lang="de-CH" sz="1100" dirty="0">
              <a:solidFill>
                <a:srgbClr val="202124"/>
              </a:solidFill>
              <a:latin typeface="Google Sans"/>
            </a:endParaRPr>
          </a:p>
          <a:p>
            <a:r>
              <a:rPr lang="de-CH" sz="1100" dirty="0">
                <a:solidFill>
                  <a:srgbClr val="202124"/>
                </a:solidFill>
                <a:latin typeface="Google Sans"/>
              </a:rPr>
              <a:t>Wohnberechtigte zahlt kleine Reparaturen, den normalen Unterhalt für die Wohnung und die Nebenkosten. Die übrigen Kosten  inkl. Hypothek  etc. zahlt der Eigentümer. </a:t>
            </a:r>
          </a:p>
        </p:txBody>
      </p:sp>
      <p:sp>
        <p:nvSpPr>
          <p:cNvPr id="8" name="Textfeld 7">
            <a:extLst>
              <a:ext uri="{FF2B5EF4-FFF2-40B4-BE49-F238E27FC236}">
                <a16:creationId xmlns:a16="http://schemas.microsoft.com/office/drawing/2014/main" id="{496D382D-424A-A275-118D-A0E98896D847}"/>
              </a:ext>
            </a:extLst>
          </p:cNvPr>
          <p:cNvSpPr txBox="1"/>
          <p:nvPr/>
        </p:nvSpPr>
        <p:spPr>
          <a:xfrm>
            <a:off x="6972188" y="1621702"/>
            <a:ext cx="2819512" cy="1785104"/>
          </a:xfrm>
          <a:prstGeom prst="rect">
            <a:avLst/>
          </a:prstGeom>
          <a:noFill/>
        </p:spPr>
        <p:txBody>
          <a:bodyPr wrap="square">
            <a:spAutoFit/>
          </a:bodyPr>
          <a:lstStyle/>
          <a:p>
            <a:r>
              <a:rPr lang="de-CH" sz="1100" dirty="0">
                <a:solidFill>
                  <a:srgbClr val="202124"/>
                </a:solidFill>
                <a:latin typeface="Google Sans"/>
              </a:rPr>
              <a:t>Nutzniesser das Liegenschaft nutzen, verwalten und Erträge beziehen</a:t>
            </a:r>
          </a:p>
          <a:p>
            <a:endParaRPr lang="de-CH" sz="1100" dirty="0">
              <a:solidFill>
                <a:srgbClr val="202124"/>
              </a:solidFill>
              <a:latin typeface="Google Sans"/>
            </a:endParaRPr>
          </a:p>
          <a:p>
            <a:r>
              <a:rPr lang="de-CH" sz="1100" dirty="0">
                <a:solidFill>
                  <a:srgbClr val="202124"/>
                </a:solidFill>
                <a:latin typeface="Google Sans"/>
              </a:rPr>
              <a:t>Nutzniesser kann Räume vermieten und besitzt Recht zu Verwalten. Lässt sich auf Teile der Liegenschaft beschränken </a:t>
            </a:r>
          </a:p>
          <a:p>
            <a:endParaRPr lang="de-CH" sz="1100" dirty="0">
              <a:solidFill>
                <a:srgbClr val="202124"/>
              </a:solidFill>
              <a:latin typeface="Google Sans"/>
            </a:endParaRPr>
          </a:p>
          <a:p>
            <a:r>
              <a:rPr lang="de-CH" sz="1100" dirty="0">
                <a:solidFill>
                  <a:srgbClr val="202124"/>
                </a:solidFill>
                <a:latin typeface="Google Sans"/>
              </a:rPr>
              <a:t>Nutzniesser zahlt neben Unterhalts- und Nebenkosten zusätzlich Hypothekarzins, Versicherungen etc. </a:t>
            </a:r>
          </a:p>
        </p:txBody>
      </p:sp>
    </p:spTree>
    <p:extLst>
      <p:ext uri="{BB962C8B-B14F-4D97-AF65-F5344CB8AC3E}">
        <p14:creationId xmlns:p14="http://schemas.microsoft.com/office/powerpoint/2010/main" val="29360948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Unwirksame vs. Nichtige Kündigung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11381BFE-C5E2-5635-4FC3-EE95E1FF8910}"/>
              </a:ext>
            </a:extLst>
          </p:cNvPr>
          <p:cNvSpPr txBox="1"/>
          <p:nvPr/>
        </p:nvSpPr>
        <p:spPr>
          <a:xfrm>
            <a:off x="533288" y="1264188"/>
            <a:ext cx="2692512" cy="307777"/>
          </a:xfrm>
          <a:prstGeom prst="rect">
            <a:avLst/>
          </a:prstGeom>
          <a:noFill/>
        </p:spPr>
        <p:txBody>
          <a:bodyPr wrap="square" rtlCol="0">
            <a:spAutoFit/>
          </a:bodyPr>
          <a:lstStyle/>
          <a:p>
            <a:r>
              <a:rPr lang="de-CH" sz="1400" dirty="0">
                <a:latin typeface="Helvetica LT Pro Black" panose="020B0904030502020204" pitchFamily="34" charset="0"/>
              </a:rPr>
              <a:t>Unwirksam</a:t>
            </a:r>
          </a:p>
        </p:txBody>
      </p:sp>
      <p:sp>
        <p:nvSpPr>
          <p:cNvPr id="3" name="Textfeld 2">
            <a:extLst>
              <a:ext uri="{FF2B5EF4-FFF2-40B4-BE49-F238E27FC236}">
                <a16:creationId xmlns:a16="http://schemas.microsoft.com/office/drawing/2014/main" id="{D7831AB4-7598-0074-6A3D-B72E03249C0C}"/>
              </a:ext>
            </a:extLst>
          </p:cNvPr>
          <p:cNvSpPr txBox="1"/>
          <p:nvPr/>
        </p:nvSpPr>
        <p:spPr>
          <a:xfrm>
            <a:off x="7035688" y="1264188"/>
            <a:ext cx="2692512" cy="307777"/>
          </a:xfrm>
          <a:prstGeom prst="rect">
            <a:avLst/>
          </a:prstGeom>
          <a:noFill/>
        </p:spPr>
        <p:txBody>
          <a:bodyPr wrap="square" rtlCol="0">
            <a:spAutoFit/>
          </a:bodyPr>
          <a:lstStyle/>
          <a:p>
            <a:r>
              <a:rPr lang="de-CH" sz="1400" dirty="0">
                <a:latin typeface="Helvetica LT Pro Black" panose="020B0904030502020204" pitchFamily="34" charset="0"/>
              </a:rPr>
              <a:t>Nichtig</a:t>
            </a:r>
          </a:p>
        </p:txBody>
      </p:sp>
      <p:sp>
        <p:nvSpPr>
          <p:cNvPr id="4" name="Textfeld 3">
            <a:extLst>
              <a:ext uri="{FF2B5EF4-FFF2-40B4-BE49-F238E27FC236}">
                <a16:creationId xmlns:a16="http://schemas.microsoft.com/office/drawing/2014/main" id="{810DEC34-0735-1331-E618-ABFD4B84727C}"/>
              </a:ext>
            </a:extLst>
          </p:cNvPr>
          <p:cNvSpPr txBox="1"/>
          <p:nvPr/>
        </p:nvSpPr>
        <p:spPr>
          <a:xfrm>
            <a:off x="533288" y="1939202"/>
            <a:ext cx="2819512" cy="1277273"/>
          </a:xfrm>
          <a:prstGeom prst="rect">
            <a:avLst/>
          </a:prstGeom>
          <a:noFill/>
        </p:spPr>
        <p:txBody>
          <a:bodyPr wrap="square">
            <a:spAutoFit/>
          </a:bodyPr>
          <a:lstStyle/>
          <a:p>
            <a:r>
              <a:rPr lang="de-CH" sz="1100" dirty="0">
                <a:solidFill>
                  <a:srgbClr val="202124"/>
                </a:solidFill>
                <a:latin typeface="Google Sans"/>
              </a:rPr>
              <a:t>Wenn gesetzliche vorgeschriebene formalen Anforderungen erfüllt sind, jedoch wesentliche gesetzliche oder vertragliche Bedingungen nicht eingehalten werden (</a:t>
            </a:r>
            <a:r>
              <a:rPr lang="de-CH" sz="1100" dirty="0" err="1">
                <a:solidFill>
                  <a:srgbClr val="202124"/>
                </a:solidFill>
                <a:latin typeface="Google Sans"/>
              </a:rPr>
              <a:t>z.b.</a:t>
            </a:r>
            <a:r>
              <a:rPr lang="de-CH" sz="1100" dirty="0">
                <a:solidFill>
                  <a:srgbClr val="202124"/>
                </a:solidFill>
                <a:latin typeface="Google Sans"/>
              </a:rPr>
              <a:t> Kündigung auf einen zu frühen Termin </a:t>
            </a:r>
            <a:r>
              <a:rPr lang="de-CH" sz="1100" dirty="0">
                <a:solidFill>
                  <a:srgbClr val="202124"/>
                </a:solidFill>
                <a:latin typeface="Google Sans"/>
                <a:sym typeface="Wingdings" panose="05000000000000000000" pitchFamily="2" charset="2"/>
              </a:rPr>
              <a:t> Wirksamkeit entfaltet sich erst auf den korrekten Termin hin)</a:t>
            </a:r>
            <a:endParaRPr lang="de-CH" sz="1100" dirty="0">
              <a:solidFill>
                <a:srgbClr val="202124"/>
              </a:solidFill>
              <a:latin typeface="Google Sans"/>
            </a:endParaRPr>
          </a:p>
        </p:txBody>
      </p:sp>
      <p:sp>
        <p:nvSpPr>
          <p:cNvPr id="8" name="Textfeld 7">
            <a:extLst>
              <a:ext uri="{FF2B5EF4-FFF2-40B4-BE49-F238E27FC236}">
                <a16:creationId xmlns:a16="http://schemas.microsoft.com/office/drawing/2014/main" id="{496D382D-424A-A275-118D-A0E98896D847}"/>
              </a:ext>
            </a:extLst>
          </p:cNvPr>
          <p:cNvSpPr txBox="1"/>
          <p:nvPr/>
        </p:nvSpPr>
        <p:spPr>
          <a:xfrm>
            <a:off x="6972188" y="1736002"/>
            <a:ext cx="2819512" cy="1277273"/>
          </a:xfrm>
          <a:prstGeom prst="rect">
            <a:avLst/>
          </a:prstGeom>
          <a:noFill/>
        </p:spPr>
        <p:txBody>
          <a:bodyPr wrap="square">
            <a:spAutoFit/>
          </a:bodyPr>
          <a:lstStyle/>
          <a:p>
            <a:r>
              <a:rPr lang="de-CH" sz="1100" dirty="0">
                <a:solidFill>
                  <a:srgbClr val="202124"/>
                </a:solidFill>
                <a:latin typeface="Google Sans"/>
              </a:rPr>
              <a:t>Kündigung, welche nicht den gesetzlich vorgeschriebenen Anforderungen entspricht</a:t>
            </a:r>
          </a:p>
          <a:p>
            <a:endParaRPr lang="de-CH" sz="1100" dirty="0">
              <a:solidFill>
                <a:srgbClr val="202124"/>
              </a:solidFill>
              <a:latin typeface="Google Sans"/>
            </a:endParaRPr>
          </a:p>
          <a:p>
            <a:r>
              <a:rPr lang="de-CH" sz="1100" dirty="0">
                <a:solidFill>
                  <a:srgbClr val="202124"/>
                </a:solidFill>
                <a:latin typeface="Google Sans"/>
              </a:rPr>
              <a:t>(Verstoss gegen Art. 266l – 266n OR)</a:t>
            </a:r>
          </a:p>
          <a:p>
            <a:pPr marL="171450" indent="-171450">
              <a:buFont typeface="Arial" panose="020B0604020202020204" pitchFamily="34" charset="0"/>
              <a:buChar char="•"/>
            </a:pPr>
            <a:r>
              <a:rPr lang="de-CH" sz="1100" dirty="0">
                <a:solidFill>
                  <a:srgbClr val="202124"/>
                </a:solidFill>
                <a:latin typeface="Google Sans"/>
              </a:rPr>
              <a:t>Schriftlich </a:t>
            </a:r>
          </a:p>
          <a:p>
            <a:pPr marL="171450" indent="-171450">
              <a:buFont typeface="Arial" panose="020B0604020202020204" pitchFamily="34" charset="0"/>
              <a:buChar char="•"/>
            </a:pPr>
            <a:r>
              <a:rPr lang="de-CH" sz="1100" dirty="0">
                <a:solidFill>
                  <a:srgbClr val="202124"/>
                </a:solidFill>
                <a:latin typeface="Google Sans"/>
              </a:rPr>
              <a:t>Amtlichem Formular</a:t>
            </a:r>
          </a:p>
          <a:p>
            <a:pPr marL="171450" indent="-171450">
              <a:buFont typeface="Arial" panose="020B0604020202020204" pitchFamily="34" charset="0"/>
              <a:buChar char="•"/>
            </a:pPr>
            <a:r>
              <a:rPr lang="de-CH" sz="1100" dirty="0">
                <a:solidFill>
                  <a:srgbClr val="202124"/>
                </a:solidFill>
                <a:latin typeface="Google Sans"/>
              </a:rPr>
              <a:t>Separate Zustellung bei Familienwohnung</a:t>
            </a:r>
          </a:p>
        </p:txBody>
      </p:sp>
    </p:spTree>
    <p:extLst>
      <p:ext uri="{BB962C8B-B14F-4D97-AF65-F5344CB8AC3E}">
        <p14:creationId xmlns:p14="http://schemas.microsoft.com/office/powerpoint/2010/main" val="1696285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Baubewilligung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9970D88A-29E6-485C-5DEA-EA3A110F0322}"/>
              </a:ext>
            </a:extLst>
          </p:cNvPr>
          <p:cNvSpPr txBox="1"/>
          <p:nvPr/>
        </p:nvSpPr>
        <p:spPr>
          <a:xfrm>
            <a:off x="533288" y="1264188"/>
            <a:ext cx="1705710" cy="307777"/>
          </a:xfrm>
          <a:prstGeom prst="rect">
            <a:avLst/>
          </a:prstGeom>
          <a:noFill/>
        </p:spPr>
        <p:txBody>
          <a:bodyPr wrap="square" rtlCol="0">
            <a:spAutoFit/>
          </a:bodyPr>
          <a:lstStyle/>
          <a:p>
            <a:r>
              <a:rPr lang="de-CH" sz="1400" dirty="0">
                <a:latin typeface="Helvetica LT Pro Black" panose="020B0904030502020204" pitchFamily="34" charset="0"/>
              </a:rPr>
              <a:t>Vorverfahren</a:t>
            </a:r>
          </a:p>
        </p:txBody>
      </p:sp>
      <p:sp>
        <p:nvSpPr>
          <p:cNvPr id="3" name="Textfeld 2">
            <a:extLst>
              <a:ext uri="{FF2B5EF4-FFF2-40B4-BE49-F238E27FC236}">
                <a16:creationId xmlns:a16="http://schemas.microsoft.com/office/drawing/2014/main" id="{C0A03A56-F980-D15F-7E89-2058BDA8A19C}"/>
              </a:ext>
            </a:extLst>
          </p:cNvPr>
          <p:cNvSpPr txBox="1"/>
          <p:nvPr/>
        </p:nvSpPr>
        <p:spPr>
          <a:xfrm>
            <a:off x="3317793" y="1264187"/>
            <a:ext cx="1705710" cy="307777"/>
          </a:xfrm>
          <a:prstGeom prst="rect">
            <a:avLst/>
          </a:prstGeom>
          <a:noFill/>
        </p:spPr>
        <p:txBody>
          <a:bodyPr wrap="square" rtlCol="0">
            <a:spAutoFit/>
          </a:bodyPr>
          <a:lstStyle/>
          <a:p>
            <a:r>
              <a:rPr lang="de-CH" sz="1400" dirty="0">
                <a:latin typeface="Helvetica LT Pro Black" panose="020B0904030502020204" pitchFamily="34" charset="0"/>
              </a:rPr>
              <a:t>Meldeverfahren</a:t>
            </a:r>
          </a:p>
        </p:txBody>
      </p:sp>
      <p:sp>
        <p:nvSpPr>
          <p:cNvPr id="4" name="Textfeld 3">
            <a:extLst>
              <a:ext uri="{FF2B5EF4-FFF2-40B4-BE49-F238E27FC236}">
                <a16:creationId xmlns:a16="http://schemas.microsoft.com/office/drawing/2014/main" id="{6A3F7D33-A7EB-35EC-EAE5-B1FA2A07C050}"/>
              </a:ext>
            </a:extLst>
          </p:cNvPr>
          <p:cNvSpPr txBox="1"/>
          <p:nvPr/>
        </p:nvSpPr>
        <p:spPr>
          <a:xfrm>
            <a:off x="6204847" y="1263660"/>
            <a:ext cx="1705710" cy="523220"/>
          </a:xfrm>
          <a:prstGeom prst="rect">
            <a:avLst/>
          </a:prstGeom>
          <a:noFill/>
        </p:spPr>
        <p:txBody>
          <a:bodyPr wrap="square" rtlCol="0">
            <a:spAutoFit/>
          </a:bodyPr>
          <a:lstStyle/>
          <a:p>
            <a:r>
              <a:rPr lang="de-CH" sz="1400" dirty="0">
                <a:latin typeface="Helvetica LT Pro Black" panose="020B0904030502020204" pitchFamily="34" charset="0"/>
              </a:rPr>
              <a:t>Vereinfachte Bewilligung</a:t>
            </a:r>
          </a:p>
        </p:txBody>
      </p:sp>
      <p:sp>
        <p:nvSpPr>
          <p:cNvPr id="8" name="Textfeld 7">
            <a:extLst>
              <a:ext uri="{FF2B5EF4-FFF2-40B4-BE49-F238E27FC236}">
                <a16:creationId xmlns:a16="http://schemas.microsoft.com/office/drawing/2014/main" id="{9E0B36E3-202B-C03C-22B5-B79B5919CBEC}"/>
              </a:ext>
            </a:extLst>
          </p:cNvPr>
          <p:cNvSpPr txBox="1"/>
          <p:nvPr/>
        </p:nvSpPr>
        <p:spPr>
          <a:xfrm>
            <a:off x="9348275" y="1263660"/>
            <a:ext cx="1705710" cy="523220"/>
          </a:xfrm>
          <a:prstGeom prst="rect">
            <a:avLst/>
          </a:prstGeom>
          <a:noFill/>
        </p:spPr>
        <p:txBody>
          <a:bodyPr wrap="square" rtlCol="0">
            <a:spAutoFit/>
          </a:bodyPr>
          <a:lstStyle/>
          <a:p>
            <a:r>
              <a:rPr lang="de-CH" sz="1400" dirty="0">
                <a:latin typeface="Helvetica LT Pro Black" panose="020B0904030502020204" pitchFamily="34" charset="0"/>
              </a:rPr>
              <a:t>Ordentliche Bewilligung</a:t>
            </a:r>
          </a:p>
        </p:txBody>
      </p:sp>
      <p:sp>
        <p:nvSpPr>
          <p:cNvPr id="10" name="Textfeld 9">
            <a:extLst>
              <a:ext uri="{FF2B5EF4-FFF2-40B4-BE49-F238E27FC236}">
                <a16:creationId xmlns:a16="http://schemas.microsoft.com/office/drawing/2014/main" id="{E27002C8-AE90-83A6-5D06-A37D7A314DB6}"/>
              </a:ext>
            </a:extLst>
          </p:cNvPr>
          <p:cNvSpPr txBox="1"/>
          <p:nvPr/>
        </p:nvSpPr>
        <p:spPr>
          <a:xfrm>
            <a:off x="533288" y="1953310"/>
            <a:ext cx="2030450" cy="2123658"/>
          </a:xfrm>
          <a:prstGeom prst="rect">
            <a:avLst/>
          </a:prstGeom>
          <a:noFill/>
        </p:spPr>
        <p:txBody>
          <a:bodyPr wrap="square">
            <a:spAutoFit/>
          </a:bodyPr>
          <a:lstStyle/>
          <a:p>
            <a:r>
              <a:rPr lang="de-CH" sz="1100" dirty="0">
                <a:solidFill>
                  <a:srgbClr val="202124"/>
                </a:solidFill>
                <a:latin typeface="Google Sans"/>
              </a:rPr>
              <a:t>Vorverfahren dient der Abklärung wichtiger Baufragen (z.B. Überbaubarkeit eines Grundstücks etc.) keine umfassende baurechtliche Vorprüfung. Der Gemeinderat ist grundsätzlich an den Vorbescheid gebunden Abweichung möglich, wenn wesentliche neue Tatsachen auftreten, die vorher nicht bekannt waren</a:t>
            </a:r>
          </a:p>
        </p:txBody>
      </p:sp>
      <p:sp>
        <p:nvSpPr>
          <p:cNvPr id="11" name="Textfeld 10">
            <a:extLst>
              <a:ext uri="{FF2B5EF4-FFF2-40B4-BE49-F238E27FC236}">
                <a16:creationId xmlns:a16="http://schemas.microsoft.com/office/drawing/2014/main" id="{C2479FC3-9CF4-27CF-4DFF-B6D89993CB41}"/>
              </a:ext>
            </a:extLst>
          </p:cNvPr>
          <p:cNvSpPr txBox="1"/>
          <p:nvPr/>
        </p:nvSpPr>
        <p:spPr>
          <a:xfrm>
            <a:off x="3410162" y="1884503"/>
            <a:ext cx="2030450" cy="2292935"/>
          </a:xfrm>
          <a:prstGeom prst="rect">
            <a:avLst/>
          </a:prstGeom>
          <a:noFill/>
        </p:spPr>
        <p:txBody>
          <a:bodyPr wrap="square">
            <a:spAutoFit/>
          </a:bodyPr>
          <a:lstStyle/>
          <a:p>
            <a:r>
              <a:rPr lang="de-CH" sz="1100" dirty="0"/>
              <a:t>Es werden weder Interessen von </a:t>
            </a:r>
            <a:r>
              <a:rPr lang="de-CH" sz="1100" dirty="0" err="1"/>
              <a:t>Einspracheberechtigten</a:t>
            </a:r>
            <a:r>
              <a:rPr lang="de-CH" sz="1100" dirty="0"/>
              <a:t> noch öffentliche Interessen berührt (z.B. Gewächshaus, Hundehütte, Gartengestaltung etc.) keine Visierung, kein Anzeige- und Auflageverfahren. Bauvorhaben darf ausgeführt werden, wenn nicht innert 30 Tagen Verweis in ordentliches oder vereinfachtes Verfahren </a:t>
            </a:r>
            <a:endParaRPr lang="de-CH" sz="1100" dirty="0">
              <a:solidFill>
                <a:srgbClr val="202124"/>
              </a:solidFill>
              <a:latin typeface="Google Sans"/>
            </a:endParaRPr>
          </a:p>
        </p:txBody>
      </p:sp>
      <p:sp>
        <p:nvSpPr>
          <p:cNvPr id="12" name="Textfeld 11">
            <a:extLst>
              <a:ext uri="{FF2B5EF4-FFF2-40B4-BE49-F238E27FC236}">
                <a16:creationId xmlns:a16="http://schemas.microsoft.com/office/drawing/2014/main" id="{A67F5075-00F2-5B72-9CBA-86D2766251BF}"/>
              </a:ext>
            </a:extLst>
          </p:cNvPr>
          <p:cNvSpPr txBox="1"/>
          <p:nvPr/>
        </p:nvSpPr>
        <p:spPr>
          <a:xfrm>
            <a:off x="6287036" y="1953310"/>
            <a:ext cx="2030450" cy="2462213"/>
          </a:xfrm>
          <a:prstGeom prst="rect">
            <a:avLst/>
          </a:prstGeom>
          <a:noFill/>
        </p:spPr>
        <p:txBody>
          <a:bodyPr wrap="square">
            <a:spAutoFit/>
          </a:bodyPr>
          <a:lstStyle/>
          <a:p>
            <a:r>
              <a:rPr lang="de-CH" sz="1100" dirty="0"/>
              <a:t>Es werden keine oder nur die Interessen weniger </a:t>
            </a:r>
            <a:r>
              <a:rPr lang="de-CH" sz="1100" dirty="0" err="1"/>
              <a:t>Einspracheberechtigter</a:t>
            </a:r>
            <a:r>
              <a:rPr lang="de-CH" sz="1100" dirty="0"/>
              <a:t> berührt (z.B. Mauern, Einfriedungen, Terrainveränderungen) Es entfallen die Pflicht zur Visierung und das Auflageverfahren. Anzeigeverfahren an </a:t>
            </a:r>
            <a:r>
              <a:rPr lang="de-CH" sz="1100" dirty="0" err="1"/>
              <a:t>Einspracheberechtigte</a:t>
            </a:r>
            <a:r>
              <a:rPr lang="de-CH" sz="1100" dirty="0"/>
              <a:t>, sofern sie dem Bauvorhaben nicht unterschriftlich zugestimmt haben.</a:t>
            </a:r>
            <a:endParaRPr lang="de-CH" sz="1100" dirty="0">
              <a:solidFill>
                <a:srgbClr val="202124"/>
              </a:solidFill>
              <a:latin typeface="Google Sans"/>
            </a:endParaRPr>
          </a:p>
        </p:txBody>
      </p:sp>
    </p:spTree>
    <p:extLst>
      <p:ext uri="{BB962C8B-B14F-4D97-AF65-F5344CB8AC3E}">
        <p14:creationId xmlns:p14="http://schemas.microsoft.com/office/powerpoint/2010/main" val="3779101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Baubewilligung mit Nebenbestimmungen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A0FB9075-196E-1A46-C56A-206A0FA2645A}"/>
              </a:ext>
            </a:extLst>
          </p:cNvPr>
          <p:cNvSpPr txBox="1"/>
          <p:nvPr/>
        </p:nvSpPr>
        <p:spPr>
          <a:xfrm>
            <a:off x="514815" y="1173088"/>
            <a:ext cx="11560391" cy="646331"/>
          </a:xfrm>
          <a:prstGeom prst="rect">
            <a:avLst/>
          </a:prstGeom>
          <a:noFill/>
        </p:spPr>
        <p:txBody>
          <a:bodyPr wrap="square">
            <a:spAutoFit/>
          </a:bodyPr>
          <a:lstStyle/>
          <a:p>
            <a:r>
              <a:rPr lang="de-CH" dirty="0"/>
              <a:t>Sind die Voraussetzungen nicht vollständig erfüllt, kann eine Bewilligung unter Umständen mit Nebenbestimmungen (Bedingung, Auflage, Revers) verknüpft werden und trotzdem erteilt werden.</a:t>
            </a:r>
          </a:p>
        </p:txBody>
      </p:sp>
      <p:sp>
        <p:nvSpPr>
          <p:cNvPr id="8" name="Textfeld 7">
            <a:extLst>
              <a:ext uri="{FF2B5EF4-FFF2-40B4-BE49-F238E27FC236}">
                <a16:creationId xmlns:a16="http://schemas.microsoft.com/office/drawing/2014/main" id="{7F9E49BC-450C-CE83-AFE9-40F2AC5C1CBC}"/>
              </a:ext>
            </a:extLst>
          </p:cNvPr>
          <p:cNvSpPr txBox="1"/>
          <p:nvPr/>
        </p:nvSpPr>
        <p:spPr>
          <a:xfrm>
            <a:off x="514815" y="2133382"/>
            <a:ext cx="8321536" cy="923330"/>
          </a:xfrm>
          <a:prstGeom prst="rect">
            <a:avLst/>
          </a:prstGeom>
          <a:noFill/>
        </p:spPr>
        <p:txBody>
          <a:bodyPr wrap="square">
            <a:spAutoFit/>
          </a:bodyPr>
          <a:lstStyle/>
          <a:p>
            <a:pPr marL="342900" indent="-342900">
              <a:buAutoNum type="arabicPeriod"/>
            </a:pPr>
            <a:r>
              <a:rPr lang="de-CH" dirty="0"/>
              <a:t>Bedingungen </a:t>
            </a:r>
          </a:p>
          <a:p>
            <a:r>
              <a:rPr lang="de-CH" dirty="0"/>
              <a:t>Abbruch- und </a:t>
            </a:r>
            <a:r>
              <a:rPr lang="de-CH" dirty="0" err="1"/>
              <a:t>Ensorgungskonzept</a:t>
            </a:r>
            <a:r>
              <a:rPr lang="de-CH" dirty="0"/>
              <a:t> für </a:t>
            </a:r>
            <a:r>
              <a:rPr lang="de-CH" dirty="0" err="1"/>
              <a:t>Bestandesbau</a:t>
            </a:r>
            <a:r>
              <a:rPr lang="de-CH" dirty="0"/>
              <a:t> ist vor Baufreigabe einzureichen Baustelleninstallation ist vor Baufreigabe zu definieren</a:t>
            </a:r>
          </a:p>
        </p:txBody>
      </p:sp>
      <p:sp>
        <p:nvSpPr>
          <p:cNvPr id="10" name="Textfeld 9">
            <a:extLst>
              <a:ext uri="{FF2B5EF4-FFF2-40B4-BE49-F238E27FC236}">
                <a16:creationId xmlns:a16="http://schemas.microsoft.com/office/drawing/2014/main" id="{8A814BD9-F9AF-C773-4C91-91FD6762730E}"/>
              </a:ext>
            </a:extLst>
          </p:cNvPr>
          <p:cNvSpPr txBox="1"/>
          <p:nvPr/>
        </p:nvSpPr>
        <p:spPr>
          <a:xfrm>
            <a:off x="514815" y="3242936"/>
            <a:ext cx="9099204" cy="923330"/>
          </a:xfrm>
          <a:prstGeom prst="rect">
            <a:avLst/>
          </a:prstGeom>
          <a:noFill/>
        </p:spPr>
        <p:txBody>
          <a:bodyPr wrap="square">
            <a:spAutoFit/>
          </a:bodyPr>
          <a:lstStyle/>
          <a:p>
            <a:r>
              <a:rPr lang="de-CH" dirty="0"/>
              <a:t>2. Auflage </a:t>
            </a:r>
          </a:p>
          <a:p>
            <a:r>
              <a:rPr lang="de-CH" dirty="0"/>
              <a:t>Bereitstellen eines Spielplatzes oder von Luftschutzräumen. Ausschliessliche Nutzung als Erstwohnung</a:t>
            </a:r>
          </a:p>
        </p:txBody>
      </p:sp>
      <p:sp>
        <p:nvSpPr>
          <p:cNvPr id="12" name="Textfeld 11">
            <a:extLst>
              <a:ext uri="{FF2B5EF4-FFF2-40B4-BE49-F238E27FC236}">
                <a16:creationId xmlns:a16="http://schemas.microsoft.com/office/drawing/2014/main" id="{0D24FA03-19AF-0E82-6782-98C40E466AE7}"/>
              </a:ext>
            </a:extLst>
          </p:cNvPr>
          <p:cNvSpPr txBox="1"/>
          <p:nvPr/>
        </p:nvSpPr>
        <p:spPr>
          <a:xfrm>
            <a:off x="514814" y="4518877"/>
            <a:ext cx="9466673" cy="923330"/>
          </a:xfrm>
          <a:prstGeom prst="rect">
            <a:avLst/>
          </a:prstGeom>
          <a:noFill/>
        </p:spPr>
        <p:txBody>
          <a:bodyPr wrap="square">
            <a:spAutoFit/>
          </a:bodyPr>
          <a:lstStyle/>
          <a:p>
            <a:r>
              <a:rPr lang="de-CH" dirty="0"/>
              <a:t>3. Revers </a:t>
            </a:r>
          </a:p>
          <a:p>
            <a:r>
              <a:rPr lang="de-CH" dirty="0"/>
              <a:t>Überdachung des Einganges wird bis auf weiteres bewilligt, obschon dieser den Abstandsbereich der Strasse tangiert</a:t>
            </a:r>
          </a:p>
        </p:txBody>
      </p:sp>
    </p:spTree>
    <p:extLst>
      <p:ext uri="{BB962C8B-B14F-4D97-AF65-F5344CB8AC3E}">
        <p14:creationId xmlns:p14="http://schemas.microsoft.com/office/powerpoint/2010/main" val="7458579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Nutzungsintensität</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2934A66B-1E9B-8132-B998-4BECDD4EDCA7}"/>
              </a:ext>
            </a:extLst>
          </p:cNvPr>
          <p:cNvSpPr txBox="1"/>
          <p:nvPr/>
        </p:nvSpPr>
        <p:spPr>
          <a:xfrm>
            <a:off x="533288" y="1264188"/>
            <a:ext cx="1953538" cy="307777"/>
          </a:xfrm>
          <a:prstGeom prst="rect">
            <a:avLst/>
          </a:prstGeom>
          <a:noFill/>
        </p:spPr>
        <p:txBody>
          <a:bodyPr wrap="square" rtlCol="0">
            <a:spAutoFit/>
          </a:bodyPr>
          <a:lstStyle/>
          <a:p>
            <a:r>
              <a:rPr lang="de-CH" sz="1400" dirty="0">
                <a:latin typeface="Helvetica LT Pro Black" panose="020B0904030502020204" pitchFamily="34" charset="0"/>
              </a:rPr>
              <a:t>Ausnützungsziffer</a:t>
            </a:r>
          </a:p>
        </p:txBody>
      </p:sp>
      <p:sp>
        <p:nvSpPr>
          <p:cNvPr id="4" name="Textfeld 3">
            <a:extLst>
              <a:ext uri="{FF2B5EF4-FFF2-40B4-BE49-F238E27FC236}">
                <a16:creationId xmlns:a16="http://schemas.microsoft.com/office/drawing/2014/main" id="{3E69FBF5-FFDD-31D0-091B-D46C064DB2B7}"/>
              </a:ext>
            </a:extLst>
          </p:cNvPr>
          <p:cNvSpPr txBox="1"/>
          <p:nvPr/>
        </p:nvSpPr>
        <p:spPr>
          <a:xfrm>
            <a:off x="533288" y="1702927"/>
            <a:ext cx="2053127" cy="1277273"/>
          </a:xfrm>
          <a:prstGeom prst="rect">
            <a:avLst/>
          </a:prstGeom>
          <a:noFill/>
        </p:spPr>
        <p:txBody>
          <a:bodyPr wrap="square">
            <a:spAutoFit/>
          </a:bodyPr>
          <a:lstStyle/>
          <a:p>
            <a:r>
              <a:rPr lang="de-CH" sz="1100" dirty="0"/>
              <a:t>Die Ausnützungsziffer (AZ) ist gemäss § 9 PBV die Verhältniszahl zwischen der anrechenbaren Bruttogeschossfläche (BGF) und der anrechenbaren Landfläche (ALF)</a:t>
            </a:r>
          </a:p>
        </p:txBody>
      </p:sp>
      <p:pic>
        <p:nvPicPr>
          <p:cNvPr id="9" name="Grafik 8">
            <a:extLst>
              <a:ext uri="{FF2B5EF4-FFF2-40B4-BE49-F238E27FC236}">
                <a16:creationId xmlns:a16="http://schemas.microsoft.com/office/drawing/2014/main" id="{E0569B96-18EA-9080-C1CE-B8F483CF31EE}"/>
              </a:ext>
            </a:extLst>
          </p:cNvPr>
          <p:cNvPicPr>
            <a:picLocks noChangeAspect="1"/>
          </p:cNvPicPr>
          <p:nvPr/>
        </p:nvPicPr>
        <p:blipFill>
          <a:blip r:embed="rId4"/>
          <a:stretch>
            <a:fillRect/>
          </a:stretch>
        </p:blipFill>
        <p:spPr>
          <a:xfrm>
            <a:off x="533288" y="3398471"/>
            <a:ext cx="1758473" cy="760056"/>
          </a:xfrm>
          <a:prstGeom prst="rect">
            <a:avLst/>
          </a:prstGeom>
        </p:spPr>
      </p:pic>
      <p:sp>
        <p:nvSpPr>
          <p:cNvPr id="10" name="Textfeld 9">
            <a:extLst>
              <a:ext uri="{FF2B5EF4-FFF2-40B4-BE49-F238E27FC236}">
                <a16:creationId xmlns:a16="http://schemas.microsoft.com/office/drawing/2014/main" id="{6BBDBF56-994E-7813-6F1F-3E432F164198}"/>
              </a:ext>
            </a:extLst>
          </p:cNvPr>
          <p:cNvSpPr txBox="1"/>
          <p:nvPr/>
        </p:nvSpPr>
        <p:spPr>
          <a:xfrm>
            <a:off x="3326338" y="1264187"/>
            <a:ext cx="1953538" cy="307777"/>
          </a:xfrm>
          <a:prstGeom prst="rect">
            <a:avLst/>
          </a:prstGeom>
          <a:noFill/>
        </p:spPr>
        <p:txBody>
          <a:bodyPr wrap="square" rtlCol="0">
            <a:spAutoFit/>
          </a:bodyPr>
          <a:lstStyle/>
          <a:p>
            <a:r>
              <a:rPr lang="de-CH" sz="1400" dirty="0">
                <a:latin typeface="Helvetica LT Pro Black" panose="020B0904030502020204" pitchFamily="34" charset="0"/>
              </a:rPr>
              <a:t>Baumassenziffer</a:t>
            </a:r>
          </a:p>
        </p:txBody>
      </p:sp>
      <p:sp>
        <p:nvSpPr>
          <p:cNvPr id="12" name="Textfeld 11">
            <a:extLst>
              <a:ext uri="{FF2B5EF4-FFF2-40B4-BE49-F238E27FC236}">
                <a16:creationId xmlns:a16="http://schemas.microsoft.com/office/drawing/2014/main" id="{3B55617B-D50D-5D50-3821-1B35D15C9AB1}"/>
              </a:ext>
            </a:extLst>
          </p:cNvPr>
          <p:cNvSpPr txBox="1"/>
          <p:nvPr/>
        </p:nvSpPr>
        <p:spPr>
          <a:xfrm>
            <a:off x="3187525" y="1702927"/>
            <a:ext cx="2231164" cy="2123658"/>
          </a:xfrm>
          <a:prstGeom prst="rect">
            <a:avLst/>
          </a:prstGeom>
          <a:noFill/>
        </p:spPr>
        <p:txBody>
          <a:bodyPr wrap="square">
            <a:spAutoFit/>
          </a:bodyPr>
          <a:lstStyle/>
          <a:p>
            <a:r>
              <a:rPr lang="de-CH" sz="1100" dirty="0"/>
              <a:t>Die Baumassenziffer (BMZ) ist das Verhältnis des oberirdischen Bauvolumens zur anrechenbaren Grundstücksfläche. Als oberirdisches Bauvolumen gilt das über dem massgebenden Terrain liegende Volumen eines Baukörpers in seinen Aussenmassen, abzüglich offener (nicht allseitig geschlossener) Gebäudeteile. </a:t>
            </a:r>
          </a:p>
        </p:txBody>
      </p:sp>
      <p:pic>
        <p:nvPicPr>
          <p:cNvPr id="14" name="Grafik 13">
            <a:extLst>
              <a:ext uri="{FF2B5EF4-FFF2-40B4-BE49-F238E27FC236}">
                <a16:creationId xmlns:a16="http://schemas.microsoft.com/office/drawing/2014/main" id="{1C3FF4AB-9BE3-40C7-D429-1232C18D8264}"/>
              </a:ext>
            </a:extLst>
          </p:cNvPr>
          <p:cNvPicPr>
            <a:picLocks noChangeAspect="1"/>
          </p:cNvPicPr>
          <p:nvPr/>
        </p:nvPicPr>
        <p:blipFill>
          <a:blip r:embed="rId5"/>
          <a:stretch>
            <a:fillRect/>
          </a:stretch>
        </p:blipFill>
        <p:spPr>
          <a:xfrm>
            <a:off x="3260300" y="4148050"/>
            <a:ext cx="2085614" cy="872553"/>
          </a:xfrm>
          <a:prstGeom prst="rect">
            <a:avLst/>
          </a:prstGeom>
        </p:spPr>
      </p:pic>
      <p:sp>
        <p:nvSpPr>
          <p:cNvPr id="17" name="Textfeld 16">
            <a:extLst>
              <a:ext uri="{FF2B5EF4-FFF2-40B4-BE49-F238E27FC236}">
                <a16:creationId xmlns:a16="http://schemas.microsoft.com/office/drawing/2014/main" id="{446C558C-511F-D4A4-22AF-B2B43FFD76DC}"/>
              </a:ext>
            </a:extLst>
          </p:cNvPr>
          <p:cNvSpPr txBox="1"/>
          <p:nvPr/>
        </p:nvSpPr>
        <p:spPr>
          <a:xfrm>
            <a:off x="6019799" y="1839744"/>
            <a:ext cx="2454779" cy="2123658"/>
          </a:xfrm>
          <a:prstGeom prst="rect">
            <a:avLst/>
          </a:prstGeom>
          <a:noFill/>
        </p:spPr>
        <p:txBody>
          <a:bodyPr wrap="square">
            <a:spAutoFit/>
          </a:bodyPr>
          <a:lstStyle/>
          <a:p>
            <a:r>
              <a:rPr lang="de-CH" sz="1100" dirty="0"/>
              <a:t>Die Geschossflächenziffer (GFZ) ist das Verhältnis der Summe </a:t>
            </a:r>
            <a:r>
              <a:rPr lang="de-CH" sz="1100" b="1" dirty="0">
                <a:latin typeface="+mj-lt"/>
              </a:rPr>
              <a:t>aller Geschossflächen</a:t>
            </a:r>
            <a:r>
              <a:rPr lang="de-CH" sz="1100" dirty="0"/>
              <a:t> zur anrechenbaren Grundstücksfläche. Die Summe aller Geschossflächen GF bestehet aus folgenden Komponenten: </a:t>
            </a:r>
          </a:p>
          <a:p>
            <a:r>
              <a:rPr lang="de-CH" sz="1100" dirty="0"/>
              <a:t>- Hauptnutzflächen HNF </a:t>
            </a:r>
          </a:p>
          <a:p>
            <a:r>
              <a:rPr lang="de-CH" sz="1100" dirty="0"/>
              <a:t>- Nebennutzflächen NNF </a:t>
            </a:r>
          </a:p>
          <a:p>
            <a:r>
              <a:rPr lang="de-CH" sz="1100" dirty="0"/>
              <a:t>- Verkehrsflächen VF </a:t>
            </a:r>
          </a:p>
          <a:p>
            <a:r>
              <a:rPr lang="de-CH" sz="1100" dirty="0"/>
              <a:t>- Konstruktionsflächen KF </a:t>
            </a:r>
          </a:p>
          <a:p>
            <a:r>
              <a:rPr lang="de-CH" sz="1100" dirty="0"/>
              <a:t>- Funktionsflächen FF</a:t>
            </a:r>
          </a:p>
        </p:txBody>
      </p:sp>
      <p:sp>
        <p:nvSpPr>
          <p:cNvPr id="20" name="Textfeld 19">
            <a:extLst>
              <a:ext uri="{FF2B5EF4-FFF2-40B4-BE49-F238E27FC236}">
                <a16:creationId xmlns:a16="http://schemas.microsoft.com/office/drawing/2014/main" id="{71DCEC81-86CA-36D3-150D-19E865353AAA}"/>
              </a:ext>
            </a:extLst>
          </p:cNvPr>
          <p:cNvSpPr txBox="1"/>
          <p:nvPr/>
        </p:nvSpPr>
        <p:spPr>
          <a:xfrm>
            <a:off x="9239427" y="1261118"/>
            <a:ext cx="2053127" cy="307777"/>
          </a:xfrm>
          <a:prstGeom prst="rect">
            <a:avLst/>
          </a:prstGeom>
          <a:noFill/>
        </p:spPr>
        <p:txBody>
          <a:bodyPr wrap="square" rtlCol="0">
            <a:spAutoFit/>
          </a:bodyPr>
          <a:lstStyle/>
          <a:p>
            <a:r>
              <a:rPr lang="de-CH" sz="1400" dirty="0">
                <a:latin typeface="Helvetica LT Pro Black" panose="020B0904030502020204" pitchFamily="34" charset="0"/>
              </a:rPr>
              <a:t>Überbauungsziffer</a:t>
            </a:r>
          </a:p>
        </p:txBody>
      </p:sp>
      <p:sp>
        <p:nvSpPr>
          <p:cNvPr id="22" name="Textfeld 21">
            <a:extLst>
              <a:ext uri="{FF2B5EF4-FFF2-40B4-BE49-F238E27FC236}">
                <a16:creationId xmlns:a16="http://schemas.microsoft.com/office/drawing/2014/main" id="{5321629C-B58E-B1A6-5288-8C76BF9C8C24}"/>
              </a:ext>
            </a:extLst>
          </p:cNvPr>
          <p:cNvSpPr txBox="1"/>
          <p:nvPr/>
        </p:nvSpPr>
        <p:spPr>
          <a:xfrm>
            <a:off x="9239427" y="1760031"/>
            <a:ext cx="2161975" cy="2292935"/>
          </a:xfrm>
          <a:prstGeom prst="rect">
            <a:avLst/>
          </a:prstGeom>
          <a:noFill/>
        </p:spPr>
        <p:txBody>
          <a:bodyPr wrap="square">
            <a:spAutoFit/>
          </a:bodyPr>
          <a:lstStyle/>
          <a:p>
            <a:r>
              <a:rPr lang="de-CH" sz="1100" dirty="0"/>
              <a:t>Die Überbauungsziffer (ÜZ) ist das Verhältnis der anrechenbaren Gebäudefläche zur anrechenbaren Grundstücksfläche. Als anrechenbare Gebäudefläche gilt die Fläche innerhalb der projizierten Fassadenlinie. Die Überbauungsziffer ÜZ ist eine Flächenanteilsziffer, welche den durch die Gebäude beanspruchten Teil eines Grundstücks beschreibt</a:t>
            </a:r>
          </a:p>
        </p:txBody>
      </p:sp>
      <p:pic>
        <p:nvPicPr>
          <p:cNvPr id="24" name="Grafik 23">
            <a:extLst>
              <a:ext uri="{FF2B5EF4-FFF2-40B4-BE49-F238E27FC236}">
                <a16:creationId xmlns:a16="http://schemas.microsoft.com/office/drawing/2014/main" id="{6667307C-B6D2-900A-56FA-37EB225090EB}"/>
              </a:ext>
            </a:extLst>
          </p:cNvPr>
          <p:cNvPicPr>
            <a:picLocks noChangeAspect="1"/>
          </p:cNvPicPr>
          <p:nvPr/>
        </p:nvPicPr>
        <p:blipFill>
          <a:blip r:embed="rId6"/>
          <a:stretch>
            <a:fillRect/>
          </a:stretch>
        </p:blipFill>
        <p:spPr>
          <a:xfrm>
            <a:off x="9459846" y="4224612"/>
            <a:ext cx="2027941" cy="946373"/>
          </a:xfrm>
          <a:prstGeom prst="rect">
            <a:avLst/>
          </a:prstGeom>
        </p:spPr>
      </p:pic>
      <p:sp>
        <p:nvSpPr>
          <p:cNvPr id="25" name="Textfeld 24">
            <a:extLst>
              <a:ext uri="{FF2B5EF4-FFF2-40B4-BE49-F238E27FC236}">
                <a16:creationId xmlns:a16="http://schemas.microsoft.com/office/drawing/2014/main" id="{BBF66FC7-A1D3-4B2F-5BF2-95D37AD3E52A}"/>
              </a:ext>
            </a:extLst>
          </p:cNvPr>
          <p:cNvSpPr txBox="1"/>
          <p:nvPr/>
        </p:nvSpPr>
        <p:spPr>
          <a:xfrm>
            <a:off x="6119388" y="1261117"/>
            <a:ext cx="2355190" cy="307777"/>
          </a:xfrm>
          <a:prstGeom prst="rect">
            <a:avLst/>
          </a:prstGeom>
          <a:noFill/>
        </p:spPr>
        <p:txBody>
          <a:bodyPr wrap="square" rtlCol="0">
            <a:spAutoFit/>
          </a:bodyPr>
          <a:lstStyle/>
          <a:p>
            <a:r>
              <a:rPr lang="de-CH" sz="1400" dirty="0">
                <a:latin typeface="Helvetica LT Pro Black" panose="020B0904030502020204" pitchFamily="34" charset="0"/>
              </a:rPr>
              <a:t>Geschossflächenziffer</a:t>
            </a:r>
          </a:p>
        </p:txBody>
      </p:sp>
      <p:pic>
        <p:nvPicPr>
          <p:cNvPr id="27" name="Grafik 26">
            <a:extLst>
              <a:ext uri="{FF2B5EF4-FFF2-40B4-BE49-F238E27FC236}">
                <a16:creationId xmlns:a16="http://schemas.microsoft.com/office/drawing/2014/main" id="{6555C3EB-6E7B-79C0-7B3D-215A690936F8}"/>
              </a:ext>
            </a:extLst>
          </p:cNvPr>
          <p:cNvPicPr>
            <a:picLocks noChangeAspect="1"/>
          </p:cNvPicPr>
          <p:nvPr/>
        </p:nvPicPr>
        <p:blipFill>
          <a:blip r:embed="rId7"/>
          <a:stretch>
            <a:fillRect/>
          </a:stretch>
        </p:blipFill>
        <p:spPr>
          <a:xfrm>
            <a:off x="6190590" y="4172805"/>
            <a:ext cx="1949936" cy="847798"/>
          </a:xfrm>
          <a:prstGeom prst="rect">
            <a:avLst/>
          </a:prstGeom>
        </p:spPr>
      </p:pic>
      <p:cxnSp>
        <p:nvCxnSpPr>
          <p:cNvPr id="8" name="Verbinder: gekrümmt 7">
            <a:extLst>
              <a:ext uri="{FF2B5EF4-FFF2-40B4-BE49-F238E27FC236}">
                <a16:creationId xmlns:a16="http://schemas.microsoft.com/office/drawing/2014/main" id="{09DCA2AF-C2F3-3FF5-D879-8CE978EB0CAF}"/>
              </a:ext>
            </a:extLst>
          </p:cNvPr>
          <p:cNvCxnSpPr>
            <a:cxnSpLocks/>
          </p:cNvCxnSpPr>
          <p:nvPr/>
        </p:nvCxnSpPr>
        <p:spPr>
          <a:xfrm>
            <a:off x="1346972" y="4528106"/>
            <a:ext cx="7865807" cy="854624"/>
          </a:xfrm>
          <a:prstGeom prst="curvedConnector3">
            <a:avLst>
              <a:gd name="adj1" fmla="val 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78242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Zonen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3" name="Grafik 2">
            <a:extLst>
              <a:ext uri="{FF2B5EF4-FFF2-40B4-BE49-F238E27FC236}">
                <a16:creationId xmlns:a16="http://schemas.microsoft.com/office/drawing/2014/main" id="{6D0F4B8A-D0AC-8005-DB73-0D6F636B9843}"/>
              </a:ext>
            </a:extLst>
          </p:cNvPr>
          <p:cNvPicPr>
            <a:picLocks noChangeAspect="1"/>
          </p:cNvPicPr>
          <p:nvPr/>
        </p:nvPicPr>
        <p:blipFill>
          <a:blip r:embed="rId4"/>
          <a:stretch>
            <a:fillRect/>
          </a:stretch>
        </p:blipFill>
        <p:spPr>
          <a:xfrm>
            <a:off x="514816" y="1133311"/>
            <a:ext cx="5906324" cy="3543795"/>
          </a:xfrm>
          <a:prstGeom prst="rect">
            <a:avLst/>
          </a:prstGeom>
        </p:spPr>
      </p:pic>
      <p:sp>
        <p:nvSpPr>
          <p:cNvPr id="8" name="Textfeld 7">
            <a:extLst>
              <a:ext uri="{FF2B5EF4-FFF2-40B4-BE49-F238E27FC236}">
                <a16:creationId xmlns:a16="http://schemas.microsoft.com/office/drawing/2014/main" id="{54097260-C852-E3A9-A752-646230B526B3}"/>
              </a:ext>
            </a:extLst>
          </p:cNvPr>
          <p:cNvSpPr txBox="1"/>
          <p:nvPr/>
        </p:nvSpPr>
        <p:spPr>
          <a:xfrm>
            <a:off x="6994124" y="1218015"/>
            <a:ext cx="3372284" cy="1754326"/>
          </a:xfrm>
          <a:prstGeom prst="rect">
            <a:avLst/>
          </a:prstGeom>
          <a:noFill/>
        </p:spPr>
        <p:txBody>
          <a:bodyPr wrap="square">
            <a:spAutoFit/>
          </a:bodyPr>
          <a:lstStyle/>
          <a:p>
            <a:r>
              <a:rPr lang="de-CH" dirty="0"/>
              <a:t>Art. 14 RPG: Begriff 1 Nutzungspläne ordnen die zulässige Nutzung des Bodens. 2 Sie unterscheiden vorab Bau-, Landwirtschafts- und Schutzzonen</a:t>
            </a:r>
          </a:p>
        </p:txBody>
      </p:sp>
      <p:sp>
        <p:nvSpPr>
          <p:cNvPr id="10" name="Textfeld 9">
            <a:extLst>
              <a:ext uri="{FF2B5EF4-FFF2-40B4-BE49-F238E27FC236}">
                <a16:creationId xmlns:a16="http://schemas.microsoft.com/office/drawing/2014/main" id="{428FF8F6-9EC6-4712-4164-2A762EF0C11E}"/>
              </a:ext>
            </a:extLst>
          </p:cNvPr>
          <p:cNvSpPr txBox="1"/>
          <p:nvPr/>
        </p:nvSpPr>
        <p:spPr>
          <a:xfrm>
            <a:off x="6994124" y="3564695"/>
            <a:ext cx="3574278" cy="1200329"/>
          </a:xfrm>
          <a:prstGeom prst="rect">
            <a:avLst/>
          </a:prstGeom>
          <a:noFill/>
        </p:spPr>
        <p:txBody>
          <a:bodyPr wrap="square">
            <a:spAutoFit/>
          </a:bodyPr>
          <a:lstStyle/>
          <a:p>
            <a:r>
              <a:rPr lang="de-CH" dirty="0"/>
              <a:t>Handelt es sich um eine Wohnzone W2, heisst das, dass zwei Vollgeschosse gebaut werden dürfen.</a:t>
            </a:r>
          </a:p>
        </p:txBody>
      </p:sp>
    </p:spTree>
    <p:extLst>
      <p:ext uri="{BB962C8B-B14F-4D97-AF65-F5344CB8AC3E}">
        <p14:creationId xmlns:p14="http://schemas.microsoft.com/office/powerpoint/2010/main" val="41995526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Bauprozess</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3" name="Grafik 2">
            <a:extLst>
              <a:ext uri="{FF2B5EF4-FFF2-40B4-BE49-F238E27FC236}">
                <a16:creationId xmlns:a16="http://schemas.microsoft.com/office/drawing/2014/main" id="{5BD447B0-8AEA-41A7-5AB7-4DD2B1C538CB}"/>
              </a:ext>
            </a:extLst>
          </p:cNvPr>
          <p:cNvPicPr>
            <a:picLocks noChangeAspect="1"/>
          </p:cNvPicPr>
          <p:nvPr/>
        </p:nvPicPr>
        <p:blipFill>
          <a:blip r:embed="rId4"/>
          <a:stretch>
            <a:fillRect/>
          </a:stretch>
        </p:blipFill>
        <p:spPr>
          <a:xfrm>
            <a:off x="585018" y="1833340"/>
            <a:ext cx="11021963" cy="3191320"/>
          </a:xfrm>
          <a:prstGeom prst="rect">
            <a:avLst/>
          </a:prstGeom>
        </p:spPr>
      </p:pic>
    </p:spTree>
    <p:extLst>
      <p:ext uri="{BB962C8B-B14F-4D97-AF65-F5344CB8AC3E}">
        <p14:creationId xmlns:p14="http://schemas.microsoft.com/office/powerpoint/2010/main" val="27730105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Energetische Begriffe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7E67F454-B40B-0C5B-27D1-067CDDF6A672}"/>
              </a:ext>
            </a:extLst>
          </p:cNvPr>
          <p:cNvSpPr txBox="1"/>
          <p:nvPr/>
        </p:nvSpPr>
        <p:spPr>
          <a:xfrm>
            <a:off x="533288" y="1264188"/>
            <a:ext cx="1953538" cy="307777"/>
          </a:xfrm>
          <a:prstGeom prst="rect">
            <a:avLst/>
          </a:prstGeom>
          <a:noFill/>
        </p:spPr>
        <p:txBody>
          <a:bodyPr wrap="square" rtlCol="0">
            <a:spAutoFit/>
          </a:bodyPr>
          <a:lstStyle/>
          <a:p>
            <a:r>
              <a:rPr lang="de-CH" sz="1400" dirty="0">
                <a:latin typeface="Helvetica LT Pro Black" panose="020B0904030502020204" pitchFamily="34" charset="0"/>
              </a:rPr>
              <a:t>U-Wert</a:t>
            </a:r>
          </a:p>
        </p:txBody>
      </p:sp>
      <p:sp>
        <p:nvSpPr>
          <p:cNvPr id="3" name="Textfeld 2">
            <a:extLst>
              <a:ext uri="{FF2B5EF4-FFF2-40B4-BE49-F238E27FC236}">
                <a16:creationId xmlns:a16="http://schemas.microsoft.com/office/drawing/2014/main" id="{C97752DD-7BAC-66BF-6AF1-5C57ED4F19BA}"/>
              </a:ext>
            </a:extLst>
          </p:cNvPr>
          <p:cNvSpPr txBox="1"/>
          <p:nvPr/>
        </p:nvSpPr>
        <p:spPr>
          <a:xfrm>
            <a:off x="533288" y="1702927"/>
            <a:ext cx="2053127" cy="2462213"/>
          </a:xfrm>
          <a:prstGeom prst="rect">
            <a:avLst/>
          </a:prstGeom>
          <a:noFill/>
        </p:spPr>
        <p:txBody>
          <a:bodyPr wrap="square">
            <a:spAutoFit/>
          </a:bodyPr>
          <a:lstStyle/>
          <a:p>
            <a:r>
              <a:rPr lang="de-CH" sz="1100" dirty="0"/>
              <a:t>Der Wärmedurchgangskoeffizient ist ein Maß für den Wärmedurchgang durch einen festen Körper von einem Fluid in ein zweites Fluid aufgrund eines Temperaturunterschiedes zwischen den Fluiden. Im Fall einer ebenen Wand gibt er den Wärmestrom je Fläche der Wand und je Kelvin Temperaturunterschied der beiden Fluide an.</a:t>
            </a:r>
          </a:p>
        </p:txBody>
      </p:sp>
      <p:pic>
        <p:nvPicPr>
          <p:cNvPr id="8" name="Grafik 7">
            <a:extLst>
              <a:ext uri="{FF2B5EF4-FFF2-40B4-BE49-F238E27FC236}">
                <a16:creationId xmlns:a16="http://schemas.microsoft.com/office/drawing/2014/main" id="{CBD024BA-8817-E06E-FF3B-5E257439EC8F}"/>
              </a:ext>
            </a:extLst>
          </p:cNvPr>
          <p:cNvPicPr>
            <a:picLocks noChangeAspect="1"/>
          </p:cNvPicPr>
          <p:nvPr/>
        </p:nvPicPr>
        <p:blipFill>
          <a:blip r:embed="rId4"/>
          <a:stretch>
            <a:fillRect/>
          </a:stretch>
        </p:blipFill>
        <p:spPr>
          <a:xfrm>
            <a:off x="514816" y="4513810"/>
            <a:ext cx="1886213" cy="1190791"/>
          </a:xfrm>
          <a:prstGeom prst="rect">
            <a:avLst/>
          </a:prstGeom>
        </p:spPr>
      </p:pic>
      <p:sp>
        <p:nvSpPr>
          <p:cNvPr id="9" name="Textfeld 8">
            <a:extLst>
              <a:ext uri="{FF2B5EF4-FFF2-40B4-BE49-F238E27FC236}">
                <a16:creationId xmlns:a16="http://schemas.microsoft.com/office/drawing/2014/main" id="{56050370-FCC8-668B-ADE6-6FEF7666BE22}"/>
              </a:ext>
            </a:extLst>
          </p:cNvPr>
          <p:cNvSpPr txBox="1"/>
          <p:nvPr/>
        </p:nvSpPr>
        <p:spPr>
          <a:xfrm>
            <a:off x="3273583" y="1207795"/>
            <a:ext cx="1953538" cy="307777"/>
          </a:xfrm>
          <a:prstGeom prst="rect">
            <a:avLst/>
          </a:prstGeom>
          <a:noFill/>
        </p:spPr>
        <p:txBody>
          <a:bodyPr wrap="square" rtlCol="0">
            <a:spAutoFit/>
          </a:bodyPr>
          <a:lstStyle/>
          <a:p>
            <a:r>
              <a:rPr lang="de-CH" sz="1400" dirty="0">
                <a:latin typeface="Helvetica LT Pro Black" panose="020B0904030502020204" pitchFamily="34" charset="0"/>
              </a:rPr>
              <a:t>G-Wert</a:t>
            </a:r>
          </a:p>
        </p:txBody>
      </p:sp>
      <p:sp>
        <p:nvSpPr>
          <p:cNvPr id="10" name="Textfeld 9">
            <a:extLst>
              <a:ext uri="{FF2B5EF4-FFF2-40B4-BE49-F238E27FC236}">
                <a16:creationId xmlns:a16="http://schemas.microsoft.com/office/drawing/2014/main" id="{028776DC-3F7D-A78D-1918-D9BE710220B2}"/>
              </a:ext>
            </a:extLst>
          </p:cNvPr>
          <p:cNvSpPr txBox="1"/>
          <p:nvPr/>
        </p:nvSpPr>
        <p:spPr>
          <a:xfrm>
            <a:off x="3223789" y="1698437"/>
            <a:ext cx="2053127" cy="2462213"/>
          </a:xfrm>
          <a:prstGeom prst="rect">
            <a:avLst/>
          </a:prstGeom>
          <a:noFill/>
        </p:spPr>
        <p:txBody>
          <a:bodyPr wrap="square">
            <a:spAutoFit/>
          </a:bodyPr>
          <a:lstStyle/>
          <a:p>
            <a:r>
              <a:rPr lang="de-CH" sz="1100" dirty="0"/>
              <a:t>Der Gesamtenergiedurchlassgrad, kurz </a:t>
            </a:r>
            <a:r>
              <a:rPr lang="de-CH" sz="1100" dirty="0" err="1"/>
              <a:t>gWert</a:t>
            </a:r>
            <a:r>
              <a:rPr lang="de-CH" sz="1100" dirty="0"/>
              <a:t> genannt, erfasst die Energiedurchlässigkeit eines transparenten Bauteils, wie etwa einer Verglasung. Er setzt sich zusammen aus der direkt durchgelassenen Sonnenstrahlung und der sekundären Wärmeabgabe, die vom Glas nach innen durch Abstrahlung und Konvektion erfolgt.</a:t>
            </a:r>
          </a:p>
        </p:txBody>
      </p:sp>
      <p:pic>
        <p:nvPicPr>
          <p:cNvPr id="12" name="Grafik 11">
            <a:extLst>
              <a:ext uri="{FF2B5EF4-FFF2-40B4-BE49-F238E27FC236}">
                <a16:creationId xmlns:a16="http://schemas.microsoft.com/office/drawing/2014/main" id="{10F39281-25A0-16A3-6DB4-1D3A0C41FADF}"/>
              </a:ext>
            </a:extLst>
          </p:cNvPr>
          <p:cNvPicPr>
            <a:picLocks noChangeAspect="1"/>
          </p:cNvPicPr>
          <p:nvPr/>
        </p:nvPicPr>
        <p:blipFill>
          <a:blip r:embed="rId5"/>
          <a:stretch>
            <a:fillRect/>
          </a:stretch>
        </p:blipFill>
        <p:spPr>
          <a:xfrm>
            <a:off x="3390703" y="4446975"/>
            <a:ext cx="1886213" cy="1324460"/>
          </a:xfrm>
          <a:prstGeom prst="rect">
            <a:avLst/>
          </a:prstGeom>
        </p:spPr>
      </p:pic>
      <p:sp>
        <p:nvSpPr>
          <p:cNvPr id="13" name="Textfeld 12">
            <a:extLst>
              <a:ext uri="{FF2B5EF4-FFF2-40B4-BE49-F238E27FC236}">
                <a16:creationId xmlns:a16="http://schemas.microsoft.com/office/drawing/2014/main" id="{CC9F9E3C-FCD1-98C9-C5A8-A6C875B72616}"/>
              </a:ext>
            </a:extLst>
          </p:cNvPr>
          <p:cNvSpPr txBox="1"/>
          <p:nvPr/>
        </p:nvSpPr>
        <p:spPr>
          <a:xfrm>
            <a:off x="5861534" y="1207794"/>
            <a:ext cx="1953538" cy="307777"/>
          </a:xfrm>
          <a:prstGeom prst="rect">
            <a:avLst/>
          </a:prstGeom>
          <a:noFill/>
        </p:spPr>
        <p:txBody>
          <a:bodyPr wrap="square" rtlCol="0">
            <a:spAutoFit/>
          </a:bodyPr>
          <a:lstStyle/>
          <a:p>
            <a:r>
              <a:rPr lang="de-CH" sz="1400" dirty="0">
                <a:latin typeface="Helvetica LT Pro Black" panose="020B0904030502020204" pitchFamily="34" charset="0"/>
              </a:rPr>
              <a:t>GEAK</a:t>
            </a:r>
          </a:p>
        </p:txBody>
      </p:sp>
      <p:sp>
        <p:nvSpPr>
          <p:cNvPr id="14" name="Textfeld 13">
            <a:extLst>
              <a:ext uri="{FF2B5EF4-FFF2-40B4-BE49-F238E27FC236}">
                <a16:creationId xmlns:a16="http://schemas.microsoft.com/office/drawing/2014/main" id="{D1D5C1E1-2EE2-0800-8A1D-32D58DA9A487}"/>
              </a:ext>
            </a:extLst>
          </p:cNvPr>
          <p:cNvSpPr txBox="1"/>
          <p:nvPr/>
        </p:nvSpPr>
        <p:spPr>
          <a:xfrm>
            <a:off x="5858475" y="1744255"/>
            <a:ext cx="2053127" cy="3816429"/>
          </a:xfrm>
          <a:prstGeom prst="rect">
            <a:avLst/>
          </a:prstGeom>
          <a:noFill/>
        </p:spPr>
        <p:txBody>
          <a:bodyPr wrap="square">
            <a:spAutoFit/>
          </a:bodyPr>
          <a:lstStyle/>
          <a:p>
            <a:r>
              <a:rPr lang="de-CH" sz="1100" dirty="0"/>
              <a:t>Der Gebäudeenergieausweis der Kantone – kurz GEAK genannt – ist das schweizweit beste Bewertungs- und Beratungsinstrument für Gebäude. Der dreisprachige GEAK wird von allen Kantonen anerkannt und darf nur von zertifizierten Experten ausgestellt werden. Er zeigt zum einen, wie energieeffizient die Gebäudehülle ist, und zum anderen, wieviel Energie ein Gebäude bei einer Standardnutzung benötigt. Der ermittelte Energiebedarf wird jeweils in Klassen von A (sehr energieeffizient) bis G (wenig energieeffizient) auf der Energieetikette angezeigt.</a:t>
            </a:r>
          </a:p>
        </p:txBody>
      </p:sp>
      <p:sp>
        <p:nvSpPr>
          <p:cNvPr id="15" name="Textfeld 14">
            <a:extLst>
              <a:ext uri="{FF2B5EF4-FFF2-40B4-BE49-F238E27FC236}">
                <a16:creationId xmlns:a16="http://schemas.microsoft.com/office/drawing/2014/main" id="{1984CC58-D308-B11B-6A4D-9A6D7A015490}"/>
              </a:ext>
            </a:extLst>
          </p:cNvPr>
          <p:cNvSpPr txBox="1"/>
          <p:nvPr/>
        </p:nvSpPr>
        <p:spPr>
          <a:xfrm>
            <a:off x="8569127" y="1207794"/>
            <a:ext cx="1953538" cy="307777"/>
          </a:xfrm>
          <a:prstGeom prst="rect">
            <a:avLst/>
          </a:prstGeom>
          <a:noFill/>
        </p:spPr>
        <p:txBody>
          <a:bodyPr wrap="square" rtlCol="0">
            <a:spAutoFit/>
          </a:bodyPr>
          <a:lstStyle/>
          <a:p>
            <a:r>
              <a:rPr lang="de-CH" sz="1400" dirty="0">
                <a:latin typeface="Helvetica LT Pro Black" panose="020B0904030502020204" pitchFamily="34" charset="0"/>
              </a:rPr>
              <a:t>Minergie</a:t>
            </a:r>
          </a:p>
        </p:txBody>
      </p:sp>
      <p:sp>
        <p:nvSpPr>
          <p:cNvPr id="17" name="Textfeld 16">
            <a:extLst>
              <a:ext uri="{FF2B5EF4-FFF2-40B4-BE49-F238E27FC236}">
                <a16:creationId xmlns:a16="http://schemas.microsoft.com/office/drawing/2014/main" id="{B35A04A0-DB35-A257-3994-C49CEA9B6A3D}"/>
              </a:ext>
            </a:extLst>
          </p:cNvPr>
          <p:cNvSpPr txBox="1"/>
          <p:nvPr/>
        </p:nvSpPr>
        <p:spPr>
          <a:xfrm>
            <a:off x="8326751" y="1744255"/>
            <a:ext cx="3865249" cy="1107996"/>
          </a:xfrm>
          <a:prstGeom prst="rect">
            <a:avLst/>
          </a:prstGeom>
          <a:noFill/>
        </p:spPr>
        <p:txBody>
          <a:bodyPr wrap="square">
            <a:spAutoFit/>
          </a:bodyPr>
          <a:lstStyle/>
          <a:p>
            <a:r>
              <a:rPr lang="de-CH" sz="1100" dirty="0"/>
              <a:t>MINERGIE ist eine geschützte Marke für nachhaltiges Bauen. Sie gehört dem Verein Minergie mit Sitz in Bern. Der Verein betreibt die Zertifizierung und das Marketing dieses Labels. Die nationalen Markenrechte erstrecken sich auf die Schweiz, Liechtenstein, Deutschland und Japan und sind beim DPMA registriert.</a:t>
            </a:r>
          </a:p>
        </p:txBody>
      </p:sp>
      <p:pic>
        <p:nvPicPr>
          <p:cNvPr id="19" name="Grafik 18">
            <a:extLst>
              <a:ext uri="{FF2B5EF4-FFF2-40B4-BE49-F238E27FC236}">
                <a16:creationId xmlns:a16="http://schemas.microsoft.com/office/drawing/2014/main" id="{1F6A880C-F80B-8E3A-E60E-607A72C43CEC}"/>
              </a:ext>
            </a:extLst>
          </p:cNvPr>
          <p:cNvPicPr>
            <a:picLocks noChangeAspect="1"/>
          </p:cNvPicPr>
          <p:nvPr/>
        </p:nvPicPr>
        <p:blipFill>
          <a:blip r:embed="rId6"/>
          <a:stretch>
            <a:fillRect/>
          </a:stretch>
        </p:blipFill>
        <p:spPr>
          <a:xfrm>
            <a:off x="8023378" y="2939753"/>
            <a:ext cx="4168621" cy="2941872"/>
          </a:xfrm>
          <a:prstGeom prst="rect">
            <a:avLst/>
          </a:prstGeom>
        </p:spPr>
      </p:pic>
    </p:spTree>
    <p:extLst>
      <p:ext uri="{BB962C8B-B14F-4D97-AF65-F5344CB8AC3E}">
        <p14:creationId xmlns:p14="http://schemas.microsoft.com/office/powerpoint/2010/main" val="27303774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Normale vs. Übermässige Abnutzung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8834CF47-CD42-98D8-96ED-8F8D8D4D8806}"/>
              </a:ext>
            </a:extLst>
          </p:cNvPr>
          <p:cNvSpPr txBox="1"/>
          <p:nvPr/>
        </p:nvSpPr>
        <p:spPr>
          <a:xfrm>
            <a:off x="506270" y="1918971"/>
            <a:ext cx="2459120" cy="3231654"/>
          </a:xfrm>
          <a:prstGeom prst="rect">
            <a:avLst/>
          </a:prstGeom>
          <a:noFill/>
        </p:spPr>
        <p:txBody>
          <a:bodyPr wrap="square">
            <a:spAutoFit/>
          </a:bodyPr>
          <a:lstStyle/>
          <a:p>
            <a:r>
              <a:rPr lang="de-CH" sz="1200" dirty="0"/>
              <a:t>Grundsätzlich muss der Vermieter Reparaturen oder den Ersatz von kaputten Gegenständen übernehmen. Liegt eine übermässige Abnützung durch den Mieter vor, werden die Kosten für die Instandstellung zwischen den Mietparteien aufgeteilt. Mieter müssen dann nur noch für den sogenannten Zeit- oder Restwert eines Gegenstands aufkommen. Um diesen Restwert zu ermitteln, zieht man von der Lebensdauer des Gegenstandes das tatsächliche Alter des Gegenstandes ab.</a:t>
            </a:r>
          </a:p>
        </p:txBody>
      </p:sp>
      <p:sp>
        <p:nvSpPr>
          <p:cNvPr id="4" name="Textfeld 3">
            <a:extLst>
              <a:ext uri="{FF2B5EF4-FFF2-40B4-BE49-F238E27FC236}">
                <a16:creationId xmlns:a16="http://schemas.microsoft.com/office/drawing/2014/main" id="{43D52DD5-635C-6F70-8468-1A5A449CD0D4}"/>
              </a:ext>
            </a:extLst>
          </p:cNvPr>
          <p:cNvSpPr txBox="1"/>
          <p:nvPr/>
        </p:nvSpPr>
        <p:spPr>
          <a:xfrm>
            <a:off x="4737819" y="1238551"/>
            <a:ext cx="2459120" cy="523220"/>
          </a:xfrm>
          <a:prstGeom prst="rect">
            <a:avLst/>
          </a:prstGeom>
          <a:noFill/>
        </p:spPr>
        <p:txBody>
          <a:bodyPr wrap="square" rtlCol="0">
            <a:spAutoFit/>
          </a:bodyPr>
          <a:lstStyle/>
          <a:p>
            <a:r>
              <a:rPr lang="de-CH" sz="1400" dirty="0">
                <a:latin typeface="Helvetica LT Pro Black" panose="020B0904030502020204" pitchFamily="34" charset="0"/>
              </a:rPr>
              <a:t>Paritätische Lebensdauertabelle</a:t>
            </a:r>
          </a:p>
        </p:txBody>
      </p:sp>
      <p:sp>
        <p:nvSpPr>
          <p:cNvPr id="8" name="Textfeld 7">
            <a:extLst>
              <a:ext uri="{FF2B5EF4-FFF2-40B4-BE49-F238E27FC236}">
                <a16:creationId xmlns:a16="http://schemas.microsoft.com/office/drawing/2014/main" id="{E2D6E01D-A4E7-B855-F261-53EE275BEAA7}"/>
              </a:ext>
            </a:extLst>
          </p:cNvPr>
          <p:cNvSpPr txBox="1"/>
          <p:nvPr/>
        </p:nvSpPr>
        <p:spPr>
          <a:xfrm>
            <a:off x="514816" y="1238551"/>
            <a:ext cx="2459120" cy="307777"/>
          </a:xfrm>
          <a:prstGeom prst="rect">
            <a:avLst/>
          </a:prstGeom>
          <a:noFill/>
        </p:spPr>
        <p:txBody>
          <a:bodyPr wrap="square" rtlCol="0">
            <a:spAutoFit/>
          </a:bodyPr>
          <a:lstStyle/>
          <a:p>
            <a:r>
              <a:rPr lang="de-CH" sz="1400" dirty="0">
                <a:latin typeface="Helvetica LT Pro Black" panose="020B0904030502020204" pitchFamily="34" charset="0"/>
              </a:rPr>
              <a:t>Definition</a:t>
            </a:r>
          </a:p>
        </p:txBody>
      </p:sp>
      <p:sp>
        <p:nvSpPr>
          <p:cNvPr id="10" name="Textfeld 9">
            <a:extLst>
              <a:ext uri="{FF2B5EF4-FFF2-40B4-BE49-F238E27FC236}">
                <a16:creationId xmlns:a16="http://schemas.microsoft.com/office/drawing/2014/main" id="{B938C2A8-113F-0698-9A23-7B6982D57AE4}"/>
              </a:ext>
            </a:extLst>
          </p:cNvPr>
          <p:cNvSpPr txBox="1"/>
          <p:nvPr/>
        </p:nvSpPr>
        <p:spPr>
          <a:xfrm>
            <a:off x="4737819" y="1999306"/>
            <a:ext cx="4773650" cy="1015663"/>
          </a:xfrm>
          <a:prstGeom prst="rect">
            <a:avLst/>
          </a:prstGeom>
          <a:noFill/>
        </p:spPr>
        <p:txBody>
          <a:bodyPr wrap="square">
            <a:spAutoFit/>
          </a:bodyPr>
          <a:lstStyle/>
          <a:p>
            <a:r>
              <a:rPr lang="de-CH" sz="1200" dirty="0"/>
              <a:t>Die paritätische Lebensdauertabelle wurde gemeinsam vom Mieterinnen- und Mieterverband (MV) und dem Hauseigentümerverband (HEV) erarbeitet und wird von allen wichtigen Verbänden der Immobilien- und Versicherungsbranche zur Anwendung empfohlen. </a:t>
            </a:r>
          </a:p>
        </p:txBody>
      </p:sp>
      <p:sp>
        <p:nvSpPr>
          <p:cNvPr id="12" name="Textfeld 11">
            <a:extLst>
              <a:ext uri="{FF2B5EF4-FFF2-40B4-BE49-F238E27FC236}">
                <a16:creationId xmlns:a16="http://schemas.microsoft.com/office/drawing/2014/main" id="{345B6F33-2F34-9BEA-76C2-256C74F85E32}"/>
              </a:ext>
            </a:extLst>
          </p:cNvPr>
          <p:cNvSpPr txBox="1"/>
          <p:nvPr/>
        </p:nvSpPr>
        <p:spPr>
          <a:xfrm>
            <a:off x="4737819" y="3415078"/>
            <a:ext cx="5341356" cy="1384995"/>
          </a:xfrm>
          <a:prstGeom prst="rect">
            <a:avLst/>
          </a:prstGeom>
          <a:noFill/>
        </p:spPr>
        <p:txBody>
          <a:bodyPr wrap="square">
            <a:spAutoFit/>
          </a:bodyPr>
          <a:lstStyle/>
          <a:p>
            <a:r>
              <a:rPr lang="de-CH" sz="1200" dirty="0"/>
              <a:t>Die Tabelle enthält Richtlinien für die voraussichtliche Lebensdauer verschiedener Einrichtungen in Wohn- und Geschäftsräumen. Die angegebene Lebensdauer basiert jeweils auf Durchschnittswerten für mittlere Material- und Arbeitsqualitäten bei normaler, durchschnittlicher Beanspruchung durch die Mieterschaft. Sofern eine </a:t>
            </a:r>
            <a:r>
              <a:rPr lang="de-CH" sz="1200" dirty="0" err="1"/>
              <a:t>überrmässige</a:t>
            </a:r>
            <a:r>
              <a:rPr lang="de-CH" sz="1200" dirty="0"/>
              <a:t> Abnützung vorliegt, werden Instandstellungskosten zwischen den Mietparteien aufgrund der angegebenen Lebensdauer aufgeteilt</a:t>
            </a:r>
          </a:p>
        </p:txBody>
      </p:sp>
    </p:spTree>
    <p:extLst>
      <p:ext uri="{BB962C8B-B14F-4D97-AF65-F5344CB8AC3E}">
        <p14:creationId xmlns:p14="http://schemas.microsoft.com/office/powerpoint/2010/main" val="34807246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Mietzinserhöhung nach Sanierung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3" name="Textfeld 2">
            <a:extLst>
              <a:ext uri="{FF2B5EF4-FFF2-40B4-BE49-F238E27FC236}">
                <a16:creationId xmlns:a16="http://schemas.microsoft.com/office/drawing/2014/main" id="{77401ECE-9F8A-475C-5C66-E097A520A7FB}"/>
              </a:ext>
            </a:extLst>
          </p:cNvPr>
          <p:cNvSpPr txBox="1"/>
          <p:nvPr/>
        </p:nvSpPr>
        <p:spPr>
          <a:xfrm>
            <a:off x="514816" y="1168066"/>
            <a:ext cx="6082537" cy="2492990"/>
          </a:xfrm>
          <a:prstGeom prst="rect">
            <a:avLst/>
          </a:prstGeom>
          <a:noFill/>
        </p:spPr>
        <p:txBody>
          <a:bodyPr wrap="square">
            <a:spAutoFit/>
          </a:bodyPr>
          <a:lstStyle/>
          <a:p>
            <a:r>
              <a:rPr lang="de-CH" sz="1200" dirty="0"/>
              <a:t>Gemäss Art. 269a </a:t>
            </a:r>
            <a:r>
              <a:rPr lang="de-CH" sz="1200" dirty="0" err="1"/>
              <a:t>lit</a:t>
            </a:r>
            <a:r>
              <a:rPr lang="de-CH" sz="1200" dirty="0"/>
              <a:t>. b OR sind Mietzinserhöhungen nicht missbräuchlich, wenn sie durch Mehrleistungen der Vermieterin gerechtfertigt sind. Solche können in einer Vergrösserung der Mietsache oder in wertvermehrenden Investitionen bestehen. Das Ausmass der zulässigen Mietzinserhöhung hängt ab von den Kosten der Investition, von deren Lebensdauer und von den mutmasslichen Verzinsungs- und Unterhaltskosten während der Lebensdauer. Für die Bestimmung der Lebensdauer gibt es eine gemeinsam vom Hauseigentümer- und vom Mieterverband entwickelte Lebensdauertabelle. Wird eine schon vorhandene Installation durch eine neue, bessere ersetzt, muss zudem bestimmt werden, welcher Anteil der Investition zu einer Verbesserung führt (wertvermehrender Anteil). Bei umfassenden Renovationen legt Art. 14 Abs. 1 VMWG den wertvermehrenden Anteil auf 50-70 % der Investition fest (s. dazu Urteile des Bundesgerichts 4C.287/2001 v. 26.3.2002 E. 3; 4A_530/2012 v. 17.12.2012 E. 3.2). </a:t>
            </a:r>
          </a:p>
        </p:txBody>
      </p:sp>
      <p:sp>
        <p:nvSpPr>
          <p:cNvPr id="8" name="Textfeld 7">
            <a:extLst>
              <a:ext uri="{FF2B5EF4-FFF2-40B4-BE49-F238E27FC236}">
                <a16:creationId xmlns:a16="http://schemas.microsoft.com/office/drawing/2014/main" id="{92348A2F-6747-EEAD-E1B3-96D0336D9E51}"/>
              </a:ext>
            </a:extLst>
          </p:cNvPr>
          <p:cNvSpPr txBox="1"/>
          <p:nvPr/>
        </p:nvSpPr>
        <p:spPr>
          <a:xfrm>
            <a:off x="476608" y="3932098"/>
            <a:ext cx="6330365" cy="1384995"/>
          </a:xfrm>
          <a:prstGeom prst="rect">
            <a:avLst/>
          </a:prstGeom>
          <a:noFill/>
        </p:spPr>
        <p:txBody>
          <a:bodyPr wrap="square">
            <a:spAutoFit/>
          </a:bodyPr>
          <a:lstStyle/>
          <a:p>
            <a:r>
              <a:rPr lang="de-CH" sz="1200" dirty="0"/>
              <a:t>Zur Verzinsung der Investition wird der aktuelle Referenzzinssatz verwendet und um 2 Prozent erhöht. Der Zinssatz entspricht damit der Eigenkapitalrendite, welche im Mietrecht gerade noch als zulässig erachtet wird. Er muss bei der Berechnung durch 2 geteilt werden, da mit fortschreitender Abschreibung das noch zu verzinsende investierte Kapital abnimmt. Für den Unterhaltsbedarf wird ein Prozent der Investition pro Jahr einberechnet. Die Mietzinserhöhung darf erst angezeigt werden, wenn die Arbeiten ausgeführt sind und die sachdienlichen Belege vorliegen (Art. 14 Abs. 3 VMWG).</a:t>
            </a:r>
          </a:p>
        </p:txBody>
      </p:sp>
      <p:pic>
        <p:nvPicPr>
          <p:cNvPr id="10" name="Grafik 9">
            <a:extLst>
              <a:ext uri="{FF2B5EF4-FFF2-40B4-BE49-F238E27FC236}">
                <a16:creationId xmlns:a16="http://schemas.microsoft.com/office/drawing/2014/main" id="{1DAB3C92-F870-EF60-4595-E5C7BCDA87AB}"/>
              </a:ext>
            </a:extLst>
          </p:cNvPr>
          <p:cNvPicPr>
            <a:picLocks noChangeAspect="1"/>
          </p:cNvPicPr>
          <p:nvPr/>
        </p:nvPicPr>
        <p:blipFill>
          <a:blip r:embed="rId4"/>
          <a:stretch>
            <a:fillRect/>
          </a:stretch>
        </p:blipFill>
        <p:spPr>
          <a:xfrm>
            <a:off x="8512105" y="814337"/>
            <a:ext cx="2934109" cy="2381582"/>
          </a:xfrm>
          <a:prstGeom prst="rect">
            <a:avLst/>
          </a:prstGeom>
        </p:spPr>
      </p:pic>
      <p:pic>
        <p:nvPicPr>
          <p:cNvPr id="12" name="Grafik 11">
            <a:extLst>
              <a:ext uri="{FF2B5EF4-FFF2-40B4-BE49-F238E27FC236}">
                <a16:creationId xmlns:a16="http://schemas.microsoft.com/office/drawing/2014/main" id="{377D029A-54B7-4F37-6D6C-913413A3854C}"/>
              </a:ext>
            </a:extLst>
          </p:cNvPr>
          <p:cNvPicPr>
            <a:picLocks noChangeAspect="1"/>
          </p:cNvPicPr>
          <p:nvPr/>
        </p:nvPicPr>
        <p:blipFill>
          <a:blip r:embed="rId5"/>
          <a:stretch>
            <a:fillRect/>
          </a:stretch>
        </p:blipFill>
        <p:spPr>
          <a:xfrm>
            <a:off x="8550210" y="3528622"/>
            <a:ext cx="2896004" cy="2353003"/>
          </a:xfrm>
          <a:prstGeom prst="rect">
            <a:avLst/>
          </a:prstGeom>
        </p:spPr>
      </p:pic>
    </p:spTree>
    <p:extLst>
      <p:ext uri="{BB962C8B-B14F-4D97-AF65-F5344CB8AC3E}">
        <p14:creationId xmlns:p14="http://schemas.microsoft.com/office/powerpoint/2010/main" val="27219856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Bezug Pensionskasse – Finanzierung</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3" name="Grafik 2">
            <a:extLst>
              <a:ext uri="{FF2B5EF4-FFF2-40B4-BE49-F238E27FC236}">
                <a16:creationId xmlns:a16="http://schemas.microsoft.com/office/drawing/2014/main" id="{D106B62B-91D4-0FFD-7AE6-58FB03F68244}"/>
              </a:ext>
            </a:extLst>
          </p:cNvPr>
          <p:cNvPicPr>
            <a:picLocks noChangeAspect="1"/>
          </p:cNvPicPr>
          <p:nvPr/>
        </p:nvPicPr>
        <p:blipFill>
          <a:blip r:embed="rId4"/>
          <a:stretch>
            <a:fillRect/>
          </a:stretch>
        </p:blipFill>
        <p:spPr>
          <a:xfrm>
            <a:off x="623907" y="1145645"/>
            <a:ext cx="3200847" cy="2200582"/>
          </a:xfrm>
          <a:prstGeom prst="rect">
            <a:avLst/>
          </a:prstGeom>
        </p:spPr>
      </p:pic>
      <p:pic>
        <p:nvPicPr>
          <p:cNvPr id="8" name="Grafik 7">
            <a:extLst>
              <a:ext uri="{FF2B5EF4-FFF2-40B4-BE49-F238E27FC236}">
                <a16:creationId xmlns:a16="http://schemas.microsoft.com/office/drawing/2014/main" id="{FEC01577-FEF2-85D5-8FA6-E1B0B55E57E8}"/>
              </a:ext>
            </a:extLst>
          </p:cNvPr>
          <p:cNvPicPr>
            <a:picLocks noChangeAspect="1"/>
          </p:cNvPicPr>
          <p:nvPr/>
        </p:nvPicPr>
        <p:blipFill>
          <a:blip r:embed="rId5"/>
          <a:stretch>
            <a:fillRect/>
          </a:stretch>
        </p:blipFill>
        <p:spPr>
          <a:xfrm>
            <a:off x="673304" y="3511774"/>
            <a:ext cx="3286584" cy="3124636"/>
          </a:xfrm>
          <a:prstGeom prst="rect">
            <a:avLst/>
          </a:prstGeom>
        </p:spPr>
      </p:pic>
      <p:pic>
        <p:nvPicPr>
          <p:cNvPr id="10" name="Grafik 9">
            <a:extLst>
              <a:ext uri="{FF2B5EF4-FFF2-40B4-BE49-F238E27FC236}">
                <a16:creationId xmlns:a16="http://schemas.microsoft.com/office/drawing/2014/main" id="{F896E009-88CF-BF21-1021-681884C0C6A3}"/>
              </a:ext>
            </a:extLst>
          </p:cNvPr>
          <p:cNvPicPr>
            <a:picLocks noChangeAspect="1"/>
          </p:cNvPicPr>
          <p:nvPr/>
        </p:nvPicPr>
        <p:blipFill>
          <a:blip r:embed="rId6"/>
          <a:stretch>
            <a:fillRect/>
          </a:stretch>
        </p:blipFill>
        <p:spPr>
          <a:xfrm>
            <a:off x="5207091" y="1151295"/>
            <a:ext cx="3267531" cy="2286319"/>
          </a:xfrm>
          <a:prstGeom prst="rect">
            <a:avLst/>
          </a:prstGeom>
        </p:spPr>
      </p:pic>
      <p:pic>
        <p:nvPicPr>
          <p:cNvPr id="12" name="Grafik 11">
            <a:extLst>
              <a:ext uri="{FF2B5EF4-FFF2-40B4-BE49-F238E27FC236}">
                <a16:creationId xmlns:a16="http://schemas.microsoft.com/office/drawing/2014/main" id="{AE5F5C36-07CC-3464-1FF2-A79DC69D3425}"/>
              </a:ext>
            </a:extLst>
          </p:cNvPr>
          <p:cNvPicPr>
            <a:picLocks noChangeAspect="1"/>
          </p:cNvPicPr>
          <p:nvPr/>
        </p:nvPicPr>
        <p:blipFill>
          <a:blip r:embed="rId7"/>
          <a:stretch>
            <a:fillRect/>
          </a:stretch>
        </p:blipFill>
        <p:spPr>
          <a:xfrm>
            <a:off x="5197565" y="3497484"/>
            <a:ext cx="3277057" cy="3153215"/>
          </a:xfrm>
          <a:prstGeom prst="rect">
            <a:avLst/>
          </a:prstGeom>
        </p:spPr>
      </p:pic>
    </p:spTree>
    <p:extLst>
      <p:ext uri="{BB962C8B-B14F-4D97-AF65-F5344CB8AC3E}">
        <p14:creationId xmlns:p14="http://schemas.microsoft.com/office/powerpoint/2010/main" val="28109725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14816" y="397460"/>
            <a:ext cx="9851592" cy="461665"/>
          </a:xfrm>
          <a:prstGeom prst="rect">
            <a:avLst/>
          </a:prstGeom>
          <a:noFill/>
        </p:spPr>
        <p:txBody>
          <a:bodyPr wrap="square" rtlCol="0">
            <a:spAutoFit/>
          </a:bodyPr>
          <a:lstStyle/>
          <a:p>
            <a:r>
              <a:rPr lang="de-CH" sz="2400" dirty="0">
                <a:latin typeface="Helvetica LT Pro Black" panose="020B0904030502020204" pitchFamily="34" charset="0"/>
              </a:rPr>
              <a:t>Grundstückinformationen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pic>
        <p:nvPicPr>
          <p:cNvPr id="3" name="Grafik 2">
            <a:extLst>
              <a:ext uri="{FF2B5EF4-FFF2-40B4-BE49-F238E27FC236}">
                <a16:creationId xmlns:a16="http://schemas.microsoft.com/office/drawing/2014/main" id="{587FA3C4-155B-BCB4-3D93-C191535D4129}"/>
              </a:ext>
            </a:extLst>
          </p:cNvPr>
          <p:cNvPicPr>
            <a:picLocks noChangeAspect="1"/>
          </p:cNvPicPr>
          <p:nvPr/>
        </p:nvPicPr>
        <p:blipFill>
          <a:blip r:embed="rId4"/>
          <a:stretch>
            <a:fillRect/>
          </a:stretch>
        </p:blipFill>
        <p:spPr>
          <a:xfrm>
            <a:off x="514816" y="2217647"/>
            <a:ext cx="2743971" cy="2713949"/>
          </a:xfrm>
          <a:prstGeom prst="rect">
            <a:avLst/>
          </a:prstGeom>
        </p:spPr>
      </p:pic>
      <p:sp>
        <p:nvSpPr>
          <p:cNvPr id="4" name="Textfeld 3">
            <a:extLst>
              <a:ext uri="{FF2B5EF4-FFF2-40B4-BE49-F238E27FC236}">
                <a16:creationId xmlns:a16="http://schemas.microsoft.com/office/drawing/2014/main" id="{78799FCE-2831-EC52-85D4-30F661BF5775}"/>
              </a:ext>
            </a:extLst>
          </p:cNvPr>
          <p:cNvSpPr txBox="1"/>
          <p:nvPr/>
        </p:nvSpPr>
        <p:spPr>
          <a:xfrm>
            <a:off x="514816" y="5289529"/>
            <a:ext cx="2053127" cy="261610"/>
          </a:xfrm>
          <a:prstGeom prst="rect">
            <a:avLst/>
          </a:prstGeom>
          <a:noFill/>
        </p:spPr>
        <p:txBody>
          <a:bodyPr wrap="square">
            <a:spAutoFit/>
          </a:bodyPr>
          <a:lstStyle/>
          <a:p>
            <a:r>
              <a:rPr lang="de-CH" sz="1100" dirty="0"/>
              <a:t>Kantonales Geoportal</a:t>
            </a:r>
          </a:p>
        </p:txBody>
      </p:sp>
      <p:sp>
        <p:nvSpPr>
          <p:cNvPr id="8" name="Textfeld 7">
            <a:extLst>
              <a:ext uri="{FF2B5EF4-FFF2-40B4-BE49-F238E27FC236}">
                <a16:creationId xmlns:a16="http://schemas.microsoft.com/office/drawing/2014/main" id="{7719D2BE-B3C2-A30F-8E9F-7BF7B2E148AF}"/>
              </a:ext>
            </a:extLst>
          </p:cNvPr>
          <p:cNvSpPr txBox="1"/>
          <p:nvPr/>
        </p:nvSpPr>
        <p:spPr>
          <a:xfrm>
            <a:off x="413647" y="1577015"/>
            <a:ext cx="1953538" cy="307777"/>
          </a:xfrm>
          <a:prstGeom prst="rect">
            <a:avLst/>
          </a:prstGeom>
          <a:noFill/>
        </p:spPr>
        <p:txBody>
          <a:bodyPr wrap="square" rtlCol="0">
            <a:spAutoFit/>
          </a:bodyPr>
          <a:lstStyle/>
          <a:p>
            <a:r>
              <a:rPr lang="de-CH" sz="1400" dirty="0">
                <a:latin typeface="Helvetica LT Pro Black" panose="020B0904030502020204" pitchFamily="34" charset="0"/>
              </a:rPr>
              <a:t>ÖREB-Auszug</a:t>
            </a:r>
          </a:p>
        </p:txBody>
      </p:sp>
      <p:sp>
        <p:nvSpPr>
          <p:cNvPr id="9" name="Textfeld 8">
            <a:extLst>
              <a:ext uri="{FF2B5EF4-FFF2-40B4-BE49-F238E27FC236}">
                <a16:creationId xmlns:a16="http://schemas.microsoft.com/office/drawing/2014/main" id="{F9843BA6-FBB5-286E-7AD9-37F0DC537BFF}"/>
              </a:ext>
            </a:extLst>
          </p:cNvPr>
          <p:cNvSpPr txBox="1"/>
          <p:nvPr/>
        </p:nvSpPr>
        <p:spPr>
          <a:xfrm>
            <a:off x="4142462" y="1577014"/>
            <a:ext cx="1953538" cy="307777"/>
          </a:xfrm>
          <a:prstGeom prst="rect">
            <a:avLst/>
          </a:prstGeom>
          <a:noFill/>
        </p:spPr>
        <p:txBody>
          <a:bodyPr wrap="square" rtlCol="0">
            <a:spAutoFit/>
          </a:bodyPr>
          <a:lstStyle/>
          <a:p>
            <a:r>
              <a:rPr lang="de-CH" sz="1400" dirty="0">
                <a:latin typeface="Helvetica LT Pro Black" panose="020B0904030502020204" pitchFamily="34" charset="0"/>
              </a:rPr>
              <a:t>GWR-Auszug</a:t>
            </a:r>
          </a:p>
        </p:txBody>
      </p:sp>
      <p:sp>
        <p:nvSpPr>
          <p:cNvPr id="11" name="Textfeld 10">
            <a:extLst>
              <a:ext uri="{FF2B5EF4-FFF2-40B4-BE49-F238E27FC236}">
                <a16:creationId xmlns:a16="http://schemas.microsoft.com/office/drawing/2014/main" id="{DE0FB9A9-A71C-E68E-3B2F-43EFF60492E2}"/>
              </a:ext>
            </a:extLst>
          </p:cNvPr>
          <p:cNvSpPr txBox="1"/>
          <p:nvPr/>
        </p:nvSpPr>
        <p:spPr>
          <a:xfrm>
            <a:off x="3924390" y="5289529"/>
            <a:ext cx="2389682" cy="261610"/>
          </a:xfrm>
          <a:prstGeom prst="rect">
            <a:avLst/>
          </a:prstGeom>
          <a:noFill/>
        </p:spPr>
        <p:txBody>
          <a:bodyPr wrap="square">
            <a:spAutoFit/>
          </a:bodyPr>
          <a:lstStyle/>
          <a:p>
            <a:r>
              <a:rPr lang="de-CH" sz="1100" dirty="0"/>
              <a:t>Link: https://map.geo.admin.ch</a:t>
            </a:r>
          </a:p>
        </p:txBody>
      </p:sp>
      <p:pic>
        <p:nvPicPr>
          <p:cNvPr id="13" name="Grafik 12">
            <a:extLst>
              <a:ext uri="{FF2B5EF4-FFF2-40B4-BE49-F238E27FC236}">
                <a16:creationId xmlns:a16="http://schemas.microsoft.com/office/drawing/2014/main" id="{0B83D721-47E6-9EB1-5A2C-8F891A91348C}"/>
              </a:ext>
            </a:extLst>
          </p:cNvPr>
          <p:cNvPicPr>
            <a:picLocks noChangeAspect="1"/>
          </p:cNvPicPr>
          <p:nvPr/>
        </p:nvPicPr>
        <p:blipFill>
          <a:blip r:embed="rId5"/>
          <a:stretch>
            <a:fillRect/>
          </a:stretch>
        </p:blipFill>
        <p:spPr>
          <a:xfrm>
            <a:off x="3679447" y="2217647"/>
            <a:ext cx="2879568" cy="2336899"/>
          </a:xfrm>
          <a:prstGeom prst="rect">
            <a:avLst/>
          </a:prstGeom>
        </p:spPr>
      </p:pic>
    </p:spTree>
    <p:extLst>
      <p:ext uri="{BB962C8B-B14F-4D97-AF65-F5344CB8AC3E}">
        <p14:creationId xmlns:p14="http://schemas.microsoft.com/office/powerpoint/2010/main" val="38250516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40453" y="414506"/>
            <a:ext cx="7338769" cy="461665"/>
          </a:xfrm>
          <a:prstGeom prst="rect">
            <a:avLst/>
          </a:prstGeom>
          <a:noFill/>
        </p:spPr>
        <p:txBody>
          <a:bodyPr wrap="square" rtlCol="0">
            <a:spAutoFit/>
          </a:bodyPr>
          <a:lstStyle/>
          <a:p>
            <a:r>
              <a:rPr lang="de-CH" sz="2400" dirty="0">
                <a:latin typeface="Helvetica LT Pro Black" panose="020B0904030502020204" pitchFamily="34" charset="0"/>
              </a:rPr>
              <a:t>Verwaltung STWE</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20007B87-614E-A564-4F31-B40D73D7085D}"/>
              </a:ext>
            </a:extLst>
          </p:cNvPr>
          <p:cNvSpPr txBox="1"/>
          <p:nvPr/>
        </p:nvSpPr>
        <p:spPr>
          <a:xfrm>
            <a:off x="413647" y="1221754"/>
            <a:ext cx="1953538" cy="307777"/>
          </a:xfrm>
          <a:prstGeom prst="rect">
            <a:avLst/>
          </a:prstGeom>
          <a:noFill/>
        </p:spPr>
        <p:txBody>
          <a:bodyPr wrap="square" rtlCol="0">
            <a:spAutoFit/>
          </a:bodyPr>
          <a:lstStyle/>
          <a:p>
            <a:r>
              <a:rPr lang="de-CH" sz="1400" dirty="0">
                <a:latin typeface="Helvetica LT Pro Black" panose="020B0904030502020204" pitchFamily="34" charset="0"/>
              </a:rPr>
              <a:t>Aufgaben</a:t>
            </a:r>
          </a:p>
        </p:txBody>
      </p:sp>
      <p:sp>
        <p:nvSpPr>
          <p:cNvPr id="3" name="Textfeld 2">
            <a:extLst>
              <a:ext uri="{FF2B5EF4-FFF2-40B4-BE49-F238E27FC236}">
                <a16:creationId xmlns:a16="http://schemas.microsoft.com/office/drawing/2014/main" id="{BE85932B-7F3A-D3C1-88F1-BA4EFB5585FE}"/>
              </a:ext>
            </a:extLst>
          </p:cNvPr>
          <p:cNvSpPr txBox="1"/>
          <p:nvPr/>
        </p:nvSpPr>
        <p:spPr>
          <a:xfrm>
            <a:off x="8551213" y="1232656"/>
            <a:ext cx="3074462" cy="307777"/>
          </a:xfrm>
          <a:prstGeom prst="rect">
            <a:avLst/>
          </a:prstGeom>
          <a:noFill/>
        </p:spPr>
        <p:txBody>
          <a:bodyPr wrap="square" rtlCol="0">
            <a:spAutoFit/>
          </a:bodyPr>
          <a:lstStyle/>
          <a:p>
            <a:r>
              <a:rPr lang="de-CH" sz="1400" dirty="0">
                <a:latin typeface="Helvetica LT Pro Black" panose="020B0904030502020204" pitchFamily="34" charset="0"/>
              </a:rPr>
              <a:t>Zirkulationsbeschluss</a:t>
            </a:r>
          </a:p>
        </p:txBody>
      </p:sp>
      <p:sp>
        <p:nvSpPr>
          <p:cNvPr id="8" name="Textfeld 7">
            <a:extLst>
              <a:ext uri="{FF2B5EF4-FFF2-40B4-BE49-F238E27FC236}">
                <a16:creationId xmlns:a16="http://schemas.microsoft.com/office/drawing/2014/main" id="{31CBB7AC-0C1B-BBAD-E21F-9595A001E736}"/>
              </a:ext>
            </a:extLst>
          </p:cNvPr>
          <p:cNvSpPr txBox="1"/>
          <p:nvPr/>
        </p:nvSpPr>
        <p:spPr>
          <a:xfrm>
            <a:off x="8551213" y="1750490"/>
            <a:ext cx="3373565" cy="1015663"/>
          </a:xfrm>
          <a:prstGeom prst="rect">
            <a:avLst/>
          </a:prstGeom>
          <a:noFill/>
        </p:spPr>
        <p:txBody>
          <a:bodyPr wrap="square">
            <a:spAutoFit/>
          </a:bodyPr>
          <a:lstStyle/>
          <a:p>
            <a:r>
              <a:rPr lang="de-CH" sz="1200" dirty="0"/>
              <a:t>Für dringliche und / oder wenig erläuterungs- und verhandlungsbedürftige Themen kann die Verwaltung einen (begründeten) Antrag allen Stockwerkeigentümer zur Zirkularbeschlussfassung verstellen. </a:t>
            </a:r>
          </a:p>
        </p:txBody>
      </p:sp>
      <p:sp>
        <p:nvSpPr>
          <p:cNvPr id="10" name="Textfeld 9">
            <a:extLst>
              <a:ext uri="{FF2B5EF4-FFF2-40B4-BE49-F238E27FC236}">
                <a16:creationId xmlns:a16="http://schemas.microsoft.com/office/drawing/2014/main" id="{5AE6D1E9-8C69-76A8-698D-A4A357882B81}"/>
              </a:ext>
            </a:extLst>
          </p:cNvPr>
          <p:cNvSpPr txBox="1"/>
          <p:nvPr/>
        </p:nvSpPr>
        <p:spPr>
          <a:xfrm>
            <a:off x="413647" y="1668786"/>
            <a:ext cx="7610854" cy="4154984"/>
          </a:xfrm>
          <a:prstGeom prst="rect">
            <a:avLst/>
          </a:prstGeom>
          <a:noFill/>
        </p:spPr>
        <p:txBody>
          <a:bodyPr wrap="square">
            <a:spAutoFit/>
          </a:bodyPr>
          <a:lstStyle/>
          <a:p>
            <a:r>
              <a:rPr lang="de-CH" sz="1200" dirty="0"/>
              <a:t>• die Verwaltung des Hauses und Vollzug aller </a:t>
            </a:r>
            <a:r>
              <a:rPr lang="de-CH" sz="1200" dirty="0" err="1"/>
              <a:t>hiefür</a:t>
            </a:r>
            <a:r>
              <a:rPr lang="de-CH" sz="1200" dirty="0"/>
              <a:t> notwendigen Handlungen </a:t>
            </a:r>
          </a:p>
          <a:p>
            <a:r>
              <a:rPr lang="de-CH" sz="1200" dirty="0"/>
              <a:t>• Erteilung von Aufträgen und Abschluss von Werkverträgen </a:t>
            </a:r>
            <a:r>
              <a:rPr lang="de-CH" sz="1200" dirty="0" err="1"/>
              <a:t>ns</a:t>
            </a:r>
            <a:r>
              <a:rPr lang="de-CH" sz="1200" dirty="0"/>
              <a:t>. der </a:t>
            </a:r>
            <a:r>
              <a:rPr lang="de-CH" sz="1200" dirty="0" err="1"/>
              <a:t>StWEG</a:t>
            </a:r>
            <a:r>
              <a:rPr lang="de-CH" sz="1200" dirty="0"/>
              <a:t> für Reparaturen des gemeinschaftlichen Gebäudes </a:t>
            </a:r>
          </a:p>
          <a:p>
            <a:r>
              <a:rPr lang="de-CH" sz="1200" dirty="0"/>
              <a:t>• Abschluss des Hauswartungsvertrages </a:t>
            </a:r>
          </a:p>
          <a:p>
            <a:r>
              <a:rPr lang="de-CH" sz="1200" dirty="0"/>
              <a:t>• Anstellung von Reinigungspersonal </a:t>
            </a:r>
          </a:p>
          <a:p>
            <a:r>
              <a:rPr lang="de-CH" sz="1200" dirty="0"/>
              <a:t>• Abschluss von Mietverträgen mit Mietern bezüglich des gemeinschaftlichen Objekts </a:t>
            </a:r>
          </a:p>
          <a:p>
            <a:r>
              <a:rPr lang="de-CH" sz="1200" dirty="0"/>
              <a:t>• Verträge mit Facility Management-Anbietern </a:t>
            </a:r>
          </a:p>
          <a:p>
            <a:r>
              <a:rPr lang="de-CH" sz="1200" dirty="0"/>
              <a:t>• Verträge mit Gärtnerei für Garten- und Baumpflege </a:t>
            </a:r>
          </a:p>
          <a:p>
            <a:r>
              <a:rPr lang="de-CH" sz="1200" dirty="0"/>
              <a:t>• Überwachung der Ausübung der Sonderrechte und Benutzung der gemeinschaftlichen Einrichtungen / Einhaltung von Gesetz, Reglement und Hausordnung</a:t>
            </a:r>
          </a:p>
          <a:p>
            <a:r>
              <a:rPr lang="de-CH" sz="1200" dirty="0"/>
              <a:t>• Einberufung der Stockwerkeigentümerversammlung und Leitung der Versammlung </a:t>
            </a:r>
          </a:p>
          <a:p>
            <a:r>
              <a:rPr lang="de-CH" sz="1200" dirty="0"/>
              <a:t>• Vollzug der Beschlüsse der Stockwerkeigentümerversammlung </a:t>
            </a:r>
          </a:p>
          <a:p>
            <a:r>
              <a:rPr lang="de-CH" sz="1200" dirty="0"/>
              <a:t>• Aufbewahrung der </a:t>
            </a:r>
            <a:r>
              <a:rPr lang="de-CH" sz="1200" dirty="0" err="1"/>
              <a:t>StWE</a:t>
            </a:r>
            <a:r>
              <a:rPr lang="de-CH" sz="1200" dirty="0"/>
              <a:t>-Protokolle und wesentliche Dokumente [vgl. ZGB 712n Abs. 2] </a:t>
            </a:r>
          </a:p>
          <a:p>
            <a:r>
              <a:rPr lang="de-CH" sz="1200" dirty="0"/>
              <a:t>• Auskunftserteilung an Stockwerkeigentümer </a:t>
            </a:r>
          </a:p>
          <a:p>
            <a:r>
              <a:rPr lang="de-CH" sz="1200" dirty="0"/>
              <a:t>• Weiterleitung der an die </a:t>
            </a:r>
            <a:r>
              <a:rPr lang="de-CH" sz="1200" dirty="0" err="1"/>
              <a:t>StWEG</a:t>
            </a:r>
            <a:r>
              <a:rPr lang="de-CH" sz="1200" dirty="0"/>
              <a:t> gerichteten Erklärungen von Stockwerkeigentümern, Organen und Dritten </a:t>
            </a:r>
          </a:p>
          <a:p>
            <a:r>
              <a:rPr lang="de-CH" sz="1200" dirty="0"/>
              <a:t>• Besorgung der finanziellen Angelegenheiten </a:t>
            </a:r>
          </a:p>
          <a:p>
            <a:r>
              <a:rPr lang="de-CH" sz="1200" dirty="0"/>
              <a:t>• Besorgung der gesamten Verwaltungstätigkeit - Instandhaltung, Reparaturarbeiten, Hausreinigung</a:t>
            </a:r>
          </a:p>
          <a:p>
            <a:r>
              <a:rPr lang="de-CH" sz="1200" dirty="0"/>
              <a:t>• Erstellung des Budgets </a:t>
            </a:r>
          </a:p>
          <a:p>
            <a:r>
              <a:rPr lang="de-CH" sz="1200" dirty="0"/>
              <a:t>• Erstellung der Jahresrechnung (Bilanz und Erfolgsrechnung) </a:t>
            </a:r>
          </a:p>
          <a:p>
            <a:r>
              <a:rPr lang="de-CH" sz="1200" dirty="0"/>
              <a:t>• Festlegung und Inkasso der Beiträge an die gemeinschaftlichen Kosten und Lasten </a:t>
            </a:r>
          </a:p>
          <a:p>
            <a:r>
              <a:rPr lang="de-CH" sz="1200" dirty="0"/>
              <a:t>• Zahlungsverkehrs-Abwicklung </a:t>
            </a:r>
          </a:p>
          <a:p>
            <a:r>
              <a:rPr lang="de-CH" sz="1200" dirty="0"/>
              <a:t>• Verwaltung des Vermögens der Gemeinschaft / Erneuerungsfonds</a:t>
            </a:r>
          </a:p>
        </p:txBody>
      </p:sp>
    </p:spTree>
    <p:extLst>
      <p:ext uri="{BB962C8B-B14F-4D97-AF65-F5344CB8AC3E}">
        <p14:creationId xmlns:p14="http://schemas.microsoft.com/office/powerpoint/2010/main" val="4305789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40453" y="414506"/>
            <a:ext cx="7338769" cy="461665"/>
          </a:xfrm>
          <a:prstGeom prst="rect">
            <a:avLst/>
          </a:prstGeom>
          <a:noFill/>
        </p:spPr>
        <p:txBody>
          <a:bodyPr wrap="square" rtlCol="0">
            <a:spAutoFit/>
          </a:bodyPr>
          <a:lstStyle/>
          <a:p>
            <a:r>
              <a:rPr lang="de-CH" sz="2400" dirty="0">
                <a:latin typeface="Helvetica LT Pro Black" panose="020B0904030502020204" pitchFamily="34" charset="0"/>
              </a:rPr>
              <a:t>Optieren bei MWST</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8" name="Textfeld 7">
            <a:extLst>
              <a:ext uri="{FF2B5EF4-FFF2-40B4-BE49-F238E27FC236}">
                <a16:creationId xmlns:a16="http://schemas.microsoft.com/office/drawing/2014/main" id="{31CBB7AC-0C1B-BBAD-E21F-9595A001E736}"/>
              </a:ext>
            </a:extLst>
          </p:cNvPr>
          <p:cNvSpPr txBox="1"/>
          <p:nvPr/>
        </p:nvSpPr>
        <p:spPr>
          <a:xfrm>
            <a:off x="540453" y="2495224"/>
            <a:ext cx="3373565" cy="646331"/>
          </a:xfrm>
          <a:prstGeom prst="rect">
            <a:avLst/>
          </a:prstGeom>
          <a:noFill/>
        </p:spPr>
        <p:txBody>
          <a:bodyPr wrap="square">
            <a:spAutoFit/>
          </a:bodyPr>
          <a:lstStyle/>
          <a:p>
            <a:r>
              <a:rPr lang="de-CH" sz="1200" dirty="0"/>
              <a:t>Eine Liegenschaft, welche ausschliesslich zu </a:t>
            </a:r>
            <a:r>
              <a:rPr lang="de-CH" sz="1200" b="1" dirty="0"/>
              <a:t>privaten Zwecken </a:t>
            </a:r>
            <a:r>
              <a:rPr lang="de-CH" sz="1200" dirty="0"/>
              <a:t>genutzt wird, kann </a:t>
            </a:r>
            <a:r>
              <a:rPr lang="de-CH" sz="1200" b="1" dirty="0"/>
              <a:t>nicht</a:t>
            </a:r>
            <a:r>
              <a:rPr lang="de-CH" sz="1200" dirty="0"/>
              <a:t> optiert werden</a:t>
            </a:r>
          </a:p>
        </p:txBody>
      </p:sp>
      <p:sp>
        <p:nvSpPr>
          <p:cNvPr id="9" name="Textfeld 8">
            <a:extLst>
              <a:ext uri="{FF2B5EF4-FFF2-40B4-BE49-F238E27FC236}">
                <a16:creationId xmlns:a16="http://schemas.microsoft.com/office/drawing/2014/main" id="{E716806E-AF16-36E6-E5FD-CEE9C5C56148}"/>
              </a:ext>
            </a:extLst>
          </p:cNvPr>
          <p:cNvSpPr txBox="1"/>
          <p:nvPr/>
        </p:nvSpPr>
        <p:spPr>
          <a:xfrm>
            <a:off x="540453" y="1232656"/>
            <a:ext cx="6094708" cy="830997"/>
          </a:xfrm>
          <a:prstGeom prst="rect">
            <a:avLst/>
          </a:prstGeom>
          <a:noFill/>
        </p:spPr>
        <p:txBody>
          <a:bodyPr wrap="square">
            <a:spAutoFit/>
          </a:bodyPr>
          <a:lstStyle/>
          <a:p>
            <a:r>
              <a:rPr lang="de-CH" sz="1200" dirty="0"/>
              <a:t>Will der Vermieter  seine Leistung trotzdem versteuern, um den Vorsteuerabzug geltend machen zu können, so muss er  diese Leistungen freiwillig der Steuer unterstellen (optieren), indem er sie offen im Mietvertrag ausweist. Der Entscheid zu optieren oder nicht, liegt allein beim Vermieter</a:t>
            </a:r>
          </a:p>
        </p:txBody>
      </p:sp>
      <p:pic>
        <p:nvPicPr>
          <p:cNvPr id="12" name="Grafik 11">
            <a:extLst>
              <a:ext uri="{FF2B5EF4-FFF2-40B4-BE49-F238E27FC236}">
                <a16:creationId xmlns:a16="http://schemas.microsoft.com/office/drawing/2014/main" id="{5F48A510-BD76-31BF-91E6-560E82AFC8CE}"/>
              </a:ext>
            </a:extLst>
          </p:cNvPr>
          <p:cNvPicPr>
            <a:picLocks noChangeAspect="1"/>
          </p:cNvPicPr>
          <p:nvPr/>
        </p:nvPicPr>
        <p:blipFill>
          <a:blip r:embed="rId4"/>
          <a:stretch>
            <a:fillRect/>
          </a:stretch>
        </p:blipFill>
        <p:spPr>
          <a:xfrm>
            <a:off x="6635161" y="660835"/>
            <a:ext cx="4470093" cy="5140607"/>
          </a:xfrm>
          <a:prstGeom prst="rect">
            <a:avLst/>
          </a:prstGeom>
        </p:spPr>
      </p:pic>
    </p:spTree>
    <p:extLst>
      <p:ext uri="{BB962C8B-B14F-4D97-AF65-F5344CB8AC3E}">
        <p14:creationId xmlns:p14="http://schemas.microsoft.com/office/powerpoint/2010/main" val="42848664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40453" y="414506"/>
            <a:ext cx="7338769" cy="461665"/>
          </a:xfrm>
          <a:prstGeom prst="rect">
            <a:avLst/>
          </a:prstGeom>
          <a:noFill/>
        </p:spPr>
        <p:txBody>
          <a:bodyPr wrap="square" rtlCol="0">
            <a:spAutoFit/>
          </a:bodyPr>
          <a:lstStyle/>
          <a:p>
            <a:r>
              <a:rPr lang="de-CH" sz="2400" dirty="0">
                <a:latin typeface="Helvetica LT Pro Black" panose="020B0904030502020204" pitchFamily="34" charset="0"/>
              </a:rPr>
              <a:t>Gewerbsmässiger </a:t>
            </a:r>
            <a:r>
              <a:rPr lang="de-CH" sz="2400" dirty="0" err="1">
                <a:latin typeface="Helvetica LT Pro Black" panose="020B0904030502020204" pitchFamily="34" charset="0"/>
              </a:rPr>
              <a:t>Liegenschaftenhändler</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9" name="Textfeld 8">
            <a:extLst>
              <a:ext uri="{FF2B5EF4-FFF2-40B4-BE49-F238E27FC236}">
                <a16:creationId xmlns:a16="http://schemas.microsoft.com/office/drawing/2014/main" id="{E716806E-AF16-36E6-E5FD-CEE9C5C56148}"/>
              </a:ext>
            </a:extLst>
          </p:cNvPr>
          <p:cNvSpPr txBox="1"/>
          <p:nvPr/>
        </p:nvSpPr>
        <p:spPr>
          <a:xfrm>
            <a:off x="413647" y="1753045"/>
            <a:ext cx="4987512" cy="1384995"/>
          </a:xfrm>
          <a:prstGeom prst="rect">
            <a:avLst/>
          </a:prstGeom>
          <a:noFill/>
        </p:spPr>
        <p:txBody>
          <a:bodyPr wrap="square">
            <a:spAutoFit/>
          </a:bodyPr>
          <a:lstStyle/>
          <a:p>
            <a:pPr marL="171450" indent="-171450">
              <a:buFont typeface="Arial" panose="020B0604020202020204" pitchFamily="34" charset="0"/>
              <a:buChar char="•"/>
            </a:pPr>
            <a:r>
              <a:rPr lang="de-CH" sz="1200" dirty="0"/>
              <a:t>Häufigkeit der Transaktionen</a:t>
            </a:r>
          </a:p>
          <a:p>
            <a:pPr marL="171450" indent="-171450">
              <a:buFont typeface="Arial" panose="020B0604020202020204" pitchFamily="34" charset="0"/>
              <a:buChar char="•"/>
            </a:pPr>
            <a:r>
              <a:rPr lang="de-CH" sz="1200" dirty="0"/>
              <a:t>Systematische oder planmässige Art und Weise des Vorgehens </a:t>
            </a:r>
          </a:p>
          <a:p>
            <a:pPr marL="171450" indent="-171450">
              <a:buFont typeface="Arial" panose="020B0604020202020204" pitchFamily="34" charset="0"/>
              <a:buChar char="•"/>
            </a:pPr>
            <a:r>
              <a:rPr lang="de-CH" sz="1200" dirty="0"/>
              <a:t>Kurze Besitzdauer </a:t>
            </a:r>
          </a:p>
          <a:p>
            <a:pPr marL="171450" indent="-171450">
              <a:buFont typeface="Arial" panose="020B0604020202020204" pitchFamily="34" charset="0"/>
              <a:buChar char="•"/>
            </a:pPr>
            <a:r>
              <a:rPr lang="de-CH" sz="1200" dirty="0"/>
              <a:t>Spezielle Fachkenntnisse </a:t>
            </a:r>
          </a:p>
          <a:p>
            <a:pPr marL="171450" indent="-171450">
              <a:buFont typeface="Arial" panose="020B0604020202020204" pitchFamily="34" charset="0"/>
              <a:buChar char="•"/>
            </a:pPr>
            <a:r>
              <a:rPr lang="de-CH" sz="1200" dirty="0"/>
              <a:t>Zusammenhang mit beruflicher Tätigkeit </a:t>
            </a:r>
          </a:p>
          <a:p>
            <a:pPr marL="171450" indent="-171450">
              <a:buFont typeface="Arial" panose="020B0604020202020204" pitchFamily="34" charset="0"/>
              <a:buChar char="•"/>
            </a:pPr>
            <a:r>
              <a:rPr lang="de-CH" sz="1200" dirty="0"/>
              <a:t>Einsatz erheblicher fremder Mittel </a:t>
            </a:r>
          </a:p>
          <a:p>
            <a:pPr marL="171450" indent="-171450">
              <a:buFont typeface="Arial" panose="020B0604020202020204" pitchFamily="34" charset="0"/>
              <a:buChar char="•"/>
            </a:pPr>
            <a:r>
              <a:rPr lang="de-CH" sz="1200" dirty="0"/>
              <a:t>Reinvestition der Gewinne in gleichartige Anlagen </a:t>
            </a:r>
          </a:p>
        </p:txBody>
      </p:sp>
      <p:sp>
        <p:nvSpPr>
          <p:cNvPr id="2" name="Textfeld 1">
            <a:extLst>
              <a:ext uri="{FF2B5EF4-FFF2-40B4-BE49-F238E27FC236}">
                <a16:creationId xmlns:a16="http://schemas.microsoft.com/office/drawing/2014/main" id="{80E49B26-F5DA-7D1D-2E00-7A42B43217AF}"/>
              </a:ext>
            </a:extLst>
          </p:cNvPr>
          <p:cNvSpPr txBox="1"/>
          <p:nvPr/>
        </p:nvSpPr>
        <p:spPr>
          <a:xfrm>
            <a:off x="413647" y="1221754"/>
            <a:ext cx="1953538" cy="307777"/>
          </a:xfrm>
          <a:prstGeom prst="rect">
            <a:avLst/>
          </a:prstGeom>
          <a:noFill/>
        </p:spPr>
        <p:txBody>
          <a:bodyPr wrap="square" rtlCol="0">
            <a:spAutoFit/>
          </a:bodyPr>
          <a:lstStyle/>
          <a:p>
            <a:r>
              <a:rPr lang="de-CH" sz="1400" dirty="0">
                <a:latin typeface="Helvetica LT Pro Black" panose="020B0904030502020204" pitchFamily="34" charset="0"/>
              </a:rPr>
              <a:t>Voraussetzungen</a:t>
            </a:r>
          </a:p>
        </p:txBody>
      </p:sp>
      <p:sp>
        <p:nvSpPr>
          <p:cNvPr id="3" name="Textfeld 2">
            <a:extLst>
              <a:ext uri="{FF2B5EF4-FFF2-40B4-BE49-F238E27FC236}">
                <a16:creationId xmlns:a16="http://schemas.microsoft.com/office/drawing/2014/main" id="{90CBC0F8-5B2A-FB41-DC71-5B714C0BCE0F}"/>
              </a:ext>
            </a:extLst>
          </p:cNvPr>
          <p:cNvSpPr txBox="1"/>
          <p:nvPr/>
        </p:nvSpPr>
        <p:spPr>
          <a:xfrm>
            <a:off x="6215179" y="1221754"/>
            <a:ext cx="1953538" cy="307777"/>
          </a:xfrm>
          <a:prstGeom prst="rect">
            <a:avLst/>
          </a:prstGeom>
          <a:noFill/>
        </p:spPr>
        <p:txBody>
          <a:bodyPr wrap="square" rtlCol="0">
            <a:spAutoFit/>
          </a:bodyPr>
          <a:lstStyle/>
          <a:p>
            <a:r>
              <a:rPr lang="de-CH" sz="1400" dirty="0">
                <a:latin typeface="Helvetica LT Pro Black" panose="020B0904030502020204" pitchFamily="34" charset="0"/>
              </a:rPr>
              <a:t>Auswirkungen</a:t>
            </a:r>
          </a:p>
        </p:txBody>
      </p:sp>
      <p:sp>
        <p:nvSpPr>
          <p:cNvPr id="4" name="Textfeld 3">
            <a:extLst>
              <a:ext uri="{FF2B5EF4-FFF2-40B4-BE49-F238E27FC236}">
                <a16:creationId xmlns:a16="http://schemas.microsoft.com/office/drawing/2014/main" id="{935EEA7D-16E0-45B8-9006-497363AC6448}"/>
              </a:ext>
            </a:extLst>
          </p:cNvPr>
          <p:cNvSpPr txBox="1"/>
          <p:nvPr/>
        </p:nvSpPr>
        <p:spPr>
          <a:xfrm>
            <a:off x="6215179" y="1769068"/>
            <a:ext cx="6094708" cy="1015663"/>
          </a:xfrm>
          <a:prstGeom prst="rect">
            <a:avLst/>
          </a:prstGeom>
          <a:noFill/>
        </p:spPr>
        <p:txBody>
          <a:bodyPr wrap="square">
            <a:spAutoFit/>
          </a:bodyPr>
          <a:lstStyle/>
          <a:p>
            <a:r>
              <a:rPr lang="de-DE" sz="1200" dirty="0"/>
              <a:t>Erzielte Gewinne durch Liegenschaftsverkäufe unterliegen der direkten Bundessteuer und je nach Kanton der Einkommenssteuer. Ferner sind auch Sozialversicherungsabgaben zu entrichten. </a:t>
            </a:r>
          </a:p>
          <a:p>
            <a:endParaRPr lang="de-DE" sz="1200" dirty="0"/>
          </a:p>
          <a:p>
            <a:r>
              <a:rPr lang="de-DE" sz="1200" dirty="0"/>
              <a:t>Im Gegenzug können jedoch Verluste steuerlich in Abzug gebracht werden. </a:t>
            </a:r>
            <a:endParaRPr lang="de-CH" sz="1200" dirty="0"/>
          </a:p>
        </p:txBody>
      </p:sp>
    </p:spTree>
    <p:extLst>
      <p:ext uri="{BB962C8B-B14F-4D97-AF65-F5344CB8AC3E}">
        <p14:creationId xmlns:p14="http://schemas.microsoft.com/office/powerpoint/2010/main" val="2045233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40453" y="414506"/>
            <a:ext cx="7338769" cy="461665"/>
          </a:xfrm>
          <a:prstGeom prst="rect">
            <a:avLst/>
          </a:prstGeom>
          <a:noFill/>
        </p:spPr>
        <p:txBody>
          <a:bodyPr wrap="square" rtlCol="0">
            <a:spAutoFit/>
          </a:bodyPr>
          <a:lstStyle/>
          <a:p>
            <a:r>
              <a:rPr lang="de-CH" sz="2400" dirty="0">
                <a:latin typeface="Helvetica LT Pro Black" panose="020B0904030502020204" pitchFamily="34" charset="0"/>
              </a:rPr>
              <a:t>Förderbeiträge Umbau</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9" name="Textfeld 8">
            <a:extLst>
              <a:ext uri="{FF2B5EF4-FFF2-40B4-BE49-F238E27FC236}">
                <a16:creationId xmlns:a16="http://schemas.microsoft.com/office/drawing/2014/main" id="{E716806E-AF16-36E6-E5FD-CEE9C5C56148}"/>
              </a:ext>
            </a:extLst>
          </p:cNvPr>
          <p:cNvSpPr txBox="1"/>
          <p:nvPr/>
        </p:nvSpPr>
        <p:spPr>
          <a:xfrm>
            <a:off x="413647" y="1915777"/>
            <a:ext cx="4987512" cy="830997"/>
          </a:xfrm>
          <a:prstGeom prst="rect">
            <a:avLst/>
          </a:prstGeom>
          <a:noFill/>
        </p:spPr>
        <p:txBody>
          <a:bodyPr wrap="square">
            <a:spAutoFit/>
          </a:bodyPr>
          <a:lstStyle/>
          <a:p>
            <a:r>
              <a:rPr lang="de-DE" sz="1200" dirty="0"/>
              <a:t>Online-Anträge Beispiel Kanton Glarus: </a:t>
            </a:r>
          </a:p>
          <a:p>
            <a:r>
              <a:rPr lang="de-CH" sz="1200" dirty="0">
                <a:hlinkClick r:id="rId4"/>
              </a:rPr>
              <a:t>https://www.gl.ch/verwaltung/bau-und-umwelt/umwelt-wald-und-energie/umweltschutz-und-energie/energie/foerderprogramm.html/773</a:t>
            </a:r>
            <a:endParaRPr lang="de-CH" sz="1200" dirty="0"/>
          </a:p>
          <a:p>
            <a:endParaRPr lang="de-CH" sz="1200" dirty="0"/>
          </a:p>
        </p:txBody>
      </p:sp>
      <p:sp>
        <p:nvSpPr>
          <p:cNvPr id="2" name="Textfeld 1">
            <a:extLst>
              <a:ext uri="{FF2B5EF4-FFF2-40B4-BE49-F238E27FC236}">
                <a16:creationId xmlns:a16="http://schemas.microsoft.com/office/drawing/2014/main" id="{80E49B26-F5DA-7D1D-2E00-7A42B43217AF}"/>
              </a:ext>
            </a:extLst>
          </p:cNvPr>
          <p:cNvSpPr txBox="1"/>
          <p:nvPr/>
        </p:nvSpPr>
        <p:spPr>
          <a:xfrm>
            <a:off x="413647" y="1277735"/>
            <a:ext cx="4832529" cy="523220"/>
          </a:xfrm>
          <a:prstGeom prst="rect">
            <a:avLst/>
          </a:prstGeom>
          <a:noFill/>
        </p:spPr>
        <p:txBody>
          <a:bodyPr wrap="square" rtlCol="0">
            <a:spAutoFit/>
          </a:bodyPr>
          <a:lstStyle/>
          <a:p>
            <a:r>
              <a:rPr lang="de-CH" sz="1400" dirty="0">
                <a:latin typeface="Helvetica LT Pro Black" panose="020B0904030502020204" pitchFamily="34" charset="0"/>
              </a:rPr>
              <a:t>Kantonale Förderbeiträge für energetischen nachhaltigen Umbau</a:t>
            </a:r>
          </a:p>
        </p:txBody>
      </p:sp>
    </p:spTree>
    <p:extLst>
      <p:ext uri="{BB962C8B-B14F-4D97-AF65-F5344CB8AC3E}">
        <p14:creationId xmlns:p14="http://schemas.microsoft.com/office/powerpoint/2010/main" val="10293098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40453" y="414506"/>
            <a:ext cx="7338769" cy="461665"/>
          </a:xfrm>
          <a:prstGeom prst="rect">
            <a:avLst/>
          </a:prstGeom>
          <a:noFill/>
        </p:spPr>
        <p:txBody>
          <a:bodyPr wrap="square" rtlCol="0">
            <a:spAutoFit/>
          </a:bodyPr>
          <a:lstStyle/>
          <a:p>
            <a:r>
              <a:rPr lang="de-CH" sz="2400" dirty="0">
                <a:latin typeface="Helvetica LT Pro Black" panose="020B0904030502020204" pitchFamily="34" charset="0"/>
              </a:rPr>
              <a:t>Vorfälligkeitsentschädigungen</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9" name="Textfeld 8">
            <a:extLst>
              <a:ext uri="{FF2B5EF4-FFF2-40B4-BE49-F238E27FC236}">
                <a16:creationId xmlns:a16="http://schemas.microsoft.com/office/drawing/2014/main" id="{E716806E-AF16-36E6-E5FD-CEE9C5C56148}"/>
              </a:ext>
            </a:extLst>
          </p:cNvPr>
          <p:cNvSpPr txBox="1"/>
          <p:nvPr/>
        </p:nvSpPr>
        <p:spPr>
          <a:xfrm>
            <a:off x="467890" y="1846034"/>
            <a:ext cx="3879385" cy="1015663"/>
          </a:xfrm>
          <a:prstGeom prst="rect">
            <a:avLst/>
          </a:prstGeom>
          <a:noFill/>
        </p:spPr>
        <p:txBody>
          <a:bodyPr wrap="square">
            <a:spAutoFit/>
          </a:bodyPr>
          <a:lstStyle/>
          <a:p>
            <a:r>
              <a:rPr lang="de-CH" sz="1200" b="0" i="0" dirty="0">
                <a:solidFill>
                  <a:srgbClr val="202124"/>
                </a:solidFill>
                <a:effectLst/>
                <a:latin typeface="Google Sans"/>
              </a:rPr>
              <a:t>Möchten Sie die </a:t>
            </a:r>
            <a:r>
              <a:rPr lang="de-CH" sz="1200" b="0" i="0" dirty="0">
                <a:solidFill>
                  <a:srgbClr val="040C28"/>
                </a:solidFill>
                <a:effectLst/>
                <a:latin typeface="Google Sans"/>
              </a:rPr>
              <a:t>Hypothek</a:t>
            </a:r>
            <a:r>
              <a:rPr lang="de-CH" sz="1200" b="0" i="0" dirty="0">
                <a:solidFill>
                  <a:srgbClr val="202124"/>
                </a:solidFill>
                <a:effectLst/>
                <a:latin typeface="Google Sans"/>
              </a:rPr>
              <a:t> vorzeitig ablösen, fällt eine </a:t>
            </a:r>
            <a:r>
              <a:rPr lang="de-CH" sz="1200" b="0" i="0" dirty="0">
                <a:solidFill>
                  <a:srgbClr val="040C28"/>
                </a:solidFill>
                <a:effectLst/>
                <a:latin typeface="Google Sans"/>
              </a:rPr>
              <a:t>Vorfälligkeitsentschädigung</a:t>
            </a:r>
            <a:r>
              <a:rPr lang="de-CH" sz="1200" b="0" i="0" dirty="0">
                <a:solidFill>
                  <a:srgbClr val="202124"/>
                </a:solidFill>
                <a:effectLst/>
                <a:latin typeface="Google Sans"/>
              </a:rPr>
              <a:t> an, auch </a:t>
            </a:r>
            <a:r>
              <a:rPr lang="de-CH" sz="1200" b="0" i="0" dirty="0">
                <a:solidFill>
                  <a:srgbClr val="040C28"/>
                </a:solidFill>
                <a:effectLst/>
                <a:latin typeface="Google Sans"/>
              </a:rPr>
              <a:t>Penalty</a:t>
            </a:r>
            <a:r>
              <a:rPr lang="de-CH" sz="1200" b="0" i="0" dirty="0">
                <a:solidFill>
                  <a:srgbClr val="202124"/>
                </a:solidFill>
                <a:effectLst/>
                <a:latin typeface="Google Sans"/>
              </a:rPr>
              <a:t> genannt.</a:t>
            </a:r>
          </a:p>
          <a:p>
            <a:r>
              <a:rPr lang="de-CH" sz="1200" dirty="0">
                <a:solidFill>
                  <a:srgbClr val="202124"/>
                </a:solidFill>
                <a:latin typeface="Google Sans"/>
              </a:rPr>
              <a:t>Achtung bei Verkauf von Immobilien mit Festhypotheken!!</a:t>
            </a:r>
            <a:endParaRPr lang="de-CH" sz="1200" b="0" i="0" dirty="0">
              <a:solidFill>
                <a:srgbClr val="202124"/>
              </a:solidFill>
              <a:effectLst/>
              <a:latin typeface="Google Sans"/>
            </a:endParaRPr>
          </a:p>
          <a:p>
            <a:endParaRPr lang="de-CH" sz="1200" dirty="0">
              <a:solidFill>
                <a:srgbClr val="202124"/>
              </a:solidFill>
              <a:latin typeface="Google Sans"/>
            </a:endParaRPr>
          </a:p>
          <a:p>
            <a:r>
              <a:rPr lang="de-CH" sz="1200" dirty="0">
                <a:solidFill>
                  <a:srgbClr val="202124"/>
                </a:solidFill>
                <a:latin typeface="Google Sans"/>
              </a:rPr>
              <a:t>Kann jedoch bei </a:t>
            </a:r>
            <a:r>
              <a:rPr lang="de-CH" sz="1200" dirty="0" err="1">
                <a:solidFill>
                  <a:srgbClr val="202124"/>
                </a:solidFill>
                <a:latin typeface="Google Sans"/>
              </a:rPr>
              <a:t>GGSt</a:t>
            </a:r>
            <a:r>
              <a:rPr lang="de-CH" sz="1200" dirty="0">
                <a:solidFill>
                  <a:srgbClr val="202124"/>
                </a:solidFill>
                <a:latin typeface="Google Sans"/>
              </a:rPr>
              <a:t> in Abzug gebracht werden</a:t>
            </a:r>
            <a:endParaRPr lang="de-CH" sz="1200" dirty="0"/>
          </a:p>
        </p:txBody>
      </p:sp>
      <p:sp>
        <p:nvSpPr>
          <p:cNvPr id="3" name="Textfeld 2">
            <a:extLst>
              <a:ext uri="{FF2B5EF4-FFF2-40B4-BE49-F238E27FC236}">
                <a16:creationId xmlns:a16="http://schemas.microsoft.com/office/drawing/2014/main" id="{D92FDFD5-BC2A-F2CC-BC72-355BADCBD0CF}"/>
              </a:ext>
            </a:extLst>
          </p:cNvPr>
          <p:cNvSpPr txBox="1"/>
          <p:nvPr/>
        </p:nvSpPr>
        <p:spPr>
          <a:xfrm>
            <a:off x="467890" y="1399985"/>
            <a:ext cx="3375689" cy="307777"/>
          </a:xfrm>
          <a:prstGeom prst="rect">
            <a:avLst/>
          </a:prstGeom>
          <a:noFill/>
        </p:spPr>
        <p:txBody>
          <a:bodyPr wrap="square" rtlCol="0">
            <a:spAutoFit/>
          </a:bodyPr>
          <a:lstStyle/>
          <a:p>
            <a:r>
              <a:rPr lang="de-CH" sz="1400" dirty="0">
                <a:latin typeface="Helvetica LT Pro Black" panose="020B0904030502020204" pitchFamily="34" charset="0"/>
              </a:rPr>
              <a:t>Vorfälligkeitsentschädigung</a:t>
            </a:r>
          </a:p>
        </p:txBody>
      </p:sp>
      <p:sp>
        <p:nvSpPr>
          <p:cNvPr id="4" name="Textfeld 3">
            <a:extLst>
              <a:ext uri="{FF2B5EF4-FFF2-40B4-BE49-F238E27FC236}">
                <a16:creationId xmlns:a16="http://schemas.microsoft.com/office/drawing/2014/main" id="{8F2B4B15-6D75-1E02-525F-69A14DCC3E77}"/>
              </a:ext>
            </a:extLst>
          </p:cNvPr>
          <p:cNvSpPr txBox="1"/>
          <p:nvPr/>
        </p:nvSpPr>
        <p:spPr>
          <a:xfrm>
            <a:off x="5099301" y="1350272"/>
            <a:ext cx="3375689" cy="307777"/>
          </a:xfrm>
          <a:prstGeom prst="rect">
            <a:avLst/>
          </a:prstGeom>
          <a:noFill/>
        </p:spPr>
        <p:txBody>
          <a:bodyPr wrap="square" rtlCol="0">
            <a:spAutoFit/>
          </a:bodyPr>
          <a:lstStyle/>
          <a:p>
            <a:r>
              <a:rPr lang="de-CH" sz="1400" dirty="0">
                <a:latin typeface="Helvetica LT Pro Black" panose="020B0904030502020204" pitchFamily="34" charset="0"/>
              </a:rPr>
              <a:t>Buy </a:t>
            </a:r>
            <a:r>
              <a:rPr lang="de-CH" sz="1400" dirty="0" err="1">
                <a:latin typeface="Helvetica LT Pro Black" panose="020B0904030502020204" pitchFamily="34" charset="0"/>
              </a:rPr>
              <a:t>to</a:t>
            </a:r>
            <a:r>
              <a:rPr lang="de-CH" sz="1400" dirty="0">
                <a:latin typeface="Helvetica LT Pro Black" panose="020B0904030502020204" pitchFamily="34" charset="0"/>
              </a:rPr>
              <a:t> </a:t>
            </a:r>
            <a:r>
              <a:rPr lang="de-CH" sz="1400" dirty="0" err="1">
                <a:latin typeface="Helvetica LT Pro Black" panose="020B0904030502020204" pitchFamily="34" charset="0"/>
              </a:rPr>
              <a:t>let</a:t>
            </a:r>
            <a:endParaRPr lang="de-CH" sz="1400" dirty="0">
              <a:latin typeface="Helvetica LT Pro Black" panose="020B0904030502020204" pitchFamily="34" charset="0"/>
            </a:endParaRPr>
          </a:p>
        </p:txBody>
      </p:sp>
      <p:sp>
        <p:nvSpPr>
          <p:cNvPr id="8" name="Textfeld 7">
            <a:extLst>
              <a:ext uri="{FF2B5EF4-FFF2-40B4-BE49-F238E27FC236}">
                <a16:creationId xmlns:a16="http://schemas.microsoft.com/office/drawing/2014/main" id="{995C7E7A-3BDA-CF02-BCA8-26EFB934349E}"/>
              </a:ext>
            </a:extLst>
          </p:cNvPr>
          <p:cNvSpPr txBox="1"/>
          <p:nvPr/>
        </p:nvSpPr>
        <p:spPr>
          <a:xfrm>
            <a:off x="5073471" y="1846033"/>
            <a:ext cx="3879385" cy="1015663"/>
          </a:xfrm>
          <a:prstGeom prst="rect">
            <a:avLst/>
          </a:prstGeom>
          <a:noFill/>
        </p:spPr>
        <p:txBody>
          <a:bodyPr wrap="square">
            <a:spAutoFit/>
          </a:bodyPr>
          <a:lstStyle/>
          <a:p>
            <a:r>
              <a:rPr lang="de-CH" sz="1200" dirty="0">
                <a:solidFill>
                  <a:srgbClr val="040C28"/>
                </a:solidFill>
                <a:latin typeface="Google Sans"/>
              </a:rPr>
              <a:t>Aus dem Englischen übersetzt-Buy-</a:t>
            </a:r>
            <a:r>
              <a:rPr lang="de-CH" sz="1200" dirty="0" err="1">
                <a:solidFill>
                  <a:srgbClr val="040C28"/>
                </a:solidFill>
                <a:latin typeface="Google Sans"/>
              </a:rPr>
              <a:t>to</a:t>
            </a:r>
            <a:r>
              <a:rPr lang="de-CH" sz="1200" dirty="0">
                <a:solidFill>
                  <a:srgbClr val="040C28"/>
                </a:solidFill>
                <a:latin typeface="Google Sans"/>
              </a:rPr>
              <a:t>-</a:t>
            </a:r>
            <a:r>
              <a:rPr lang="de-CH" sz="1200" dirty="0" err="1">
                <a:solidFill>
                  <a:srgbClr val="040C28"/>
                </a:solidFill>
                <a:latin typeface="Google Sans"/>
              </a:rPr>
              <a:t>let</a:t>
            </a:r>
            <a:r>
              <a:rPr lang="de-CH" sz="1200" dirty="0">
                <a:solidFill>
                  <a:srgbClr val="040C28"/>
                </a:solidFill>
                <a:latin typeface="Google Sans"/>
              </a:rPr>
              <a:t> ist ein britischer Ausdruck, der sich auf den Kauf einer Immobilie bezieht, um sie zu vermieten, also zu vermieten. Eine Buy-</a:t>
            </a:r>
            <a:r>
              <a:rPr lang="de-CH" sz="1200" dirty="0" err="1">
                <a:solidFill>
                  <a:srgbClr val="040C28"/>
                </a:solidFill>
                <a:latin typeface="Google Sans"/>
              </a:rPr>
              <a:t>to</a:t>
            </a:r>
            <a:r>
              <a:rPr lang="de-CH" sz="1200" dirty="0">
                <a:solidFill>
                  <a:srgbClr val="040C28"/>
                </a:solidFill>
                <a:latin typeface="Google Sans"/>
              </a:rPr>
              <a:t>-</a:t>
            </a:r>
            <a:r>
              <a:rPr lang="de-CH" sz="1200" dirty="0" err="1">
                <a:solidFill>
                  <a:srgbClr val="040C28"/>
                </a:solidFill>
                <a:latin typeface="Google Sans"/>
              </a:rPr>
              <a:t>Let</a:t>
            </a:r>
            <a:r>
              <a:rPr lang="de-CH" sz="1200" dirty="0">
                <a:solidFill>
                  <a:srgbClr val="040C28"/>
                </a:solidFill>
                <a:latin typeface="Google Sans"/>
              </a:rPr>
              <a:t>-Hypothek ist ein Hypothekendarlehen, das speziell für diesen Zweck entwickelt wurde.</a:t>
            </a:r>
          </a:p>
        </p:txBody>
      </p:sp>
      <p:sp>
        <p:nvSpPr>
          <p:cNvPr id="10" name="Textfeld 9">
            <a:extLst>
              <a:ext uri="{FF2B5EF4-FFF2-40B4-BE49-F238E27FC236}">
                <a16:creationId xmlns:a16="http://schemas.microsoft.com/office/drawing/2014/main" id="{EE0A9322-D6C9-002E-BF73-36AB1A6D3492}"/>
              </a:ext>
            </a:extLst>
          </p:cNvPr>
          <p:cNvSpPr txBox="1"/>
          <p:nvPr/>
        </p:nvSpPr>
        <p:spPr>
          <a:xfrm>
            <a:off x="364568" y="3330373"/>
            <a:ext cx="3375689" cy="307777"/>
          </a:xfrm>
          <a:prstGeom prst="rect">
            <a:avLst/>
          </a:prstGeom>
          <a:noFill/>
        </p:spPr>
        <p:txBody>
          <a:bodyPr wrap="square" rtlCol="0">
            <a:spAutoFit/>
          </a:bodyPr>
          <a:lstStyle/>
          <a:p>
            <a:r>
              <a:rPr lang="de-CH" sz="1400" dirty="0" err="1">
                <a:latin typeface="Helvetica LT Pro Black" panose="020B0904030502020204" pitchFamily="34" charset="0"/>
              </a:rPr>
              <a:t>Niederwertsprinzip</a:t>
            </a:r>
            <a:endParaRPr lang="de-CH" sz="1400" dirty="0">
              <a:latin typeface="Helvetica LT Pro Black" panose="020B0904030502020204" pitchFamily="34" charset="0"/>
            </a:endParaRPr>
          </a:p>
        </p:txBody>
      </p:sp>
      <p:sp>
        <p:nvSpPr>
          <p:cNvPr id="13" name="Textfeld 12">
            <a:extLst>
              <a:ext uri="{FF2B5EF4-FFF2-40B4-BE49-F238E27FC236}">
                <a16:creationId xmlns:a16="http://schemas.microsoft.com/office/drawing/2014/main" id="{D15E3486-768A-21A3-A5F9-5CECBD2D19C2}"/>
              </a:ext>
            </a:extLst>
          </p:cNvPr>
          <p:cNvSpPr txBox="1"/>
          <p:nvPr/>
        </p:nvSpPr>
        <p:spPr>
          <a:xfrm>
            <a:off x="364568" y="3766929"/>
            <a:ext cx="4174857" cy="1015663"/>
          </a:xfrm>
          <a:prstGeom prst="rect">
            <a:avLst/>
          </a:prstGeom>
          <a:noFill/>
        </p:spPr>
        <p:txBody>
          <a:bodyPr wrap="square">
            <a:spAutoFit/>
          </a:bodyPr>
          <a:lstStyle/>
          <a:p>
            <a:r>
              <a:rPr lang="de-CH" sz="1200" dirty="0">
                <a:solidFill>
                  <a:srgbClr val="040C28"/>
                </a:solidFill>
                <a:latin typeface="Google Sans"/>
              </a:rPr>
              <a:t>Wenn du eine Hypothek für den Hauskauf beantragen willst, ermittelt der Kreditgeber den sogenannten Verkehrswert der Liegenschaft. Weicht dieser vom Verkaufspreis ab, wird die Berechnung der Finanzierung stets auf dem tieferen Wert durchgeführt</a:t>
            </a:r>
          </a:p>
        </p:txBody>
      </p:sp>
    </p:spTree>
    <p:extLst>
      <p:ext uri="{BB962C8B-B14F-4D97-AF65-F5344CB8AC3E}">
        <p14:creationId xmlns:p14="http://schemas.microsoft.com/office/powerpoint/2010/main" val="12407945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0F87B92-0752-6351-5BC7-255FEF44C28B}"/>
              </a:ext>
            </a:extLst>
          </p:cNvPr>
          <p:cNvSpPr txBox="1"/>
          <p:nvPr/>
        </p:nvSpPr>
        <p:spPr>
          <a:xfrm>
            <a:off x="540453" y="414506"/>
            <a:ext cx="7338769" cy="461665"/>
          </a:xfrm>
          <a:prstGeom prst="rect">
            <a:avLst/>
          </a:prstGeom>
          <a:noFill/>
        </p:spPr>
        <p:txBody>
          <a:bodyPr wrap="square" rtlCol="0">
            <a:spAutoFit/>
          </a:bodyPr>
          <a:lstStyle/>
          <a:p>
            <a:r>
              <a:rPr lang="de-CH" sz="2400" dirty="0">
                <a:latin typeface="Helvetica LT Pro Black" panose="020B0904030502020204" pitchFamily="34" charset="0"/>
              </a:rPr>
              <a:t>Tools</a:t>
            </a:r>
            <a:endParaRPr lang="de-CH" sz="1100" dirty="0">
              <a:latin typeface="Helvetica LT Pro Black" panose="020B0904030502020204" pitchFamily="34" charset="0"/>
            </a:endParaRPr>
          </a:p>
        </p:txBody>
      </p:sp>
      <p:pic>
        <p:nvPicPr>
          <p:cNvPr id="6" name="Grafik 5">
            <a:extLst>
              <a:ext uri="{FF2B5EF4-FFF2-40B4-BE49-F238E27FC236}">
                <a16:creationId xmlns:a16="http://schemas.microsoft.com/office/drawing/2014/main" id="{6FEDB8DC-52A7-7A67-0461-C349AAB15596}"/>
              </a:ext>
            </a:extLst>
          </p:cNvPr>
          <p:cNvPicPr>
            <a:picLocks noChangeAspect="1"/>
          </p:cNvPicPr>
          <p:nvPr/>
        </p:nvPicPr>
        <p:blipFill>
          <a:blip r:embed="rId2">
            <a:alphaModFix amt="85000"/>
          </a:blip>
          <a:stretch>
            <a:fillRect/>
          </a:stretch>
        </p:blipFill>
        <p:spPr>
          <a:xfrm>
            <a:off x="0" y="6053271"/>
            <a:ext cx="12192000" cy="804730"/>
          </a:xfrm>
          <a:prstGeom prst="rect">
            <a:avLst/>
          </a:prstGeom>
        </p:spPr>
      </p:pic>
      <p:pic>
        <p:nvPicPr>
          <p:cNvPr id="7" name="Grafik 6" descr="Ein Bild, das Text, Schrift, Grafiken, Grafikdesign enthält.&#10;&#10;Automatisch generierte Beschreibung">
            <a:extLst>
              <a:ext uri="{FF2B5EF4-FFF2-40B4-BE49-F238E27FC236}">
                <a16:creationId xmlns:a16="http://schemas.microsoft.com/office/drawing/2014/main" id="{F5952E23-8852-A718-DA29-F067FA40E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3071" y="6224917"/>
            <a:ext cx="1331707" cy="461438"/>
          </a:xfrm>
          <a:prstGeom prst="rect">
            <a:avLst/>
          </a:prstGeom>
        </p:spPr>
      </p:pic>
      <p:sp>
        <p:nvSpPr>
          <p:cNvPr id="2" name="Textfeld 1">
            <a:extLst>
              <a:ext uri="{FF2B5EF4-FFF2-40B4-BE49-F238E27FC236}">
                <a16:creationId xmlns:a16="http://schemas.microsoft.com/office/drawing/2014/main" id="{1F439CE7-1659-7A23-7CB6-80AB4D2FBFF2}"/>
              </a:ext>
            </a:extLst>
          </p:cNvPr>
          <p:cNvSpPr txBox="1"/>
          <p:nvPr/>
        </p:nvSpPr>
        <p:spPr>
          <a:xfrm>
            <a:off x="467891" y="1399985"/>
            <a:ext cx="1310110" cy="307777"/>
          </a:xfrm>
          <a:prstGeom prst="rect">
            <a:avLst/>
          </a:prstGeom>
          <a:noFill/>
        </p:spPr>
        <p:txBody>
          <a:bodyPr wrap="square" rtlCol="0">
            <a:spAutoFit/>
          </a:bodyPr>
          <a:lstStyle/>
          <a:p>
            <a:r>
              <a:rPr lang="de-CH" sz="1400" dirty="0" err="1">
                <a:latin typeface="Helvetica LT Pro Black" panose="020B0904030502020204" pitchFamily="34" charset="0"/>
              </a:rPr>
              <a:t>Amenti</a:t>
            </a:r>
            <a:endParaRPr lang="de-CH" sz="1400" dirty="0">
              <a:latin typeface="Helvetica LT Pro Black" panose="020B0904030502020204" pitchFamily="34" charset="0"/>
            </a:endParaRPr>
          </a:p>
        </p:txBody>
      </p:sp>
      <p:sp>
        <p:nvSpPr>
          <p:cNvPr id="11" name="Textfeld 10">
            <a:extLst>
              <a:ext uri="{FF2B5EF4-FFF2-40B4-BE49-F238E27FC236}">
                <a16:creationId xmlns:a16="http://schemas.microsoft.com/office/drawing/2014/main" id="{895360C9-D6D9-4FB7-3534-A231E02C1C86}"/>
              </a:ext>
            </a:extLst>
          </p:cNvPr>
          <p:cNvSpPr txBox="1"/>
          <p:nvPr/>
        </p:nvSpPr>
        <p:spPr>
          <a:xfrm>
            <a:off x="2899727" y="1399983"/>
            <a:ext cx="1310110" cy="307777"/>
          </a:xfrm>
          <a:prstGeom prst="rect">
            <a:avLst/>
          </a:prstGeom>
          <a:noFill/>
        </p:spPr>
        <p:txBody>
          <a:bodyPr wrap="square" rtlCol="0">
            <a:spAutoFit/>
          </a:bodyPr>
          <a:lstStyle/>
          <a:p>
            <a:r>
              <a:rPr lang="de-CH" sz="1400" dirty="0">
                <a:latin typeface="Helvetica LT Pro Black" panose="020B0904030502020204" pitchFamily="34" charset="0"/>
              </a:rPr>
              <a:t>IAZI</a:t>
            </a:r>
          </a:p>
        </p:txBody>
      </p:sp>
      <p:sp>
        <p:nvSpPr>
          <p:cNvPr id="12" name="Textfeld 11">
            <a:extLst>
              <a:ext uri="{FF2B5EF4-FFF2-40B4-BE49-F238E27FC236}">
                <a16:creationId xmlns:a16="http://schemas.microsoft.com/office/drawing/2014/main" id="{D6AE57EA-22DE-E755-4B72-4E570F81D474}"/>
              </a:ext>
            </a:extLst>
          </p:cNvPr>
          <p:cNvSpPr txBox="1"/>
          <p:nvPr/>
        </p:nvSpPr>
        <p:spPr>
          <a:xfrm>
            <a:off x="5440945" y="1343574"/>
            <a:ext cx="1310110" cy="523220"/>
          </a:xfrm>
          <a:prstGeom prst="rect">
            <a:avLst/>
          </a:prstGeom>
          <a:noFill/>
        </p:spPr>
        <p:txBody>
          <a:bodyPr wrap="square" rtlCol="0">
            <a:spAutoFit/>
          </a:bodyPr>
          <a:lstStyle/>
          <a:p>
            <a:r>
              <a:rPr lang="de-CH" sz="1400" dirty="0">
                <a:latin typeface="Helvetica LT Pro Black" panose="020B0904030502020204" pitchFamily="34" charset="0"/>
              </a:rPr>
              <a:t>Realmatch 360</a:t>
            </a:r>
          </a:p>
        </p:txBody>
      </p:sp>
      <p:sp>
        <p:nvSpPr>
          <p:cNvPr id="14" name="Textfeld 13">
            <a:extLst>
              <a:ext uri="{FF2B5EF4-FFF2-40B4-BE49-F238E27FC236}">
                <a16:creationId xmlns:a16="http://schemas.microsoft.com/office/drawing/2014/main" id="{B2A05E9C-E975-AA5D-62E4-9670CAAA72C5}"/>
              </a:ext>
            </a:extLst>
          </p:cNvPr>
          <p:cNvSpPr txBox="1"/>
          <p:nvPr/>
        </p:nvSpPr>
        <p:spPr>
          <a:xfrm>
            <a:off x="8221953" y="1399982"/>
            <a:ext cx="1310110" cy="307777"/>
          </a:xfrm>
          <a:prstGeom prst="rect">
            <a:avLst/>
          </a:prstGeom>
          <a:noFill/>
        </p:spPr>
        <p:txBody>
          <a:bodyPr wrap="square" rtlCol="0">
            <a:spAutoFit/>
          </a:bodyPr>
          <a:lstStyle/>
          <a:p>
            <a:r>
              <a:rPr lang="de-CH" sz="1400" dirty="0" err="1">
                <a:latin typeface="Helvetica LT Pro Black" panose="020B0904030502020204" pitchFamily="34" charset="0"/>
              </a:rPr>
              <a:t>Fairwalter</a:t>
            </a:r>
            <a:endParaRPr lang="de-CH" sz="1400" dirty="0">
              <a:latin typeface="Helvetica LT Pro Black" panose="020B0904030502020204" pitchFamily="34" charset="0"/>
            </a:endParaRPr>
          </a:p>
        </p:txBody>
      </p:sp>
      <p:sp>
        <p:nvSpPr>
          <p:cNvPr id="15" name="Textfeld 14">
            <a:extLst>
              <a:ext uri="{FF2B5EF4-FFF2-40B4-BE49-F238E27FC236}">
                <a16:creationId xmlns:a16="http://schemas.microsoft.com/office/drawing/2014/main" id="{D3E215CD-B926-4583-3A82-EA7D8F3B32E3}"/>
              </a:ext>
            </a:extLst>
          </p:cNvPr>
          <p:cNvSpPr txBox="1"/>
          <p:nvPr/>
        </p:nvSpPr>
        <p:spPr>
          <a:xfrm>
            <a:off x="467891" y="3726601"/>
            <a:ext cx="1310110" cy="307777"/>
          </a:xfrm>
          <a:prstGeom prst="rect">
            <a:avLst/>
          </a:prstGeom>
          <a:noFill/>
        </p:spPr>
        <p:txBody>
          <a:bodyPr wrap="square" rtlCol="0">
            <a:spAutoFit/>
          </a:bodyPr>
          <a:lstStyle/>
          <a:p>
            <a:r>
              <a:rPr lang="de-CH" sz="1400" dirty="0" err="1">
                <a:latin typeface="Helvetica LT Pro Black" panose="020B0904030502020204" pitchFamily="34" charset="0"/>
              </a:rPr>
              <a:t>Flatfox</a:t>
            </a:r>
            <a:endParaRPr lang="de-CH" sz="1400" dirty="0">
              <a:latin typeface="Helvetica LT Pro Black" panose="020B0904030502020204" pitchFamily="34" charset="0"/>
            </a:endParaRPr>
          </a:p>
        </p:txBody>
      </p:sp>
      <p:sp>
        <p:nvSpPr>
          <p:cNvPr id="16" name="Textfeld 15">
            <a:extLst>
              <a:ext uri="{FF2B5EF4-FFF2-40B4-BE49-F238E27FC236}">
                <a16:creationId xmlns:a16="http://schemas.microsoft.com/office/drawing/2014/main" id="{86A33DE2-8A8B-571D-9003-6E8CAAC5C0FA}"/>
              </a:ext>
            </a:extLst>
          </p:cNvPr>
          <p:cNvSpPr txBox="1"/>
          <p:nvPr/>
        </p:nvSpPr>
        <p:spPr>
          <a:xfrm>
            <a:off x="3280941" y="3709497"/>
            <a:ext cx="1310110" cy="307777"/>
          </a:xfrm>
          <a:prstGeom prst="rect">
            <a:avLst/>
          </a:prstGeom>
          <a:noFill/>
        </p:spPr>
        <p:txBody>
          <a:bodyPr wrap="square" rtlCol="0">
            <a:spAutoFit/>
          </a:bodyPr>
          <a:lstStyle/>
          <a:p>
            <a:r>
              <a:rPr lang="de-CH" sz="1400" dirty="0">
                <a:latin typeface="Helvetica LT Pro Black" panose="020B0904030502020204" pitchFamily="34" charset="0"/>
              </a:rPr>
              <a:t>Backbone</a:t>
            </a:r>
          </a:p>
        </p:txBody>
      </p:sp>
      <p:sp>
        <p:nvSpPr>
          <p:cNvPr id="17" name="Textfeld 16">
            <a:extLst>
              <a:ext uri="{FF2B5EF4-FFF2-40B4-BE49-F238E27FC236}">
                <a16:creationId xmlns:a16="http://schemas.microsoft.com/office/drawing/2014/main" id="{C9DF5E3B-B322-C86E-4220-85968818081A}"/>
              </a:ext>
            </a:extLst>
          </p:cNvPr>
          <p:cNvSpPr txBox="1"/>
          <p:nvPr/>
        </p:nvSpPr>
        <p:spPr>
          <a:xfrm>
            <a:off x="6195591" y="3743705"/>
            <a:ext cx="1310110" cy="307777"/>
          </a:xfrm>
          <a:prstGeom prst="rect">
            <a:avLst/>
          </a:prstGeom>
          <a:noFill/>
        </p:spPr>
        <p:txBody>
          <a:bodyPr wrap="square" rtlCol="0">
            <a:spAutoFit/>
          </a:bodyPr>
          <a:lstStyle/>
          <a:p>
            <a:r>
              <a:rPr lang="de-CH" sz="1400" dirty="0">
                <a:latin typeface="Helvetica LT Pro Black" panose="020B0904030502020204" pitchFamily="34" charset="0"/>
              </a:rPr>
              <a:t>Immo-</a:t>
            </a:r>
            <a:r>
              <a:rPr lang="de-CH" sz="1400" dirty="0" err="1">
                <a:latin typeface="Helvetica LT Pro Black" panose="020B0904030502020204" pitchFamily="34" charset="0"/>
              </a:rPr>
              <a:t>tours</a:t>
            </a:r>
            <a:endParaRPr lang="de-CH" sz="1400" dirty="0">
              <a:latin typeface="Helvetica LT Pro Black" panose="020B0904030502020204" pitchFamily="34" charset="0"/>
            </a:endParaRPr>
          </a:p>
        </p:txBody>
      </p:sp>
      <p:sp>
        <p:nvSpPr>
          <p:cNvPr id="18" name="Textfeld 17">
            <a:extLst>
              <a:ext uri="{FF2B5EF4-FFF2-40B4-BE49-F238E27FC236}">
                <a16:creationId xmlns:a16="http://schemas.microsoft.com/office/drawing/2014/main" id="{DA6A01C6-07CC-B992-D797-6C9DA53D0E22}"/>
              </a:ext>
            </a:extLst>
          </p:cNvPr>
          <p:cNvSpPr txBox="1"/>
          <p:nvPr/>
        </p:nvSpPr>
        <p:spPr>
          <a:xfrm>
            <a:off x="9110241" y="3794993"/>
            <a:ext cx="2469310" cy="307777"/>
          </a:xfrm>
          <a:prstGeom prst="rect">
            <a:avLst/>
          </a:prstGeom>
          <a:noFill/>
        </p:spPr>
        <p:txBody>
          <a:bodyPr wrap="square" rtlCol="0">
            <a:spAutoFit/>
          </a:bodyPr>
          <a:lstStyle/>
          <a:p>
            <a:r>
              <a:rPr lang="de-CH" sz="1400" dirty="0">
                <a:latin typeface="Helvetica LT Pro Black" panose="020B0904030502020204" pitchFamily="34" charset="0"/>
              </a:rPr>
              <a:t>Crowdhouse / </a:t>
            </a:r>
            <a:r>
              <a:rPr lang="de-CH" sz="1400" dirty="0" err="1">
                <a:latin typeface="Helvetica LT Pro Black" panose="020B0904030502020204" pitchFamily="34" charset="0"/>
              </a:rPr>
              <a:t>Foxstone</a:t>
            </a:r>
            <a:endParaRPr lang="de-CH" sz="1400" dirty="0">
              <a:latin typeface="Helvetica LT Pro Black" panose="020B0904030502020204" pitchFamily="34" charset="0"/>
            </a:endParaRPr>
          </a:p>
        </p:txBody>
      </p:sp>
      <p:pic>
        <p:nvPicPr>
          <p:cNvPr id="19" name="Picture 18" descr="IAZI">
            <a:extLst>
              <a:ext uri="{FF2B5EF4-FFF2-40B4-BE49-F238E27FC236}">
                <a16:creationId xmlns:a16="http://schemas.microsoft.com/office/drawing/2014/main" id="{6783E4B3-E9BD-CD18-D847-2457FB6929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9644" y="1769465"/>
            <a:ext cx="760262" cy="75156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Martin Eiter | Realmatch360">
            <a:extLst>
              <a:ext uri="{FF2B5EF4-FFF2-40B4-BE49-F238E27FC236}">
                <a16:creationId xmlns:a16="http://schemas.microsoft.com/office/drawing/2014/main" id="{6790A252-D839-A72C-2FB6-969AEA8C82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7711" y="1923606"/>
            <a:ext cx="1412935" cy="52278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Finanzmesse - crowdhouse">
            <a:extLst>
              <a:ext uri="{FF2B5EF4-FFF2-40B4-BE49-F238E27FC236}">
                <a16:creationId xmlns:a16="http://schemas.microsoft.com/office/drawing/2014/main" id="{09E4CA09-588D-56DC-D9D9-232F25814A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9937" y="4102770"/>
            <a:ext cx="1643134" cy="44587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2" descr="Crowdfunding Immobilien in der Schweiz ab CHF 10'000 – Foxstone">
            <a:extLst>
              <a:ext uri="{FF2B5EF4-FFF2-40B4-BE49-F238E27FC236}">
                <a16:creationId xmlns:a16="http://schemas.microsoft.com/office/drawing/2014/main" id="{D884FD30-695F-C941-99EA-B827AA8D0B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96889" y="4192228"/>
            <a:ext cx="1124070" cy="3385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a:extLst>
              <a:ext uri="{FF2B5EF4-FFF2-40B4-BE49-F238E27FC236}">
                <a16:creationId xmlns:a16="http://schemas.microsoft.com/office/drawing/2014/main" id="{DE590E26-5FE7-7F62-ECB6-4D0D323720D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041" y="4142867"/>
            <a:ext cx="1400116" cy="289357"/>
          </a:xfrm>
          <a:prstGeom prst="rect">
            <a:avLst/>
          </a:prstGeom>
          <a:noFill/>
          <a:extLst>
            <a:ext uri="{909E8E84-426E-40DD-AFC4-6F175D3DCCD1}">
              <a14:hiddenFill xmlns:a14="http://schemas.microsoft.com/office/drawing/2010/main">
                <a:solidFill>
                  <a:srgbClr val="FFFFFF"/>
                </a:solidFill>
              </a14:hiddenFill>
            </a:ext>
          </a:extLst>
        </p:spPr>
      </p:pic>
      <p:sp>
        <p:nvSpPr>
          <p:cNvPr id="24" name="Textfeld 23">
            <a:extLst>
              <a:ext uri="{FF2B5EF4-FFF2-40B4-BE49-F238E27FC236}">
                <a16:creationId xmlns:a16="http://schemas.microsoft.com/office/drawing/2014/main" id="{7872AE20-F59E-7228-F2AA-D9B8F1FE5ED7}"/>
              </a:ext>
            </a:extLst>
          </p:cNvPr>
          <p:cNvSpPr txBox="1"/>
          <p:nvPr/>
        </p:nvSpPr>
        <p:spPr>
          <a:xfrm>
            <a:off x="10347906" y="1399982"/>
            <a:ext cx="1310110" cy="307777"/>
          </a:xfrm>
          <a:prstGeom prst="rect">
            <a:avLst/>
          </a:prstGeom>
          <a:noFill/>
        </p:spPr>
        <p:txBody>
          <a:bodyPr wrap="square" rtlCol="0">
            <a:spAutoFit/>
          </a:bodyPr>
          <a:lstStyle/>
          <a:p>
            <a:r>
              <a:rPr lang="de-CH" sz="1400" dirty="0" err="1">
                <a:latin typeface="Helvetica LT Pro Black" panose="020B0904030502020204" pitchFamily="34" charset="0"/>
              </a:rPr>
              <a:t>Casaone</a:t>
            </a:r>
            <a:endParaRPr lang="de-CH" sz="1400" dirty="0">
              <a:latin typeface="Helvetica LT Pro Black" panose="020B0904030502020204" pitchFamily="34" charset="0"/>
            </a:endParaRPr>
          </a:p>
        </p:txBody>
      </p:sp>
      <p:pic>
        <p:nvPicPr>
          <p:cNvPr id="25" name="Picture 22" descr="Kontakt – WordPress Immobilien Plugin">
            <a:extLst>
              <a:ext uri="{FF2B5EF4-FFF2-40B4-BE49-F238E27FC236}">
                <a16:creationId xmlns:a16="http://schemas.microsoft.com/office/drawing/2014/main" id="{16A4AE12-0F0A-2D17-1893-A2FB64B11A4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13999" y="1826679"/>
            <a:ext cx="1393580" cy="24885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Backbone Art SA - startup.ch">
            <a:extLst>
              <a:ext uri="{FF2B5EF4-FFF2-40B4-BE49-F238E27FC236}">
                <a16:creationId xmlns:a16="http://schemas.microsoft.com/office/drawing/2014/main" id="{D939820D-B45D-F725-9E11-2BAB426FC6C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3280941" y="4163652"/>
            <a:ext cx="1425788" cy="17005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0" descr="360 Grad Rundgang Software | Virtuelle Touren selber machen">
            <a:extLst>
              <a:ext uri="{FF2B5EF4-FFF2-40B4-BE49-F238E27FC236}">
                <a16:creationId xmlns:a16="http://schemas.microsoft.com/office/drawing/2014/main" id="{0CDF552F-B99B-DE75-9D66-F6319C8FFF9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16513" y="4162552"/>
            <a:ext cx="1402318" cy="36818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menti - Revolutionized real estate project planning">
            <a:extLst>
              <a:ext uri="{FF2B5EF4-FFF2-40B4-BE49-F238E27FC236}">
                <a16:creationId xmlns:a16="http://schemas.microsoft.com/office/drawing/2014/main" id="{E4F86579-82D0-9160-027A-920A572AAC3F}"/>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0207" t="29120" r="11522" b="27230"/>
          <a:stretch/>
        </p:blipFill>
        <p:spPr bwMode="auto">
          <a:xfrm>
            <a:off x="467891" y="1800807"/>
            <a:ext cx="1471752" cy="4616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EA Ventures beteiligt sich an Fairwalter">
            <a:extLst>
              <a:ext uri="{FF2B5EF4-FFF2-40B4-BE49-F238E27FC236}">
                <a16:creationId xmlns:a16="http://schemas.microsoft.com/office/drawing/2014/main" id="{4EC850A0-45F3-28A6-CFC0-CE41E88950F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88674" y="1831626"/>
            <a:ext cx="1643134" cy="293325"/>
          </a:xfrm>
          <a:prstGeom prst="rect">
            <a:avLst/>
          </a:prstGeom>
          <a:noFill/>
          <a:extLst>
            <a:ext uri="{909E8E84-426E-40DD-AFC4-6F175D3DCCD1}">
              <a14:hiddenFill xmlns:a14="http://schemas.microsoft.com/office/drawing/2010/main">
                <a:solidFill>
                  <a:srgbClr val="FFFFFF"/>
                </a:solidFill>
              </a14:hiddenFill>
            </a:ext>
          </a:extLst>
        </p:spPr>
      </p:pic>
      <p:sp>
        <p:nvSpPr>
          <p:cNvPr id="28" name="Textfeld 27">
            <a:extLst>
              <a:ext uri="{FF2B5EF4-FFF2-40B4-BE49-F238E27FC236}">
                <a16:creationId xmlns:a16="http://schemas.microsoft.com/office/drawing/2014/main" id="{5EAF918F-964D-A495-719C-E04784A0678E}"/>
              </a:ext>
            </a:extLst>
          </p:cNvPr>
          <p:cNvSpPr txBox="1"/>
          <p:nvPr/>
        </p:nvSpPr>
        <p:spPr>
          <a:xfrm>
            <a:off x="467891" y="2416295"/>
            <a:ext cx="2329555" cy="461665"/>
          </a:xfrm>
          <a:prstGeom prst="rect">
            <a:avLst/>
          </a:prstGeom>
          <a:noFill/>
        </p:spPr>
        <p:txBody>
          <a:bodyPr wrap="square">
            <a:spAutoFit/>
          </a:bodyPr>
          <a:lstStyle/>
          <a:p>
            <a:r>
              <a:rPr lang="de-CH" sz="1200" b="0" i="0" dirty="0">
                <a:solidFill>
                  <a:srgbClr val="202124"/>
                </a:solidFill>
                <a:effectLst/>
                <a:latin typeface="Google Sans"/>
              </a:rPr>
              <a:t>Erstellung </a:t>
            </a:r>
            <a:r>
              <a:rPr lang="de-CH" sz="1200" b="0" i="0" dirty="0" err="1">
                <a:solidFill>
                  <a:srgbClr val="202124"/>
                </a:solidFill>
                <a:effectLst/>
                <a:latin typeface="Google Sans"/>
              </a:rPr>
              <a:t>automatisierste</a:t>
            </a:r>
            <a:r>
              <a:rPr lang="de-CH" sz="1200" b="0" i="0" dirty="0">
                <a:solidFill>
                  <a:srgbClr val="202124"/>
                </a:solidFill>
                <a:effectLst/>
                <a:latin typeface="Google Sans"/>
              </a:rPr>
              <a:t> Machbarkeitsstudio</a:t>
            </a:r>
            <a:endParaRPr lang="de-CH" sz="1200" dirty="0"/>
          </a:p>
        </p:txBody>
      </p:sp>
      <p:sp>
        <p:nvSpPr>
          <p:cNvPr id="29" name="Textfeld 28">
            <a:extLst>
              <a:ext uri="{FF2B5EF4-FFF2-40B4-BE49-F238E27FC236}">
                <a16:creationId xmlns:a16="http://schemas.microsoft.com/office/drawing/2014/main" id="{33066270-11EC-0090-9A78-3D8ECA1D0E17}"/>
              </a:ext>
            </a:extLst>
          </p:cNvPr>
          <p:cNvSpPr txBox="1"/>
          <p:nvPr/>
        </p:nvSpPr>
        <p:spPr>
          <a:xfrm>
            <a:off x="2694305" y="2633905"/>
            <a:ext cx="2329555" cy="461665"/>
          </a:xfrm>
          <a:prstGeom prst="rect">
            <a:avLst/>
          </a:prstGeom>
          <a:noFill/>
        </p:spPr>
        <p:txBody>
          <a:bodyPr wrap="square">
            <a:spAutoFit/>
          </a:bodyPr>
          <a:lstStyle/>
          <a:p>
            <a:r>
              <a:rPr lang="de-CH" sz="1200" b="0" i="0" dirty="0">
                <a:solidFill>
                  <a:srgbClr val="202124"/>
                </a:solidFill>
                <a:effectLst/>
                <a:latin typeface="Google Sans"/>
              </a:rPr>
              <a:t>Immobilienbewertung (Hedonische oder DCF)</a:t>
            </a:r>
            <a:endParaRPr lang="de-CH" sz="1200" dirty="0"/>
          </a:p>
        </p:txBody>
      </p:sp>
      <p:sp>
        <p:nvSpPr>
          <p:cNvPr id="30" name="Textfeld 29">
            <a:extLst>
              <a:ext uri="{FF2B5EF4-FFF2-40B4-BE49-F238E27FC236}">
                <a16:creationId xmlns:a16="http://schemas.microsoft.com/office/drawing/2014/main" id="{6A638E37-F80C-3072-81A0-CAA5EDD19162}"/>
              </a:ext>
            </a:extLst>
          </p:cNvPr>
          <p:cNvSpPr txBox="1"/>
          <p:nvPr/>
        </p:nvSpPr>
        <p:spPr>
          <a:xfrm>
            <a:off x="5289276" y="2557462"/>
            <a:ext cx="2329555" cy="276999"/>
          </a:xfrm>
          <a:prstGeom prst="rect">
            <a:avLst/>
          </a:prstGeom>
          <a:noFill/>
        </p:spPr>
        <p:txBody>
          <a:bodyPr wrap="square">
            <a:spAutoFit/>
          </a:bodyPr>
          <a:lstStyle/>
          <a:p>
            <a:r>
              <a:rPr lang="de-CH" sz="1200" b="0" i="0" dirty="0">
                <a:solidFill>
                  <a:srgbClr val="202124"/>
                </a:solidFill>
                <a:effectLst/>
                <a:latin typeface="Google Sans"/>
              </a:rPr>
              <a:t>Nachfrageindex / Kaufbereitschaft</a:t>
            </a:r>
            <a:endParaRPr lang="de-CH" sz="1200" dirty="0"/>
          </a:p>
        </p:txBody>
      </p:sp>
      <p:sp>
        <p:nvSpPr>
          <p:cNvPr id="31" name="Textfeld 30">
            <a:extLst>
              <a:ext uri="{FF2B5EF4-FFF2-40B4-BE49-F238E27FC236}">
                <a16:creationId xmlns:a16="http://schemas.microsoft.com/office/drawing/2014/main" id="{2E6ECDB7-775C-B6E0-3549-26137AD5CCF9}"/>
              </a:ext>
            </a:extLst>
          </p:cNvPr>
          <p:cNvSpPr txBox="1"/>
          <p:nvPr/>
        </p:nvSpPr>
        <p:spPr>
          <a:xfrm>
            <a:off x="8084444" y="2420284"/>
            <a:ext cx="2329555" cy="461665"/>
          </a:xfrm>
          <a:prstGeom prst="rect">
            <a:avLst/>
          </a:prstGeom>
          <a:noFill/>
        </p:spPr>
        <p:txBody>
          <a:bodyPr wrap="square">
            <a:spAutoFit/>
          </a:bodyPr>
          <a:lstStyle/>
          <a:p>
            <a:r>
              <a:rPr lang="de-CH" sz="1200" b="0" i="0" dirty="0">
                <a:solidFill>
                  <a:srgbClr val="202124"/>
                </a:solidFill>
                <a:effectLst/>
                <a:latin typeface="Google Sans"/>
              </a:rPr>
              <a:t>Verwaltung inkl. Liegenschaftsbuchhaltung</a:t>
            </a:r>
            <a:endParaRPr lang="de-CH" sz="1200" dirty="0"/>
          </a:p>
        </p:txBody>
      </p:sp>
      <p:sp>
        <p:nvSpPr>
          <p:cNvPr id="32" name="Textfeld 31">
            <a:extLst>
              <a:ext uri="{FF2B5EF4-FFF2-40B4-BE49-F238E27FC236}">
                <a16:creationId xmlns:a16="http://schemas.microsoft.com/office/drawing/2014/main" id="{D006987F-2613-F1CF-869F-E6F356262E1E}"/>
              </a:ext>
            </a:extLst>
          </p:cNvPr>
          <p:cNvSpPr txBox="1"/>
          <p:nvPr/>
        </p:nvSpPr>
        <p:spPr>
          <a:xfrm>
            <a:off x="10363134" y="2358286"/>
            <a:ext cx="1791579" cy="461665"/>
          </a:xfrm>
          <a:prstGeom prst="rect">
            <a:avLst/>
          </a:prstGeom>
          <a:noFill/>
        </p:spPr>
        <p:txBody>
          <a:bodyPr wrap="square">
            <a:spAutoFit/>
          </a:bodyPr>
          <a:lstStyle/>
          <a:p>
            <a:r>
              <a:rPr lang="de-CH" sz="1200" b="0" i="0" dirty="0">
                <a:solidFill>
                  <a:srgbClr val="202124"/>
                </a:solidFill>
                <a:effectLst/>
                <a:latin typeface="Google Sans"/>
              </a:rPr>
              <a:t>Automatische </a:t>
            </a:r>
            <a:r>
              <a:rPr lang="de-CH" sz="1200" b="0" i="0" dirty="0" err="1">
                <a:solidFill>
                  <a:srgbClr val="202124"/>
                </a:solidFill>
                <a:effectLst/>
                <a:latin typeface="Google Sans"/>
              </a:rPr>
              <a:t>Verkaufsdoku</a:t>
            </a:r>
            <a:r>
              <a:rPr lang="de-CH" sz="1200" b="0" i="0" dirty="0">
                <a:solidFill>
                  <a:srgbClr val="202124"/>
                </a:solidFill>
                <a:effectLst/>
                <a:latin typeface="Google Sans"/>
              </a:rPr>
              <a:t> etc.</a:t>
            </a:r>
            <a:endParaRPr lang="de-CH" sz="1200" dirty="0"/>
          </a:p>
        </p:txBody>
      </p:sp>
      <p:sp>
        <p:nvSpPr>
          <p:cNvPr id="33" name="Textfeld 32">
            <a:extLst>
              <a:ext uri="{FF2B5EF4-FFF2-40B4-BE49-F238E27FC236}">
                <a16:creationId xmlns:a16="http://schemas.microsoft.com/office/drawing/2014/main" id="{D737F103-56E3-B861-7C4C-BD39B082D03E}"/>
              </a:ext>
            </a:extLst>
          </p:cNvPr>
          <p:cNvSpPr txBox="1"/>
          <p:nvPr/>
        </p:nvSpPr>
        <p:spPr>
          <a:xfrm>
            <a:off x="278459" y="4596307"/>
            <a:ext cx="2329555" cy="830997"/>
          </a:xfrm>
          <a:prstGeom prst="rect">
            <a:avLst/>
          </a:prstGeom>
          <a:noFill/>
        </p:spPr>
        <p:txBody>
          <a:bodyPr wrap="square">
            <a:spAutoFit/>
          </a:bodyPr>
          <a:lstStyle/>
          <a:p>
            <a:r>
              <a:rPr lang="de-CH" sz="1200" b="0" i="0" dirty="0">
                <a:solidFill>
                  <a:srgbClr val="202124"/>
                </a:solidFill>
                <a:effectLst/>
                <a:latin typeface="Google Sans"/>
              </a:rPr>
              <a:t>Digitales Mietermanagement inkl. Schadensmeldungen etc.</a:t>
            </a:r>
          </a:p>
          <a:p>
            <a:endParaRPr lang="de-CH" sz="1200" dirty="0">
              <a:solidFill>
                <a:srgbClr val="202124"/>
              </a:solidFill>
              <a:latin typeface="Google Sans"/>
            </a:endParaRPr>
          </a:p>
          <a:p>
            <a:r>
              <a:rPr lang="de-CH" sz="1200" dirty="0">
                <a:solidFill>
                  <a:srgbClr val="202124"/>
                </a:solidFill>
                <a:latin typeface="Google Sans"/>
              </a:rPr>
              <a:t>Verwaltung von Inseraten</a:t>
            </a:r>
            <a:endParaRPr lang="de-CH" sz="1200" dirty="0"/>
          </a:p>
        </p:txBody>
      </p:sp>
      <p:sp>
        <p:nvSpPr>
          <p:cNvPr id="34" name="Textfeld 33">
            <a:extLst>
              <a:ext uri="{FF2B5EF4-FFF2-40B4-BE49-F238E27FC236}">
                <a16:creationId xmlns:a16="http://schemas.microsoft.com/office/drawing/2014/main" id="{7F01F3F0-7D17-F4E2-5AFB-737303504F80}"/>
              </a:ext>
            </a:extLst>
          </p:cNvPr>
          <p:cNvSpPr txBox="1"/>
          <p:nvPr/>
        </p:nvSpPr>
        <p:spPr>
          <a:xfrm>
            <a:off x="3259776" y="4564080"/>
            <a:ext cx="1671148" cy="276999"/>
          </a:xfrm>
          <a:prstGeom prst="rect">
            <a:avLst/>
          </a:prstGeom>
          <a:noFill/>
        </p:spPr>
        <p:txBody>
          <a:bodyPr wrap="square">
            <a:spAutoFit/>
          </a:bodyPr>
          <a:lstStyle/>
          <a:p>
            <a:r>
              <a:rPr lang="de-CH" sz="1200" b="0" i="0" dirty="0">
                <a:solidFill>
                  <a:srgbClr val="202124"/>
                </a:solidFill>
                <a:effectLst/>
                <a:latin typeface="Google Sans"/>
              </a:rPr>
              <a:t>Foto / Renderings </a:t>
            </a:r>
            <a:endParaRPr lang="de-CH" sz="1200" dirty="0"/>
          </a:p>
        </p:txBody>
      </p:sp>
      <p:sp>
        <p:nvSpPr>
          <p:cNvPr id="35" name="Textfeld 34">
            <a:extLst>
              <a:ext uri="{FF2B5EF4-FFF2-40B4-BE49-F238E27FC236}">
                <a16:creationId xmlns:a16="http://schemas.microsoft.com/office/drawing/2014/main" id="{AF34E9D8-CF45-6EEC-8A6F-DCA59CF2FEE9}"/>
              </a:ext>
            </a:extLst>
          </p:cNvPr>
          <p:cNvSpPr txBox="1"/>
          <p:nvPr/>
        </p:nvSpPr>
        <p:spPr>
          <a:xfrm>
            <a:off x="6195591" y="4729893"/>
            <a:ext cx="2005440" cy="461665"/>
          </a:xfrm>
          <a:prstGeom prst="rect">
            <a:avLst/>
          </a:prstGeom>
          <a:noFill/>
        </p:spPr>
        <p:txBody>
          <a:bodyPr wrap="square">
            <a:spAutoFit/>
          </a:bodyPr>
          <a:lstStyle/>
          <a:p>
            <a:r>
              <a:rPr lang="de-CH" sz="1200" b="0" i="0" dirty="0">
                <a:solidFill>
                  <a:srgbClr val="202124"/>
                </a:solidFill>
                <a:effectLst/>
                <a:latin typeface="Google Sans"/>
              </a:rPr>
              <a:t>360 Grad Besichtigungen (VR-Tours)</a:t>
            </a:r>
            <a:endParaRPr lang="de-CH" sz="1200" dirty="0"/>
          </a:p>
        </p:txBody>
      </p:sp>
      <p:sp>
        <p:nvSpPr>
          <p:cNvPr id="36" name="Textfeld 35">
            <a:extLst>
              <a:ext uri="{FF2B5EF4-FFF2-40B4-BE49-F238E27FC236}">
                <a16:creationId xmlns:a16="http://schemas.microsoft.com/office/drawing/2014/main" id="{16BD38C2-F1A5-5AA2-FC7F-625E70CDEAC0}"/>
              </a:ext>
            </a:extLst>
          </p:cNvPr>
          <p:cNvSpPr txBox="1"/>
          <p:nvPr/>
        </p:nvSpPr>
        <p:spPr>
          <a:xfrm>
            <a:off x="9031704" y="4711498"/>
            <a:ext cx="2005440" cy="646331"/>
          </a:xfrm>
          <a:prstGeom prst="rect">
            <a:avLst/>
          </a:prstGeom>
          <a:noFill/>
        </p:spPr>
        <p:txBody>
          <a:bodyPr wrap="square">
            <a:spAutoFit/>
          </a:bodyPr>
          <a:lstStyle/>
          <a:p>
            <a:r>
              <a:rPr lang="de-CH" sz="1200" b="0" i="0" dirty="0">
                <a:solidFill>
                  <a:srgbClr val="202124"/>
                </a:solidFill>
                <a:effectLst/>
                <a:latin typeface="Google Sans"/>
              </a:rPr>
              <a:t>Verkauf von Renditeimmobilien &amp; (</a:t>
            </a:r>
            <a:r>
              <a:rPr lang="de-CH" sz="1200" b="0" i="0" dirty="0" err="1">
                <a:solidFill>
                  <a:srgbClr val="202124"/>
                </a:solidFill>
                <a:effectLst/>
                <a:latin typeface="Google Sans"/>
              </a:rPr>
              <a:t>Crowdfounding</a:t>
            </a:r>
            <a:r>
              <a:rPr lang="de-CH" sz="1200" dirty="0">
                <a:solidFill>
                  <a:srgbClr val="202124"/>
                </a:solidFill>
                <a:latin typeface="Google Sans"/>
              </a:rPr>
              <a:t>)</a:t>
            </a:r>
            <a:endParaRPr lang="de-CH" sz="1200" dirty="0"/>
          </a:p>
        </p:txBody>
      </p:sp>
    </p:spTree>
    <p:extLst>
      <p:ext uri="{BB962C8B-B14F-4D97-AF65-F5344CB8AC3E}">
        <p14:creationId xmlns:p14="http://schemas.microsoft.com/office/powerpoint/2010/main" val="4217571185"/>
      </p:ext>
    </p:extLst>
  </p:cSld>
  <p:clrMapOvr>
    <a:masterClrMapping/>
  </p:clrMapOvr>
</p:sld>
</file>

<file path=ppt/theme/theme1.xml><?xml version="1.0" encoding="utf-8"?>
<a:theme xmlns:a="http://schemas.openxmlformats.org/drawingml/2006/main" name="Office">
  <a:themeElements>
    <a:clrScheme name="Benutzerdefiniert 38">
      <a:dk1>
        <a:srgbClr val="133739"/>
      </a:dk1>
      <a:lt1>
        <a:srgbClr val="E8E8E8"/>
      </a:lt1>
      <a:dk2>
        <a:srgbClr val="133739"/>
      </a:dk2>
      <a:lt2>
        <a:srgbClr val="E8E8E8"/>
      </a:lt2>
      <a:accent1>
        <a:srgbClr val="1D5751"/>
      </a:accent1>
      <a:accent2>
        <a:srgbClr val="2B8078"/>
      </a:accent2>
      <a:accent3>
        <a:srgbClr val="47B9AB"/>
      </a:accent3>
      <a:accent4>
        <a:srgbClr val="BBCCBD"/>
      </a:accent4>
      <a:accent5>
        <a:srgbClr val="47B9AB"/>
      </a:accent5>
      <a:accent6>
        <a:srgbClr val="BBCCBD"/>
      </a:accent6>
      <a:hlink>
        <a:srgbClr val="47B9AB"/>
      </a:hlink>
      <a:folHlink>
        <a:srgbClr val="47B9AB"/>
      </a:folHlink>
    </a:clrScheme>
    <a:fontScheme name="Benutzerdefiniert 1">
      <a:majorFont>
        <a:latin typeface="Helvetica LT Pro"/>
        <a:ea typeface=""/>
        <a:cs typeface=""/>
      </a:majorFont>
      <a:minorFont>
        <a:latin typeface="Helvetica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6F82D02CFF4A4987FE10B735AEC5CA" ma:contentTypeVersion="14" ma:contentTypeDescription="Create a new document." ma:contentTypeScope="" ma:versionID="baca14795e1b1aa5918dfe7dbd57f21b">
  <xsd:schema xmlns:xsd="http://www.w3.org/2001/XMLSchema" xmlns:xs="http://www.w3.org/2001/XMLSchema" xmlns:p="http://schemas.microsoft.com/office/2006/metadata/properties" xmlns:ns2="b8d90877-bcfb-43f2-8b4b-7e5642aa2195" xmlns:ns3="d5fc598e-88b9-4811-80f4-50db9145e36a" targetNamespace="http://schemas.microsoft.com/office/2006/metadata/properties" ma:root="true" ma:fieldsID="ab93296ec96c7b969ad6b04cb1bc10ed" ns2:_="" ns3:_="">
    <xsd:import namespace="b8d90877-bcfb-43f2-8b4b-7e5642aa2195"/>
    <xsd:import namespace="d5fc598e-88b9-4811-80f4-50db9145e36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d90877-bcfb-43f2-8b4b-7e5642aa21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44b350-1f47-44b6-b975-41457a71bd4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fc598e-88b9-4811-80f4-50db9145e36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0d749a48-eb81-4654-84ba-778b6bcac25f}" ma:internalName="TaxCatchAll" ma:showField="CatchAllData" ma:web="d5fc598e-88b9-4811-80f4-50db9145e36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8d90877-bcfb-43f2-8b4b-7e5642aa2195">
      <Terms xmlns="http://schemas.microsoft.com/office/infopath/2007/PartnerControls"/>
    </lcf76f155ced4ddcb4097134ff3c332f>
    <TaxCatchAll xmlns="d5fc598e-88b9-4811-80f4-50db9145e36a" xsi:nil="true"/>
  </documentManagement>
</p:properties>
</file>

<file path=customXml/itemProps1.xml><?xml version="1.0" encoding="utf-8"?>
<ds:datastoreItem xmlns:ds="http://schemas.openxmlformats.org/officeDocument/2006/customXml" ds:itemID="{2D92E39A-A434-4641-8292-BD992F1D14F0}">
  <ds:schemaRefs>
    <ds:schemaRef ds:uri="http://schemas.microsoft.com/sharepoint/v3/contenttype/forms"/>
  </ds:schemaRefs>
</ds:datastoreItem>
</file>

<file path=customXml/itemProps2.xml><?xml version="1.0" encoding="utf-8"?>
<ds:datastoreItem xmlns:ds="http://schemas.openxmlformats.org/officeDocument/2006/customXml" ds:itemID="{2DAC66E5-4EEF-4846-9E8D-D4CF6DB8F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d90877-bcfb-43f2-8b4b-7e5642aa2195"/>
    <ds:schemaRef ds:uri="d5fc598e-88b9-4811-80f4-50db9145e36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80878F-4764-4A91-86D5-50AB7802B006}">
  <ds:schemaRefs>
    <ds:schemaRef ds:uri="http://purl.org/dc/elements/1.1/"/>
    <ds:schemaRef ds:uri="http://schemas.microsoft.com/office/2006/documentManagement/types"/>
    <ds:schemaRef ds:uri="http://schemas.microsoft.com/office/2006/metadata/properties"/>
    <ds:schemaRef ds:uri="http://www.w3.org/XML/1998/namespace"/>
    <ds:schemaRef ds:uri="http://purl.org/dc/dcmitype/"/>
    <ds:schemaRef ds:uri="d5fc598e-88b9-4811-80f4-50db9145e36a"/>
    <ds:schemaRef ds:uri="http://purl.org/dc/terms/"/>
    <ds:schemaRef ds:uri="http://schemas.microsoft.com/office/infopath/2007/PartnerControls"/>
    <ds:schemaRef ds:uri="http://schemas.openxmlformats.org/package/2006/metadata/core-properties"/>
    <ds:schemaRef ds:uri="b8d90877-bcfb-43f2-8b4b-7e5642aa2195"/>
  </ds:schemaRefs>
</ds:datastoreItem>
</file>

<file path=docProps/app.xml><?xml version="1.0" encoding="utf-8"?>
<Properties xmlns="http://schemas.openxmlformats.org/officeDocument/2006/extended-properties" xmlns:vt="http://schemas.openxmlformats.org/officeDocument/2006/docPropsVTypes">
  <TotalTime>0</TotalTime>
  <Words>6926</Words>
  <Application>Microsoft Office PowerPoint</Application>
  <PresentationFormat>Widescreen</PresentationFormat>
  <Paragraphs>718</Paragraphs>
  <Slides>70</Slides>
  <Notes>0</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Luca Schwitter</dc:creator>
  <cp:lastModifiedBy>Luca Schwitter</cp:lastModifiedBy>
  <cp:revision>8</cp:revision>
  <cp:lastPrinted>2023-11-17T06:42:35Z</cp:lastPrinted>
  <dcterms:created xsi:type="dcterms:W3CDTF">2022-10-24T10:24:13Z</dcterms:created>
  <dcterms:modified xsi:type="dcterms:W3CDTF">2026-04-30T08:43:27Z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0x010100AA6F82D02CFF4A4987FE10B735AEC5CA</vt:lpwstr>
  </property>
  <property fmtid="{D5CDD505-2E9C-101B-9397-08002B2CF9AE}" pid="3" name="MediaServiceImageTags">
    <vt:lpwstr/>
  </property>
</Properties>
</file>